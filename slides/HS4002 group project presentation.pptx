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Lst>
  <p:sldSz cx="18288000" cy="10287000"/>
  <p:notesSz cx="6858000" cy="9144000"/>
  <p:embeddedFontLst>
    <p:embeddedFont>
      <p:font typeface="TDTD가시고딕" charset="1" panose="02000503000000000000"/>
      <p:regular r:id="rId40"/>
    </p:embeddedFont>
    <p:embeddedFont>
      <p:font typeface="イワタ福まるご" charset="1" panose="020F0400000000000000"/>
      <p:regular r:id="rId4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0.png" Type="http://schemas.openxmlformats.org/officeDocument/2006/relationships/image"/><Relationship Id="rId7" Target="../media/image11.png" Type="http://schemas.openxmlformats.org/officeDocument/2006/relationships/image"/><Relationship Id="rId8" Target="../media/image1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 Id="rId5" Target="../media/image1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 Id="rId5" Target="../media/image1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 Id="rId5" Target="../media/image1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16.png" Type="http://schemas.openxmlformats.org/officeDocument/2006/relationships/image"/><Relationship Id="rId4" Target="../media/image1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18.png" Type="http://schemas.openxmlformats.org/officeDocument/2006/relationships/image"/><Relationship Id="rId4" Target="../media/image19.png" Type="http://schemas.openxmlformats.org/officeDocument/2006/relationships/image"/><Relationship Id="rId5" Target="../media/image20.png" Type="http://schemas.openxmlformats.org/officeDocument/2006/relationships/image"/><Relationship Id="rId6" Target="../media/image2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4.png" Type="http://schemas.openxmlformats.org/officeDocument/2006/relationships/image"/><Relationship Id="rId4" Target="../media/image2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4.png" Type="http://schemas.openxmlformats.org/officeDocument/2006/relationships/image"/><Relationship Id="rId4" Target="../media/image23.png" Type="http://schemas.openxmlformats.org/officeDocument/2006/relationships/image"/><Relationship Id="rId5" Target="../media/image24.png" Type="http://schemas.openxmlformats.org/officeDocument/2006/relationships/image"/><Relationship Id="rId6" Target="../media/image25.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3.png" Type="http://schemas.openxmlformats.org/officeDocument/2006/relationships/image"/><Relationship Id="rId11" Target="../media/image4.png" Type="http://schemas.openxmlformats.org/officeDocument/2006/relationships/image"/><Relationship Id="rId2" Target="../media/image12.png" Type="http://schemas.openxmlformats.org/officeDocument/2006/relationships/image"/><Relationship Id="rId3" Target="../media/image26.png" Type="http://schemas.openxmlformats.org/officeDocument/2006/relationships/image"/><Relationship Id="rId4" Target="../media/image27.png" Type="http://schemas.openxmlformats.org/officeDocument/2006/relationships/image"/><Relationship Id="rId5" Target="../media/image28.png" Type="http://schemas.openxmlformats.org/officeDocument/2006/relationships/image"/><Relationship Id="rId6" Target="../media/image29.png" Type="http://schemas.openxmlformats.org/officeDocument/2006/relationships/image"/><Relationship Id="rId7" Target="../media/image30.png" Type="http://schemas.openxmlformats.org/officeDocument/2006/relationships/image"/><Relationship Id="rId8" Target="../media/image31.png" Type="http://schemas.openxmlformats.org/officeDocument/2006/relationships/image"/><Relationship Id="rId9" Target="../media/image32.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 Id="rId3" Target="../media/image35.png" Type="http://schemas.openxmlformats.org/officeDocument/2006/relationships/image"/><Relationship Id="rId4" Target="../media/image36.png" Type="http://schemas.openxmlformats.org/officeDocument/2006/relationships/image"/><Relationship Id="rId5" Target="../media/image37.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 Id="rId3" Target="../media/image38.png" Type="http://schemas.openxmlformats.org/officeDocument/2006/relationships/image"/><Relationship Id="rId4" Target="../media/image39.png" Type="http://schemas.openxmlformats.org/officeDocument/2006/relationships/image"/><Relationship Id="rId5" Target="../media/image40.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 Id="rId3" Target="../media/image41.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 Id="rId3" Target="../media/image42.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 Id="rId3" Target="../media/image43.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 Id="rId3" Target="../media/image44.png" Type="http://schemas.openxmlformats.org/officeDocument/2006/relationships/image"/><Relationship Id="rId4" Target="../media/image45.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3.png" Type="http://schemas.openxmlformats.org/officeDocument/2006/relationships/image"/><Relationship Id="rId11" Target="../media/image4.png" Type="http://schemas.openxmlformats.org/officeDocument/2006/relationships/image"/><Relationship Id="rId2" Target="../media/image12.png" Type="http://schemas.openxmlformats.org/officeDocument/2006/relationships/image"/><Relationship Id="rId3" Target="../media/image26.png" Type="http://schemas.openxmlformats.org/officeDocument/2006/relationships/image"/><Relationship Id="rId4" Target="../media/image27.png" Type="http://schemas.openxmlformats.org/officeDocument/2006/relationships/image"/><Relationship Id="rId5" Target="../media/image28.png" Type="http://schemas.openxmlformats.org/officeDocument/2006/relationships/image"/><Relationship Id="rId6" Target="../media/image29.png" Type="http://schemas.openxmlformats.org/officeDocument/2006/relationships/image"/><Relationship Id="rId7" Target="../media/image30.png" Type="http://schemas.openxmlformats.org/officeDocument/2006/relationships/image"/><Relationship Id="rId8" Target="../media/image31.png" Type="http://schemas.openxmlformats.org/officeDocument/2006/relationships/image"/><Relationship Id="rId9" Target="../media/image32.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6.png" Type="http://schemas.openxmlformats.org/officeDocument/2006/relationships/image"/><Relationship Id="rId3" Target="../media/image47.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8.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9.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0.png" Type="http://schemas.openxmlformats.org/officeDocument/2006/relationships/image"/><Relationship Id="rId3" Target="../media/image46.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6.png" Type="http://schemas.openxmlformats.org/officeDocument/2006/relationships/image"/><Relationship Id="rId3" Target="../media/image51.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6.png" Type="http://schemas.openxmlformats.org/officeDocument/2006/relationships/image"/><Relationship Id="rId3" Target="../media/image52.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3.png" Type="http://schemas.openxmlformats.org/officeDocument/2006/relationships/image"/><Relationship Id="rId3" Target="../media/image54.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png" Type="http://schemas.openxmlformats.org/officeDocument/2006/relationships/image"/><Relationship Id="rId2" Target="../media/image12.png" Type="http://schemas.openxmlformats.org/officeDocument/2006/relationships/image"/><Relationship Id="rId3" Target="../media/image26.png" Type="http://schemas.openxmlformats.org/officeDocument/2006/relationships/image"/><Relationship Id="rId4" Target="../media/image27.png" Type="http://schemas.openxmlformats.org/officeDocument/2006/relationships/image"/><Relationship Id="rId5" Target="../media/image28.png" Type="http://schemas.openxmlformats.org/officeDocument/2006/relationships/image"/><Relationship Id="rId6" Target="../media/image29.png" Type="http://schemas.openxmlformats.org/officeDocument/2006/relationships/image"/><Relationship Id="rId7" Target="../media/image30.png" Type="http://schemas.openxmlformats.org/officeDocument/2006/relationships/image"/><Relationship Id="rId8" Target="../media/image31.png" Type="http://schemas.openxmlformats.org/officeDocument/2006/relationships/image"/><Relationship Id="rId9" Target="../media/image32.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5.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3.png" Type="http://schemas.openxmlformats.org/officeDocument/2006/relationships/image"/><Relationship Id="rId11" Target="../media/image4.png" Type="http://schemas.openxmlformats.org/officeDocument/2006/relationships/image"/><Relationship Id="rId2" Target="../media/image12.png" Type="http://schemas.openxmlformats.org/officeDocument/2006/relationships/image"/><Relationship Id="rId3" Target="../media/image26.png" Type="http://schemas.openxmlformats.org/officeDocument/2006/relationships/image"/><Relationship Id="rId4" Target="../media/image27.png" Type="http://schemas.openxmlformats.org/officeDocument/2006/relationships/image"/><Relationship Id="rId5" Target="../media/image28.png" Type="http://schemas.openxmlformats.org/officeDocument/2006/relationships/image"/><Relationship Id="rId6" Target="../media/image29.png" Type="http://schemas.openxmlformats.org/officeDocument/2006/relationships/image"/><Relationship Id="rId7" Target="../media/image30.png" Type="http://schemas.openxmlformats.org/officeDocument/2006/relationships/image"/><Relationship Id="rId8" Target="../media/image31.png" Type="http://schemas.openxmlformats.org/officeDocument/2006/relationships/image"/><Relationship Id="rId9" Target="../media/image3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EEE5"/>
        </a:solidFill>
      </p:bgPr>
    </p:bg>
    <p:spTree>
      <p:nvGrpSpPr>
        <p:cNvPr id="1" name=""/>
        <p:cNvGrpSpPr/>
        <p:nvPr/>
      </p:nvGrpSpPr>
      <p:grpSpPr>
        <a:xfrm>
          <a:off x="0" y="0"/>
          <a:ext cx="0" cy="0"/>
          <a:chOff x="0" y="0"/>
          <a:chExt cx="0" cy="0"/>
        </a:xfrm>
      </p:grpSpPr>
      <p:sp>
        <p:nvSpPr>
          <p:cNvPr name="TextBox 2" id="2"/>
          <p:cNvSpPr txBox="true"/>
          <p:nvPr/>
        </p:nvSpPr>
        <p:spPr>
          <a:xfrm rot="0">
            <a:off x="1486348" y="1338110"/>
            <a:ext cx="16035999" cy="4739264"/>
          </a:xfrm>
          <a:prstGeom prst="rect">
            <a:avLst/>
          </a:prstGeom>
        </p:spPr>
        <p:txBody>
          <a:bodyPr anchor="t" rtlCol="false" tIns="0" lIns="0" bIns="0" rIns="0">
            <a:spAutoFit/>
          </a:bodyPr>
          <a:lstStyle/>
          <a:p>
            <a:pPr algn="ctr">
              <a:lnSpc>
                <a:spcPts val="6210"/>
              </a:lnSpc>
            </a:pPr>
            <a:r>
              <a:rPr lang="en-US" sz="6210">
                <a:solidFill>
                  <a:srgbClr val="556BA0"/>
                </a:solidFill>
                <a:latin typeface="TDTD가시고딕"/>
                <a:ea typeface="TDTD가시고딕"/>
                <a:cs typeface="TDTD가시고딕"/>
                <a:sym typeface="TDTD가시고딕"/>
              </a:rPr>
              <a:t>How the </a:t>
            </a:r>
            <a:r>
              <a:rPr lang="en-US" sz="6210">
                <a:solidFill>
                  <a:srgbClr val="3872E0"/>
                </a:solidFill>
                <a:latin typeface="TDTD가시고딕"/>
                <a:ea typeface="TDTD가시고딕"/>
                <a:cs typeface="TDTD가시고딕"/>
                <a:sym typeface="TDTD가시고딕"/>
              </a:rPr>
              <a:t>perceived prevalence of sexual harassment</a:t>
            </a:r>
            <a:r>
              <a:rPr lang="en-US" sz="6210">
                <a:solidFill>
                  <a:srgbClr val="556BA0"/>
                </a:solidFill>
                <a:latin typeface="TDTD가시고딕"/>
                <a:ea typeface="TDTD가시고딕"/>
                <a:cs typeface="TDTD가시고딕"/>
                <a:sym typeface="TDTD가시고딕"/>
              </a:rPr>
              <a:t> in one’s neighborhood associated with </a:t>
            </a:r>
            <a:r>
              <a:rPr lang="en-US" sz="6210">
                <a:solidFill>
                  <a:srgbClr val="3872E0"/>
                </a:solidFill>
                <a:latin typeface="TDTD가시고딕"/>
                <a:ea typeface="TDTD가시고딕"/>
                <a:cs typeface="TDTD가시고딕"/>
                <a:sym typeface="TDTD가시고딕"/>
              </a:rPr>
              <a:t>subjective security</a:t>
            </a:r>
            <a:r>
              <a:rPr lang="en-US" sz="6210">
                <a:solidFill>
                  <a:srgbClr val="556BA0"/>
                </a:solidFill>
                <a:latin typeface="TDTD가시고딕"/>
                <a:ea typeface="TDTD가시고딕"/>
                <a:cs typeface="TDTD가시고딕"/>
                <a:sym typeface="TDTD가시고딕"/>
              </a:rPr>
              <a:t>, and is this association stronger among </a:t>
            </a:r>
            <a:r>
              <a:rPr lang="en-US" sz="6210">
                <a:solidFill>
                  <a:srgbClr val="3872E0"/>
                </a:solidFill>
                <a:latin typeface="TDTD가시고딕"/>
                <a:ea typeface="TDTD가시고딕"/>
                <a:cs typeface="TDTD가시고딕"/>
                <a:sym typeface="TDTD가시고딕"/>
              </a:rPr>
              <a:t>women than among men in the context of Singapore and Malaysia</a:t>
            </a:r>
            <a:r>
              <a:rPr lang="en-US" sz="6210">
                <a:solidFill>
                  <a:srgbClr val="556BA0"/>
                </a:solidFill>
                <a:latin typeface="TDTD가시고딕"/>
                <a:ea typeface="TDTD가시고딕"/>
                <a:cs typeface="TDTD가시고딕"/>
                <a:sym typeface="TDTD가시고딕"/>
              </a:rPr>
              <a:t>?</a:t>
            </a:r>
          </a:p>
        </p:txBody>
      </p:sp>
      <p:sp>
        <p:nvSpPr>
          <p:cNvPr name="TextBox 3" id="3"/>
          <p:cNvSpPr txBox="true"/>
          <p:nvPr/>
        </p:nvSpPr>
        <p:spPr>
          <a:xfrm rot="0">
            <a:off x="4482875" y="7097313"/>
            <a:ext cx="9322249" cy="1083719"/>
          </a:xfrm>
          <a:prstGeom prst="rect">
            <a:avLst/>
          </a:prstGeom>
        </p:spPr>
        <p:txBody>
          <a:bodyPr anchor="t" rtlCol="false" tIns="0" lIns="0" bIns="0" rIns="0">
            <a:spAutoFit/>
          </a:bodyPr>
          <a:lstStyle/>
          <a:p>
            <a:pPr algn="ctr">
              <a:lnSpc>
                <a:spcPts val="6942"/>
              </a:lnSpc>
            </a:pPr>
            <a:r>
              <a:rPr lang="en-US" sz="4958">
                <a:solidFill>
                  <a:srgbClr val="556BA0"/>
                </a:solidFill>
                <a:latin typeface="イワタ福まるご"/>
                <a:ea typeface="イワタ福まるご"/>
                <a:cs typeface="イワタ福まるご"/>
                <a:sym typeface="イワタ福まるご"/>
              </a:rPr>
              <a:t>Presented by The Husky Group</a:t>
            </a:r>
          </a:p>
        </p:txBody>
      </p:sp>
      <p:sp>
        <p:nvSpPr>
          <p:cNvPr name="Freeform 4" id="4"/>
          <p:cNvSpPr/>
          <p:nvPr/>
        </p:nvSpPr>
        <p:spPr>
          <a:xfrm flipH="false" flipV="false" rot="0">
            <a:off x="-180775" y="6030178"/>
            <a:ext cx="3968325" cy="4301707"/>
          </a:xfrm>
          <a:custGeom>
            <a:avLst/>
            <a:gdLst/>
            <a:ahLst/>
            <a:cxnLst/>
            <a:rect r="r" b="b" t="t" l="l"/>
            <a:pathLst>
              <a:path h="4301707" w="3968325">
                <a:moveTo>
                  <a:pt x="0" y="0"/>
                </a:moveTo>
                <a:lnTo>
                  <a:pt x="3968325" y="0"/>
                </a:lnTo>
                <a:lnTo>
                  <a:pt x="3968325" y="4301707"/>
                </a:lnTo>
                <a:lnTo>
                  <a:pt x="0" y="4301707"/>
                </a:lnTo>
                <a:lnTo>
                  <a:pt x="0" y="0"/>
                </a:lnTo>
                <a:close/>
              </a:path>
            </a:pathLst>
          </a:custGeom>
          <a:blipFill>
            <a:blip r:embed="rId2"/>
            <a:stretch>
              <a:fillRect l="0" t="0" r="0" b="0"/>
            </a:stretch>
          </a:blipFill>
        </p:spPr>
      </p:sp>
      <p:sp>
        <p:nvSpPr>
          <p:cNvPr name="Freeform 5" id="5"/>
          <p:cNvSpPr/>
          <p:nvPr/>
        </p:nvSpPr>
        <p:spPr>
          <a:xfrm flipH="false" flipV="false" rot="0">
            <a:off x="14497580" y="5541233"/>
            <a:ext cx="3697025" cy="5004434"/>
          </a:xfrm>
          <a:custGeom>
            <a:avLst/>
            <a:gdLst/>
            <a:ahLst/>
            <a:cxnLst/>
            <a:rect r="r" b="b" t="t" l="l"/>
            <a:pathLst>
              <a:path h="5004434" w="3697025">
                <a:moveTo>
                  <a:pt x="0" y="0"/>
                </a:moveTo>
                <a:lnTo>
                  <a:pt x="3697025" y="0"/>
                </a:lnTo>
                <a:lnTo>
                  <a:pt x="3697025" y="5004434"/>
                </a:lnTo>
                <a:lnTo>
                  <a:pt x="0" y="5004434"/>
                </a:lnTo>
                <a:lnTo>
                  <a:pt x="0" y="0"/>
                </a:lnTo>
                <a:close/>
              </a:path>
            </a:pathLst>
          </a:custGeom>
          <a:blipFill>
            <a:blip r:embed="rId3"/>
            <a:stretch>
              <a:fillRect l="0" t="0" r="0" b="0"/>
            </a:stretch>
          </a:blipFill>
        </p:spPr>
      </p:sp>
      <p:grpSp>
        <p:nvGrpSpPr>
          <p:cNvPr name="Group 6" id="6"/>
          <p:cNvGrpSpPr/>
          <p:nvPr/>
        </p:nvGrpSpPr>
        <p:grpSpPr>
          <a:xfrm rot="0">
            <a:off x="14497580" y="6165709"/>
            <a:ext cx="374891" cy="37489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DFD4"/>
            </a:solidFill>
          </p:spPr>
        </p:sp>
        <p:sp>
          <p:nvSpPr>
            <p:cNvPr name="TextBox 8" id="8"/>
            <p:cNvSpPr txBox="true"/>
            <p:nvPr/>
          </p:nvSpPr>
          <p:spPr>
            <a:xfrm>
              <a:off x="76200" y="-47625"/>
              <a:ext cx="660400" cy="784225"/>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4931978" y="6165709"/>
            <a:ext cx="374891" cy="37489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DFD4"/>
            </a:solidFill>
          </p:spPr>
        </p:sp>
        <p:sp>
          <p:nvSpPr>
            <p:cNvPr name="TextBox 11" id="11"/>
            <p:cNvSpPr txBox="true"/>
            <p:nvPr/>
          </p:nvSpPr>
          <p:spPr>
            <a:xfrm>
              <a:off x="76200" y="-47625"/>
              <a:ext cx="660400" cy="784225"/>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7608545" y="7303845"/>
            <a:ext cx="253685" cy="253685"/>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BE2"/>
            </a:solidFill>
          </p:spPr>
        </p:sp>
        <p:sp>
          <p:nvSpPr>
            <p:cNvPr name="TextBox 14" id="14"/>
            <p:cNvSpPr txBox="true"/>
            <p:nvPr/>
          </p:nvSpPr>
          <p:spPr>
            <a:xfrm>
              <a:off x="76200" y="-47625"/>
              <a:ext cx="660400" cy="784225"/>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7897249" y="7303845"/>
            <a:ext cx="101285" cy="143110"/>
            <a:chOff x="0" y="0"/>
            <a:chExt cx="812800" cy="1148439"/>
          </a:xfrm>
        </p:grpSpPr>
        <p:sp>
          <p:nvSpPr>
            <p:cNvPr name="Freeform 16" id="16"/>
            <p:cNvSpPr/>
            <p:nvPr/>
          </p:nvSpPr>
          <p:spPr>
            <a:xfrm flipH="false" flipV="false" rot="0">
              <a:off x="0" y="0"/>
              <a:ext cx="812800" cy="1148439"/>
            </a:xfrm>
            <a:custGeom>
              <a:avLst/>
              <a:gdLst/>
              <a:ahLst/>
              <a:cxnLst/>
              <a:rect r="r" b="b" t="t" l="l"/>
              <a:pathLst>
                <a:path h="1148439" w="812800">
                  <a:moveTo>
                    <a:pt x="406400" y="0"/>
                  </a:moveTo>
                  <a:cubicBezTo>
                    <a:pt x="181951" y="0"/>
                    <a:pt x="0" y="257087"/>
                    <a:pt x="0" y="574219"/>
                  </a:cubicBezTo>
                  <a:cubicBezTo>
                    <a:pt x="0" y="891352"/>
                    <a:pt x="181951" y="1148439"/>
                    <a:pt x="406400" y="1148439"/>
                  </a:cubicBezTo>
                  <a:cubicBezTo>
                    <a:pt x="630849" y="1148439"/>
                    <a:pt x="812800" y="891352"/>
                    <a:pt x="812800" y="574219"/>
                  </a:cubicBezTo>
                  <a:cubicBezTo>
                    <a:pt x="812800" y="257087"/>
                    <a:pt x="630849" y="0"/>
                    <a:pt x="406400" y="0"/>
                  </a:cubicBezTo>
                  <a:close/>
                </a:path>
              </a:pathLst>
            </a:custGeom>
            <a:solidFill>
              <a:srgbClr val="FFEBE2"/>
            </a:solidFill>
          </p:spPr>
        </p:sp>
        <p:sp>
          <p:nvSpPr>
            <p:cNvPr name="TextBox 17" id="17"/>
            <p:cNvSpPr txBox="true"/>
            <p:nvPr/>
          </p:nvSpPr>
          <p:spPr>
            <a:xfrm>
              <a:off x="76200" y="-16159"/>
              <a:ext cx="660400" cy="1056931"/>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EEE5"/>
        </a:solidFill>
      </p:bgPr>
    </p:bg>
    <p:spTree>
      <p:nvGrpSpPr>
        <p:cNvPr id="1" name=""/>
        <p:cNvGrpSpPr/>
        <p:nvPr/>
      </p:nvGrpSpPr>
      <p:grpSpPr>
        <a:xfrm>
          <a:off x="0" y="0"/>
          <a:ext cx="0" cy="0"/>
          <a:chOff x="0" y="0"/>
          <a:chExt cx="0" cy="0"/>
        </a:xfrm>
      </p:grpSpPr>
      <p:sp>
        <p:nvSpPr>
          <p:cNvPr name="Freeform 2" id="2"/>
          <p:cNvSpPr/>
          <p:nvPr/>
        </p:nvSpPr>
        <p:spPr>
          <a:xfrm flipH="false" flipV="false" rot="0">
            <a:off x="-549810" y="4089095"/>
            <a:ext cx="4518071" cy="7157340"/>
          </a:xfrm>
          <a:custGeom>
            <a:avLst/>
            <a:gdLst/>
            <a:ahLst/>
            <a:cxnLst/>
            <a:rect r="r" b="b" t="t" l="l"/>
            <a:pathLst>
              <a:path h="7157340" w="4518071">
                <a:moveTo>
                  <a:pt x="0" y="0"/>
                </a:moveTo>
                <a:lnTo>
                  <a:pt x="4518071" y="0"/>
                </a:lnTo>
                <a:lnTo>
                  <a:pt x="4518071" y="7157340"/>
                </a:lnTo>
                <a:lnTo>
                  <a:pt x="0" y="7157340"/>
                </a:lnTo>
                <a:lnTo>
                  <a:pt x="0" y="0"/>
                </a:lnTo>
                <a:close/>
              </a:path>
            </a:pathLst>
          </a:custGeom>
          <a:blipFill>
            <a:blip r:embed="rId2"/>
            <a:stretch>
              <a:fillRect l="0" t="0" r="0" b="0"/>
            </a:stretch>
          </a:blipFill>
        </p:spPr>
      </p:sp>
      <p:sp>
        <p:nvSpPr>
          <p:cNvPr name="Freeform 3" id="3"/>
          <p:cNvSpPr/>
          <p:nvPr/>
        </p:nvSpPr>
        <p:spPr>
          <a:xfrm flipH="false" flipV="false" rot="-1980233">
            <a:off x="16844209" y="284933"/>
            <a:ext cx="2887583" cy="5409991"/>
          </a:xfrm>
          <a:custGeom>
            <a:avLst/>
            <a:gdLst/>
            <a:ahLst/>
            <a:cxnLst/>
            <a:rect r="r" b="b" t="t" l="l"/>
            <a:pathLst>
              <a:path h="5409991" w="2887583">
                <a:moveTo>
                  <a:pt x="0" y="0"/>
                </a:moveTo>
                <a:lnTo>
                  <a:pt x="2887582" y="0"/>
                </a:lnTo>
                <a:lnTo>
                  <a:pt x="2887582" y="5409990"/>
                </a:lnTo>
                <a:lnTo>
                  <a:pt x="0" y="5409990"/>
                </a:lnTo>
                <a:lnTo>
                  <a:pt x="0" y="0"/>
                </a:lnTo>
                <a:close/>
              </a:path>
            </a:pathLst>
          </a:custGeom>
          <a:blipFill>
            <a:blip r:embed="rId3"/>
            <a:stretch>
              <a:fillRect l="0" t="0" r="0" b="0"/>
            </a:stretch>
          </a:blipFill>
        </p:spPr>
      </p:sp>
      <p:sp>
        <p:nvSpPr>
          <p:cNvPr name="Freeform 4" id="4"/>
          <p:cNvSpPr/>
          <p:nvPr/>
        </p:nvSpPr>
        <p:spPr>
          <a:xfrm flipH="false" flipV="false" rot="0">
            <a:off x="14765292" y="6044855"/>
            <a:ext cx="4267324" cy="5926839"/>
          </a:xfrm>
          <a:custGeom>
            <a:avLst/>
            <a:gdLst/>
            <a:ahLst/>
            <a:cxnLst/>
            <a:rect r="r" b="b" t="t" l="l"/>
            <a:pathLst>
              <a:path h="5926839" w="4267324">
                <a:moveTo>
                  <a:pt x="0" y="0"/>
                </a:moveTo>
                <a:lnTo>
                  <a:pt x="4267324" y="0"/>
                </a:lnTo>
                <a:lnTo>
                  <a:pt x="4267324" y="5926839"/>
                </a:lnTo>
                <a:lnTo>
                  <a:pt x="0" y="5926839"/>
                </a:lnTo>
                <a:lnTo>
                  <a:pt x="0" y="0"/>
                </a:lnTo>
                <a:close/>
              </a:path>
            </a:pathLst>
          </a:custGeom>
          <a:blipFill>
            <a:blip r:embed="rId4"/>
            <a:stretch>
              <a:fillRect l="0" t="0" r="0" b="0"/>
            </a:stretch>
          </a:blipFill>
        </p:spPr>
      </p:sp>
      <p:sp>
        <p:nvSpPr>
          <p:cNvPr name="TextBox 5" id="5"/>
          <p:cNvSpPr txBox="true"/>
          <p:nvPr/>
        </p:nvSpPr>
        <p:spPr>
          <a:xfrm rot="0">
            <a:off x="1558992" y="1529671"/>
            <a:ext cx="14365759" cy="1932101"/>
          </a:xfrm>
          <a:prstGeom prst="rect">
            <a:avLst/>
          </a:prstGeom>
        </p:spPr>
        <p:txBody>
          <a:bodyPr anchor="t" rtlCol="false" tIns="0" lIns="0" bIns="0" rIns="0">
            <a:spAutoFit/>
          </a:bodyPr>
          <a:lstStyle/>
          <a:p>
            <a:pPr algn="l">
              <a:lnSpc>
                <a:spcPts val="7301"/>
              </a:lnSpc>
            </a:pPr>
            <a:r>
              <a:rPr lang="en-US" sz="7850">
                <a:solidFill>
                  <a:srgbClr val="556BA0"/>
                </a:solidFill>
                <a:latin typeface="TDTD가시고딕"/>
                <a:ea typeface="TDTD가시고딕"/>
                <a:cs typeface="TDTD가시고딕"/>
                <a:sym typeface="TDTD가시고딕"/>
              </a:rPr>
              <a:t>Why do we care about sexual harassment and security？</a:t>
            </a:r>
          </a:p>
        </p:txBody>
      </p:sp>
      <p:sp>
        <p:nvSpPr>
          <p:cNvPr name="TextBox 6" id="6"/>
          <p:cNvSpPr txBox="true"/>
          <p:nvPr/>
        </p:nvSpPr>
        <p:spPr>
          <a:xfrm rot="0">
            <a:off x="3824122" y="3917645"/>
            <a:ext cx="11463510" cy="2170325"/>
          </a:xfrm>
          <a:prstGeom prst="rect">
            <a:avLst/>
          </a:prstGeom>
        </p:spPr>
        <p:txBody>
          <a:bodyPr anchor="t" rtlCol="false" tIns="0" lIns="0" bIns="0" rIns="0">
            <a:spAutoFit/>
          </a:bodyPr>
          <a:lstStyle/>
          <a:p>
            <a:pPr algn="just" marL="694436" indent="-347218" lvl="1">
              <a:lnSpc>
                <a:spcPts val="4020"/>
              </a:lnSpc>
              <a:buFont typeface="Arial"/>
              <a:buChar char="•"/>
            </a:pPr>
            <a:r>
              <a:rPr lang="en-US" sz="3216">
                <a:solidFill>
                  <a:srgbClr val="556BA0"/>
                </a:solidFill>
                <a:latin typeface="イワタ福まるご"/>
                <a:ea typeface="イワタ福まるご"/>
                <a:cs typeface="イワタ福まるご"/>
                <a:sym typeface="イワタ福まるご"/>
              </a:rPr>
              <a:t>71%</a:t>
            </a:r>
            <a:r>
              <a:rPr lang="en-US" sz="3216">
                <a:solidFill>
                  <a:srgbClr val="556BA0"/>
                </a:solidFill>
                <a:latin typeface="イワタ福まるご"/>
                <a:ea typeface="イワタ福まるご"/>
                <a:cs typeface="イワタ福まるご"/>
                <a:sym typeface="イワタ福まるご"/>
              </a:rPr>
              <a:t> changed their travel routes or routines due to fear of sexual harassment.</a:t>
            </a:r>
          </a:p>
          <a:p>
            <a:pPr algn="just" marL="694436" indent="-347218" lvl="1">
              <a:lnSpc>
                <a:spcPts val="4020"/>
              </a:lnSpc>
              <a:buFont typeface="Arial"/>
              <a:buChar char="•"/>
            </a:pPr>
            <a:r>
              <a:rPr lang="en-US" sz="3216">
                <a:solidFill>
                  <a:srgbClr val="556BA0"/>
                </a:solidFill>
                <a:latin typeface="イワタ福まるご"/>
                <a:ea typeface="イワタ福まるご"/>
                <a:cs typeface="イワタ福まるご"/>
                <a:sym typeface="イワタ福まるご"/>
              </a:rPr>
              <a:t>68% did not feel safe driving alone at night.</a:t>
            </a:r>
          </a:p>
          <a:p>
            <a:pPr algn="just">
              <a:lnSpc>
                <a:spcPts val="4020"/>
              </a:lnSpc>
            </a:pPr>
            <a:r>
              <a:rPr lang="en-US" sz="3216">
                <a:solidFill>
                  <a:srgbClr val="556BA0"/>
                </a:solidFill>
                <a:latin typeface="イワタ福まるご"/>
                <a:ea typeface="イワタ福まるご"/>
                <a:cs typeface="イワタ福まるご"/>
                <a:sym typeface="イワタ福まるご"/>
              </a:rPr>
              <a:t>（</a:t>
            </a:r>
            <a:r>
              <a:rPr lang="en-US" sz="3216">
                <a:solidFill>
                  <a:srgbClr val="556BA0"/>
                </a:solidFill>
                <a:latin typeface="イワタ福まるご"/>
                <a:ea typeface="イワタ福まるご"/>
                <a:cs typeface="イワタ福まるご"/>
                <a:sym typeface="イワタ福まるご"/>
              </a:rPr>
              <a:t>Cent-GPS &amp; AWAM, 2021）</a:t>
            </a:r>
          </a:p>
        </p:txBody>
      </p:sp>
      <p:sp>
        <p:nvSpPr>
          <p:cNvPr name="TextBox 7" id="7"/>
          <p:cNvSpPr txBox="true"/>
          <p:nvPr/>
        </p:nvSpPr>
        <p:spPr>
          <a:xfrm rot="0">
            <a:off x="3655960" y="6545170"/>
            <a:ext cx="11463510" cy="2675150"/>
          </a:xfrm>
          <a:prstGeom prst="rect">
            <a:avLst/>
          </a:prstGeom>
        </p:spPr>
        <p:txBody>
          <a:bodyPr anchor="t" rtlCol="false" tIns="0" lIns="0" bIns="0" rIns="0">
            <a:spAutoFit/>
          </a:bodyPr>
          <a:lstStyle/>
          <a:p>
            <a:pPr algn="just" marL="694436" indent="-347218" lvl="1">
              <a:lnSpc>
                <a:spcPts val="4020"/>
              </a:lnSpc>
              <a:buFont typeface="Arial"/>
              <a:buChar char="•"/>
            </a:pPr>
            <a:r>
              <a:rPr lang="en-US" sz="3216">
                <a:solidFill>
                  <a:srgbClr val="556BA0"/>
                </a:solidFill>
                <a:latin typeface="イワタ福まるご"/>
                <a:ea typeface="イワタ福まるご"/>
                <a:cs typeface="イワタ福まるご"/>
                <a:sym typeface="イワタ福まるご"/>
              </a:rPr>
              <a:t>T</a:t>
            </a:r>
            <a:r>
              <a:rPr lang="en-US" sz="3216">
                <a:solidFill>
                  <a:srgbClr val="556BA0"/>
                </a:solidFill>
                <a:latin typeface="イワタ福まるご"/>
                <a:ea typeface="イワタ福まるご"/>
                <a:cs typeface="イワタ福まるご"/>
                <a:sym typeface="イワタ福まるご"/>
              </a:rPr>
              <a:t>his made us interested not only in actual experiences of sexual harassment, but also in how common people perceive it to be in their neighborhood, and whether this perception is related to how secure they feel. </a:t>
            </a:r>
          </a:p>
          <a:p>
            <a:pPr algn="just">
              <a:lnSpc>
                <a:spcPts val="4020"/>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EEE5"/>
        </a:solidFill>
      </p:bgPr>
    </p:bg>
    <p:spTree>
      <p:nvGrpSpPr>
        <p:cNvPr id="1" name=""/>
        <p:cNvGrpSpPr/>
        <p:nvPr/>
      </p:nvGrpSpPr>
      <p:grpSpPr>
        <a:xfrm>
          <a:off x="0" y="0"/>
          <a:ext cx="0" cy="0"/>
          <a:chOff x="0" y="0"/>
          <a:chExt cx="0" cy="0"/>
        </a:xfrm>
      </p:grpSpPr>
      <p:sp>
        <p:nvSpPr>
          <p:cNvPr name="Freeform 2" id="2"/>
          <p:cNvSpPr/>
          <p:nvPr/>
        </p:nvSpPr>
        <p:spPr>
          <a:xfrm flipH="false" flipV="false" rot="0">
            <a:off x="-1580627" y="3293854"/>
            <a:ext cx="4518071" cy="7157340"/>
          </a:xfrm>
          <a:custGeom>
            <a:avLst/>
            <a:gdLst/>
            <a:ahLst/>
            <a:cxnLst/>
            <a:rect r="r" b="b" t="t" l="l"/>
            <a:pathLst>
              <a:path h="7157340" w="4518071">
                <a:moveTo>
                  <a:pt x="0" y="0"/>
                </a:moveTo>
                <a:lnTo>
                  <a:pt x="4518072" y="0"/>
                </a:lnTo>
                <a:lnTo>
                  <a:pt x="4518072" y="7157340"/>
                </a:lnTo>
                <a:lnTo>
                  <a:pt x="0" y="7157340"/>
                </a:lnTo>
                <a:lnTo>
                  <a:pt x="0" y="0"/>
                </a:lnTo>
                <a:close/>
              </a:path>
            </a:pathLst>
          </a:custGeom>
          <a:blipFill>
            <a:blip r:embed="rId2"/>
            <a:stretch>
              <a:fillRect l="0" t="0" r="0" b="0"/>
            </a:stretch>
          </a:blipFill>
        </p:spPr>
      </p:sp>
      <p:sp>
        <p:nvSpPr>
          <p:cNvPr name="TextBox 3" id="3"/>
          <p:cNvSpPr txBox="true"/>
          <p:nvPr/>
        </p:nvSpPr>
        <p:spPr>
          <a:xfrm rot="0">
            <a:off x="3521020" y="627879"/>
            <a:ext cx="12070211" cy="3264281"/>
          </a:xfrm>
          <a:prstGeom prst="rect">
            <a:avLst/>
          </a:prstGeom>
        </p:spPr>
        <p:txBody>
          <a:bodyPr anchor="t" rtlCol="false" tIns="0" lIns="0" bIns="0" rIns="0">
            <a:spAutoFit/>
          </a:bodyPr>
          <a:lstStyle/>
          <a:p>
            <a:pPr algn="just">
              <a:lnSpc>
                <a:spcPts val="4300"/>
              </a:lnSpc>
            </a:pPr>
            <a:r>
              <a:rPr lang="en-US" sz="3440">
                <a:solidFill>
                  <a:srgbClr val="556BA0"/>
                </a:solidFill>
                <a:latin typeface="TDTD가시고딕"/>
                <a:ea typeface="TDTD가시고딕"/>
                <a:cs typeface="TDTD가시고딕"/>
                <a:sym typeface="TDTD가시고딕"/>
              </a:rPr>
              <a:t>Why do</a:t>
            </a:r>
            <a:r>
              <a:rPr lang="en-US" sz="3440">
                <a:solidFill>
                  <a:srgbClr val="556BA0"/>
                </a:solidFill>
                <a:latin typeface="TDTD가시고딕"/>
                <a:ea typeface="TDTD가시고딕"/>
                <a:cs typeface="TDTD가시고딕"/>
                <a:sym typeface="TDTD가시고딕"/>
              </a:rPr>
              <a:t>es gender matter?</a:t>
            </a:r>
          </a:p>
          <a:p>
            <a:pPr algn="just" marL="742697" indent="-371348" lvl="1">
              <a:lnSpc>
                <a:spcPts val="4300"/>
              </a:lnSpc>
              <a:buFont typeface="Arial"/>
              <a:buChar char="•"/>
            </a:pPr>
            <a:r>
              <a:rPr lang="en-US" sz="3440">
                <a:solidFill>
                  <a:srgbClr val="556BA0"/>
                </a:solidFill>
                <a:latin typeface="イワタ福まるご"/>
                <a:ea typeface="イワタ福まるご"/>
                <a:cs typeface="イワタ福まるご"/>
                <a:sym typeface="イワタ福まるご"/>
              </a:rPr>
              <a:t>Gendered geography of fear (Valentine, 1989)</a:t>
            </a:r>
          </a:p>
          <a:p>
            <a:pPr algn="just" marL="742697" indent="-371348" lvl="1">
              <a:lnSpc>
                <a:spcPts val="4300"/>
              </a:lnSpc>
              <a:buFont typeface="Arial"/>
              <a:buChar char="•"/>
            </a:pPr>
            <a:r>
              <a:rPr lang="en-US" sz="3440">
                <a:solidFill>
                  <a:srgbClr val="556BA0"/>
                </a:solidFill>
                <a:latin typeface="イワタ福まるご"/>
                <a:ea typeface="イワタ福まるご"/>
                <a:cs typeface="イワタ福まるご"/>
                <a:sym typeface="イワタ福まるご"/>
              </a:rPr>
              <a:t>Women generally report higher fear and perceived vulnerability</a:t>
            </a:r>
          </a:p>
          <a:p>
            <a:pPr algn="just" marL="742697" indent="-371348" lvl="1">
              <a:lnSpc>
                <a:spcPts val="4300"/>
              </a:lnSpc>
              <a:buFont typeface="Arial"/>
              <a:buChar char="•"/>
            </a:pPr>
            <a:r>
              <a:rPr lang="en-US" sz="3440">
                <a:solidFill>
                  <a:srgbClr val="556BA0"/>
                </a:solidFill>
                <a:latin typeface="イワタ福まるご"/>
                <a:ea typeface="イワタ福まるご"/>
                <a:cs typeface="イワタ福まるご"/>
                <a:sym typeface="イワタ福まるご"/>
              </a:rPr>
              <a:t>S</a:t>
            </a:r>
            <a:r>
              <a:rPr lang="en-US" sz="3440">
                <a:solidFill>
                  <a:srgbClr val="556BA0"/>
                </a:solidFill>
                <a:latin typeface="イワタ福まるご"/>
                <a:ea typeface="イワタ福まるご"/>
                <a:cs typeface="イワタ福まるご"/>
                <a:sym typeface="イワタ福まるご"/>
              </a:rPr>
              <a:t>exual harassment is strongly gendered</a:t>
            </a:r>
          </a:p>
          <a:p>
            <a:pPr algn="just">
              <a:lnSpc>
                <a:spcPts val="4300"/>
              </a:lnSpc>
            </a:pPr>
          </a:p>
        </p:txBody>
      </p:sp>
      <p:sp>
        <p:nvSpPr>
          <p:cNvPr name="Freeform 4" id="4"/>
          <p:cNvSpPr/>
          <p:nvPr/>
        </p:nvSpPr>
        <p:spPr>
          <a:xfrm flipH="false" flipV="false" rot="-1980233">
            <a:off x="16590976" y="-430688"/>
            <a:ext cx="2887583" cy="5409991"/>
          </a:xfrm>
          <a:custGeom>
            <a:avLst/>
            <a:gdLst/>
            <a:ahLst/>
            <a:cxnLst/>
            <a:rect r="r" b="b" t="t" l="l"/>
            <a:pathLst>
              <a:path h="5409991" w="2887583">
                <a:moveTo>
                  <a:pt x="0" y="0"/>
                </a:moveTo>
                <a:lnTo>
                  <a:pt x="2887583" y="0"/>
                </a:lnTo>
                <a:lnTo>
                  <a:pt x="2887583" y="5409990"/>
                </a:lnTo>
                <a:lnTo>
                  <a:pt x="0" y="5409990"/>
                </a:lnTo>
                <a:lnTo>
                  <a:pt x="0" y="0"/>
                </a:lnTo>
                <a:close/>
              </a:path>
            </a:pathLst>
          </a:custGeom>
          <a:blipFill>
            <a:blip r:embed="rId3"/>
            <a:stretch>
              <a:fillRect l="0" t="0" r="0" b="0"/>
            </a:stretch>
          </a:blipFill>
        </p:spPr>
      </p:sp>
      <p:grpSp>
        <p:nvGrpSpPr>
          <p:cNvPr name="Group 5" id="5"/>
          <p:cNvGrpSpPr/>
          <p:nvPr/>
        </p:nvGrpSpPr>
        <p:grpSpPr>
          <a:xfrm rot="0">
            <a:off x="2020078" y="4185746"/>
            <a:ext cx="374891" cy="37489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DFD4"/>
            </a:solidFill>
          </p:spPr>
        </p:sp>
        <p:sp>
          <p:nvSpPr>
            <p:cNvPr name="TextBox 7" id="7"/>
            <p:cNvSpPr txBox="true"/>
            <p:nvPr/>
          </p:nvSpPr>
          <p:spPr>
            <a:xfrm>
              <a:off x="76200" y="-47625"/>
              <a:ext cx="660400" cy="784225"/>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2394970" y="4089095"/>
            <a:ext cx="284098" cy="284098"/>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DFD4"/>
            </a:solidFill>
          </p:spPr>
        </p:sp>
        <p:sp>
          <p:nvSpPr>
            <p:cNvPr name="TextBox 10" id="10"/>
            <p:cNvSpPr txBox="true"/>
            <p:nvPr/>
          </p:nvSpPr>
          <p:spPr>
            <a:xfrm>
              <a:off x="76200" y="-47625"/>
              <a:ext cx="660400" cy="784225"/>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3521020" y="4176693"/>
            <a:ext cx="11245960" cy="2695830"/>
          </a:xfrm>
          <a:prstGeom prst="rect">
            <a:avLst/>
          </a:prstGeom>
        </p:spPr>
        <p:txBody>
          <a:bodyPr anchor="t" rtlCol="false" tIns="0" lIns="0" bIns="0" rIns="0">
            <a:spAutoFit/>
          </a:bodyPr>
          <a:lstStyle/>
          <a:p>
            <a:pPr algn="just">
              <a:lnSpc>
                <a:spcPts val="4295"/>
              </a:lnSpc>
            </a:pPr>
            <a:r>
              <a:rPr lang="en-US" sz="3436">
                <a:solidFill>
                  <a:srgbClr val="556BA0"/>
                </a:solidFill>
                <a:latin typeface="TDTD가시고딕"/>
                <a:ea typeface="TDTD가시고딕"/>
                <a:cs typeface="TDTD가시고딕"/>
                <a:sym typeface="TDTD가시고딕"/>
              </a:rPr>
              <a:t>Why Singapor</a:t>
            </a:r>
            <a:r>
              <a:rPr lang="en-US" sz="3436">
                <a:solidFill>
                  <a:srgbClr val="556BA0"/>
                </a:solidFill>
                <a:latin typeface="TDTD가시고딕"/>
                <a:ea typeface="TDTD가시고딕"/>
                <a:cs typeface="TDTD가시고딕"/>
                <a:sym typeface="TDTD가시고딕"/>
              </a:rPr>
              <a:t>e &amp; Malaysia?</a:t>
            </a:r>
          </a:p>
          <a:p>
            <a:pPr algn="just" marL="741878" indent="-370939" lvl="1">
              <a:lnSpc>
                <a:spcPts val="4295"/>
              </a:lnSpc>
              <a:buFont typeface="Arial"/>
              <a:buChar char="•"/>
            </a:pPr>
            <a:r>
              <a:rPr lang="en-US" sz="3436">
                <a:solidFill>
                  <a:srgbClr val="556BA0"/>
                </a:solidFill>
                <a:latin typeface="イワタ福まるご"/>
                <a:ea typeface="イワタ福まるご"/>
                <a:cs typeface="イワタ福まるご"/>
                <a:sym typeface="イワタ福まるご"/>
              </a:rPr>
              <a:t>Geographically close</a:t>
            </a:r>
          </a:p>
          <a:p>
            <a:pPr algn="just" marL="741878" indent="-370939" lvl="1">
              <a:lnSpc>
                <a:spcPts val="4295"/>
              </a:lnSpc>
              <a:buFont typeface="Arial"/>
              <a:buChar char="•"/>
            </a:pPr>
            <a:r>
              <a:rPr lang="en-US" sz="3436">
                <a:solidFill>
                  <a:srgbClr val="556BA0"/>
                </a:solidFill>
                <a:latin typeface="イワタ福まるご"/>
                <a:ea typeface="イワタ福まるご"/>
                <a:cs typeface="イワタ福まるご"/>
                <a:sym typeface="イワタ福まるご"/>
              </a:rPr>
              <a:t>Shared historical and cultural similarity</a:t>
            </a:r>
          </a:p>
          <a:p>
            <a:pPr algn="just" marL="741878" indent="-370939" lvl="1">
              <a:lnSpc>
                <a:spcPts val="4295"/>
              </a:lnSpc>
              <a:buFont typeface="Arial"/>
              <a:buChar char="•"/>
            </a:pPr>
            <a:r>
              <a:rPr lang="en-US" sz="3436">
                <a:solidFill>
                  <a:srgbClr val="556BA0"/>
                </a:solidFill>
                <a:latin typeface="イワタ福まるご"/>
                <a:ea typeface="イワタ福まるご"/>
                <a:cs typeface="イワタ福まるご"/>
                <a:sym typeface="イワタ福まるご"/>
              </a:rPr>
              <a:t>Different socioeconomic and institutional contexts</a:t>
            </a:r>
          </a:p>
          <a:p>
            <a:pPr algn="just" marL="741878" indent="-370939" lvl="1">
              <a:lnSpc>
                <a:spcPts val="4295"/>
              </a:lnSpc>
              <a:buFont typeface="Arial"/>
              <a:buChar char="•"/>
            </a:pPr>
            <a:r>
              <a:rPr lang="en-US" sz="3436">
                <a:solidFill>
                  <a:srgbClr val="556BA0"/>
                </a:solidFill>
                <a:latin typeface="イワタ福まるご"/>
                <a:ea typeface="イワタ福まるご"/>
                <a:cs typeface="イワタ福まるご"/>
                <a:sym typeface="イワタ福まるご"/>
              </a:rPr>
              <a:t>A</a:t>
            </a:r>
            <a:r>
              <a:rPr lang="en-US" sz="3436">
                <a:solidFill>
                  <a:srgbClr val="556BA0"/>
                </a:solidFill>
                <a:latin typeface="イワタ福まるご"/>
                <a:ea typeface="イワタ福まるご"/>
                <a:cs typeface="イワタ福まるご"/>
                <a:sym typeface="イワタ福まるご"/>
              </a:rPr>
              <a:t> cleaner comparison</a:t>
            </a:r>
          </a:p>
        </p:txBody>
      </p:sp>
      <p:sp>
        <p:nvSpPr>
          <p:cNvPr name="TextBox 12" id="12"/>
          <p:cNvSpPr txBox="true"/>
          <p:nvPr/>
        </p:nvSpPr>
        <p:spPr>
          <a:xfrm rot="0">
            <a:off x="3108895" y="7219240"/>
            <a:ext cx="14150405" cy="2330831"/>
          </a:xfrm>
          <a:prstGeom prst="rect">
            <a:avLst/>
          </a:prstGeom>
        </p:spPr>
        <p:txBody>
          <a:bodyPr anchor="t" rtlCol="false" tIns="0" lIns="0" bIns="0" rIns="0">
            <a:spAutoFit/>
          </a:bodyPr>
          <a:lstStyle/>
          <a:p>
            <a:pPr algn="just">
              <a:lnSpc>
                <a:spcPts val="4300"/>
              </a:lnSpc>
            </a:pPr>
            <a:r>
              <a:rPr lang="en-US" sz="3440">
                <a:solidFill>
                  <a:srgbClr val="556BA0"/>
                </a:solidFill>
                <a:latin typeface="イワタ福まるご"/>
                <a:ea typeface="イワタ福まるご"/>
                <a:cs typeface="イワタ福まるご"/>
                <a:sym typeface="イワタ福まるご"/>
              </a:rPr>
              <a:t>Pr</a:t>
            </a:r>
            <a:r>
              <a:rPr lang="en-US" sz="3440">
                <a:solidFill>
                  <a:srgbClr val="556BA0"/>
                </a:solidFill>
                <a:latin typeface="イワタ福まるご"/>
                <a:ea typeface="イワタ福まるご"/>
                <a:cs typeface="イワタ福まるご"/>
                <a:sym typeface="イワタ福まるご"/>
              </a:rPr>
              <a:t>evious studies have </a:t>
            </a:r>
            <a:r>
              <a:rPr lang="en-US" sz="3440">
                <a:solidFill>
                  <a:srgbClr val="556BA0"/>
                </a:solidFill>
                <a:latin typeface="イワタ福まるご"/>
                <a:ea typeface="イワタ福まるご"/>
                <a:cs typeface="イワタ福まるご"/>
                <a:sym typeface="イワタ福まるご"/>
              </a:rPr>
              <a:t>examined sexual harassment, fear, and subjective s</a:t>
            </a:r>
            <a:r>
              <a:rPr lang="en-US" sz="3440">
                <a:solidFill>
                  <a:srgbClr val="556BA0"/>
                </a:solidFill>
                <a:latin typeface="イワタ福まるご"/>
                <a:ea typeface="イワタ福まるご"/>
                <a:cs typeface="イワタ福まるご"/>
                <a:sym typeface="イワタ福まるご"/>
              </a:rPr>
              <a:t>ecurity separately. However, less is known about whether perceived sexual harassment lowers subjective security, especially among women and across countries.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EEE5"/>
        </a:solidFill>
      </p:bgPr>
    </p:bg>
    <p:spTree>
      <p:nvGrpSpPr>
        <p:cNvPr id="1" name=""/>
        <p:cNvGrpSpPr/>
        <p:nvPr/>
      </p:nvGrpSpPr>
      <p:grpSpPr>
        <a:xfrm>
          <a:off x="0" y="0"/>
          <a:ext cx="0" cy="0"/>
          <a:chOff x="0" y="0"/>
          <a:chExt cx="0" cy="0"/>
        </a:xfrm>
      </p:grpSpPr>
      <p:sp>
        <p:nvSpPr>
          <p:cNvPr name="Freeform 2" id="2"/>
          <p:cNvSpPr/>
          <p:nvPr/>
        </p:nvSpPr>
        <p:spPr>
          <a:xfrm flipH="false" flipV="false" rot="0">
            <a:off x="-1580627" y="3293854"/>
            <a:ext cx="4518071" cy="7157340"/>
          </a:xfrm>
          <a:custGeom>
            <a:avLst/>
            <a:gdLst/>
            <a:ahLst/>
            <a:cxnLst/>
            <a:rect r="r" b="b" t="t" l="l"/>
            <a:pathLst>
              <a:path h="7157340" w="4518071">
                <a:moveTo>
                  <a:pt x="0" y="0"/>
                </a:moveTo>
                <a:lnTo>
                  <a:pt x="4518072" y="0"/>
                </a:lnTo>
                <a:lnTo>
                  <a:pt x="4518072" y="7157340"/>
                </a:lnTo>
                <a:lnTo>
                  <a:pt x="0" y="7157340"/>
                </a:lnTo>
                <a:lnTo>
                  <a:pt x="0" y="0"/>
                </a:lnTo>
                <a:close/>
              </a:path>
            </a:pathLst>
          </a:custGeom>
          <a:blipFill>
            <a:blip r:embed="rId2"/>
            <a:stretch>
              <a:fillRect l="0" t="0" r="0" b="0"/>
            </a:stretch>
          </a:blipFill>
        </p:spPr>
      </p:sp>
      <p:sp>
        <p:nvSpPr>
          <p:cNvPr name="Freeform 3" id="3"/>
          <p:cNvSpPr/>
          <p:nvPr/>
        </p:nvSpPr>
        <p:spPr>
          <a:xfrm flipH="false" flipV="false" rot="-1980233">
            <a:off x="16590976" y="-430688"/>
            <a:ext cx="2887583" cy="5409991"/>
          </a:xfrm>
          <a:custGeom>
            <a:avLst/>
            <a:gdLst/>
            <a:ahLst/>
            <a:cxnLst/>
            <a:rect r="r" b="b" t="t" l="l"/>
            <a:pathLst>
              <a:path h="5409991" w="2887583">
                <a:moveTo>
                  <a:pt x="0" y="0"/>
                </a:moveTo>
                <a:lnTo>
                  <a:pt x="2887583" y="0"/>
                </a:lnTo>
                <a:lnTo>
                  <a:pt x="2887583" y="5409990"/>
                </a:lnTo>
                <a:lnTo>
                  <a:pt x="0" y="5409990"/>
                </a:lnTo>
                <a:lnTo>
                  <a:pt x="0" y="0"/>
                </a:lnTo>
                <a:close/>
              </a:path>
            </a:pathLst>
          </a:custGeom>
          <a:blipFill>
            <a:blip r:embed="rId3"/>
            <a:stretch>
              <a:fillRect l="0" t="0" r="0" b="0"/>
            </a:stretch>
          </a:blipFill>
        </p:spPr>
      </p:sp>
      <p:grpSp>
        <p:nvGrpSpPr>
          <p:cNvPr name="Group 4" id="4"/>
          <p:cNvGrpSpPr/>
          <p:nvPr/>
        </p:nvGrpSpPr>
        <p:grpSpPr>
          <a:xfrm rot="0">
            <a:off x="2020078" y="4185746"/>
            <a:ext cx="374891" cy="374891"/>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DFD4"/>
            </a:solidFill>
          </p:spPr>
        </p:sp>
        <p:sp>
          <p:nvSpPr>
            <p:cNvPr name="TextBox 6" id="6"/>
            <p:cNvSpPr txBox="true"/>
            <p:nvPr/>
          </p:nvSpPr>
          <p:spPr>
            <a:xfrm>
              <a:off x="76200" y="-47625"/>
              <a:ext cx="660400" cy="784225"/>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2394970" y="4089095"/>
            <a:ext cx="284098" cy="284098"/>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DFD4"/>
            </a:solidFill>
          </p:spPr>
        </p:sp>
        <p:sp>
          <p:nvSpPr>
            <p:cNvPr name="TextBox 9" id="9"/>
            <p:cNvSpPr txBox="true"/>
            <p:nvPr/>
          </p:nvSpPr>
          <p:spPr>
            <a:xfrm>
              <a:off x="76200" y="-47625"/>
              <a:ext cx="660400" cy="784225"/>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4523628" y="3268680"/>
            <a:ext cx="9240743" cy="917067"/>
          </a:xfrm>
          <a:prstGeom prst="rect">
            <a:avLst/>
          </a:prstGeom>
        </p:spPr>
        <p:txBody>
          <a:bodyPr anchor="t" rtlCol="false" tIns="0" lIns="0" bIns="0" rIns="0">
            <a:spAutoFit/>
          </a:bodyPr>
          <a:lstStyle/>
          <a:p>
            <a:pPr algn="ctr">
              <a:lnSpc>
                <a:spcPts val="6788"/>
              </a:lnSpc>
            </a:pPr>
            <a:r>
              <a:rPr lang="en-US" sz="7299">
                <a:solidFill>
                  <a:srgbClr val="556BA0"/>
                </a:solidFill>
                <a:latin typeface="TDTD가시고딕"/>
                <a:ea typeface="TDTD가시고딕"/>
                <a:cs typeface="TDTD가시고딕"/>
                <a:sym typeface="TDTD가시고딕"/>
              </a:rPr>
              <a:t>Research question:</a:t>
            </a:r>
          </a:p>
        </p:txBody>
      </p:sp>
      <p:sp>
        <p:nvSpPr>
          <p:cNvPr name="TextBox 11" id="11"/>
          <p:cNvSpPr txBox="true"/>
          <p:nvPr/>
        </p:nvSpPr>
        <p:spPr>
          <a:xfrm rot="0">
            <a:off x="4523628" y="4192217"/>
            <a:ext cx="9240743" cy="2921000"/>
          </a:xfrm>
          <a:prstGeom prst="rect">
            <a:avLst/>
          </a:prstGeom>
        </p:spPr>
        <p:txBody>
          <a:bodyPr anchor="t" rtlCol="false" tIns="0" lIns="0" bIns="0" rIns="0">
            <a:spAutoFit/>
          </a:bodyPr>
          <a:lstStyle/>
          <a:p>
            <a:pPr algn="l">
              <a:lnSpc>
                <a:spcPts val="4375"/>
              </a:lnSpc>
            </a:pPr>
            <a:r>
              <a:rPr lang="en-US" sz="3500">
                <a:solidFill>
                  <a:srgbClr val="556BA0"/>
                </a:solidFill>
                <a:latin typeface="イワタ福まるご"/>
                <a:ea typeface="イワタ福まるご"/>
                <a:cs typeface="イワタ福まるご"/>
                <a:sym typeface="イワタ福まるご"/>
              </a:rPr>
              <a:t>H</a:t>
            </a:r>
            <a:r>
              <a:rPr lang="en-US" sz="3500">
                <a:solidFill>
                  <a:srgbClr val="556BA0"/>
                </a:solidFill>
                <a:latin typeface="イワタ福まるご"/>
                <a:ea typeface="イワタ福まるご"/>
                <a:cs typeface="イワタ福まるご"/>
                <a:sym typeface="イワタ福まるご"/>
              </a:rPr>
              <a:t>ow is the perceived prevalence of sexual harassment in one’s neighborhood associated with subjective security, and is this association stronger among women than among men in the context of Singapore and Malaysia?</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FEEE5"/>
        </a:solidFill>
      </p:bgPr>
    </p:bg>
    <p:spTree>
      <p:nvGrpSpPr>
        <p:cNvPr id="1" name=""/>
        <p:cNvGrpSpPr/>
        <p:nvPr/>
      </p:nvGrpSpPr>
      <p:grpSpPr>
        <a:xfrm>
          <a:off x="0" y="0"/>
          <a:ext cx="0" cy="0"/>
          <a:chOff x="0" y="0"/>
          <a:chExt cx="0" cy="0"/>
        </a:xfrm>
      </p:grpSpPr>
      <p:grpSp>
        <p:nvGrpSpPr>
          <p:cNvPr name="Group 2" id="2"/>
          <p:cNvGrpSpPr/>
          <p:nvPr/>
        </p:nvGrpSpPr>
        <p:grpSpPr>
          <a:xfrm rot="565453">
            <a:off x="12224809" y="5115122"/>
            <a:ext cx="1045788" cy="527046"/>
            <a:chOff x="0" y="0"/>
            <a:chExt cx="275434" cy="138810"/>
          </a:xfrm>
        </p:grpSpPr>
        <p:sp>
          <p:nvSpPr>
            <p:cNvPr name="Freeform 3" id="3"/>
            <p:cNvSpPr/>
            <p:nvPr/>
          </p:nvSpPr>
          <p:spPr>
            <a:xfrm flipH="false" flipV="false" rot="0">
              <a:off x="0" y="0"/>
              <a:ext cx="275434" cy="138810"/>
            </a:xfrm>
            <a:custGeom>
              <a:avLst/>
              <a:gdLst/>
              <a:ahLst/>
              <a:cxnLst/>
              <a:rect r="r" b="b" t="t" l="l"/>
              <a:pathLst>
                <a:path h="138810" w="275434">
                  <a:moveTo>
                    <a:pt x="0" y="0"/>
                  </a:moveTo>
                  <a:lnTo>
                    <a:pt x="275434" y="0"/>
                  </a:lnTo>
                  <a:lnTo>
                    <a:pt x="275434" y="138810"/>
                  </a:lnTo>
                  <a:lnTo>
                    <a:pt x="0" y="138810"/>
                  </a:lnTo>
                  <a:close/>
                </a:path>
              </a:pathLst>
            </a:custGeom>
            <a:solidFill>
              <a:srgbClr val="F2F2F2"/>
            </a:solidFill>
          </p:spPr>
        </p:sp>
        <p:sp>
          <p:nvSpPr>
            <p:cNvPr name="TextBox 4" id="4"/>
            <p:cNvSpPr txBox="true"/>
            <p:nvPr/>
          </p:nvSpPr>
          <p:spPr>
            <a:xfrm>
              <a:off x="0" y="-123825"/>
              <a:ext cx="275434" cy="262635"/>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65453">
            <a:off x="12457938" y="5468896"/>
            <a:ext cx="758744" cy="514106"/>
            <a:chOff x="0" y="0"/>
            <a:chExt cx="199834" cy="135402"/>
          </a:xfrm>
        </p:grpSpPr>
        <p:sp>
          <p:nvSpPr>
            <p:cNvPr name="Freeform 6" id="6"/>
            <p:cNvSpPr/>
            <p:nvPr/>
          </p:nvSpPr>
          <p:spPr>
            <a:xfrm flipH="false" flipV="false" rot="0">
              <a:off x="0" y="0"/>
              <a:ext cx="199834" cy="135402"/>
            </a:xfrm>
            <a:custGeom>
              <a:avLst/>
              <a:gdLst/>
              <a:ahLst/>
              <a:cxnLst/>
              <a:rect r="r" b="b" t="t" l="l"/>
              <a:pathLst>
                <a:path h="135402" w="199834">
                  <a:moveTo>
                    <a:pt x="0" y="0"/>
                  </a:moveTo>
                  <a:lnTo>
                    <a:pt x="199834" y="0"/>
                  </a:lnTo>
                  <a:lnTo>
                    <a:pt x="199834" y="135402"/>
                  </a:lnTo>
                  <a:lnTo>
                    <a:pt x="0" y="135402"/>
                  </a:lnTo>
                  <a:close/>
                </a:path>
              </a:pathLst>
            </a:custGeom>
            <a:solidFill>
              <a:srgbClr val="F2F2F2"/>
            </a:solidFill>
          </p:spPr>
        </p:sp>
        <p:sp>
          <p:nvSpPr>
            <p:cNvPr name="TextBox 7" id="7"/>
            <p:cNvSpPr txBox="true"/>
            <p:nvPr/>
          </p:nvSpPr>
          <p:spPr>
            <a:xfrm>
              <a:off x="0" y="-123825"/>
              <a:ext cx="199834" cy="259227"/>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4902566" y="4910073"/>
            <a:ext cx="285145" cy="303121"/>
            <a:chOff x="0" y="0"/>
            <a:chExt cx="764597" cy="812800"/>
          </a:xfrm>
        </p:grpSpPr>
        <p:sp>
          <p:nvSpPr>
            <p:cNvPr name="Freeform 9" id="9"/>
            <p:cNvSpPr/>
            <p:nvPr/>
          </p:nvSpPr>
          <p:spPr>
            <a:xfrm flipH="false" flipV="false" rot="0">
              <a:off x="0" y="0"/>
              <a:ext cx="764597" cy="812800"/>
            </a:xfrm>
            <a:custGeom>
              <a:avLst/>
              <a:gdLst/>
              <a:ahLst/>
              <a:cxnLst/>
              <a:rect r="r" b="b" t="t" l="l"/>
              <a:pathLst>
                <a:path h="812800" w="764597">
                  <a:moveTo>
                    <a:pt x="382298" y="0"/>
                  </a:moveTo>
                  <a:cubicBezTo>
                    <a:pt x="171161" y="0"/>
                    <a:pt x="0" y="181951"/>
                    <a:pt x="0" y="406400"/>
                  </a:cubicBezTo>
                  <a:cubicBezTo>
                    <a:pt x="0" y="630849"/>
                    <a:pt x="171161" y="812800"/>
                    <a:pt x="382298" y="812800"/>
                  </a:cubicBezTo>
                  <a:cubicBezTo>
                    <a:pt x="593436" y="812800"/>
                    <a:pt x="764597" y="630849"/>
                    <a:pt x="764597" y="406400"/>
                  </a:cubicBezTo>
                  <a:cubicBezTo>
                    <a:pt x="764597" y="181951"/>
                    <a:pt x="593436" y="0"/>
                    <a:pt x="382298" y="0"/>
                  </a:cubicBezTo>
                  <a:close/>
                </a:path>
              </a:pathLst>
            </a:custGeom>
            <a:solidFill>
              <a:srgbClr val="FFD0A1"/>
            </a:solidFill>
          </p:spPr>
        </p:sp>
        <p:sp>
          <p:nvSpPr>
            <p:cNvPr name="TextBox 10" id="10"/>
            <p:cNvSpPr txBox="true"/>
            <p:nvPr/>
          </p:nvSpPr>
          <p:spPr>
            <a:xfrm>
              <a:off x="71681" y="-47625"/>
              <a:ext cx="621235" cy="784225"/>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5117884" y="4881498"/>
            <a:ext cx="246464" cy="262002"/>
            <a:chOff x="0" y="0"/>
            <a:chExt cx="764597" cy="812800"/>
          </a:xfrm>
        </p:grpSpPr>
        <p:sp>
          <p:nvSpPr>
            <p:cNvPr name="Freeform 12" id="12"/>
            <p:cNvSpPr/>
            <p:nvPr/>
          </p:nvSpPr>
          <p:spPr>
            <a:xfrm flipH="false" flipV="false" rot="0">
              <a:off x="0" y="0"/>
              <a:ext cx="764597" cy="812800"/>
            </a:xfrm>
            <a:custGeom>
              <a:avLst/>
              <a:gdLst/>
              <a:ahLst/>
              <a:cxnLst/>
              <a:rect r="r" b="b" t="t" l="l"/>
              <a:pathLst>
                <a:path h="812800" w="764597">
                  <a:moveTo>
                    <a:pt x="382298" y="0"/>
                  </a:moveTo>
                  <a:cubicBezTo>
                    <a:pt x="171161" y="0"/>
                    <a:pt x="0" y="181951"/>
                    <a:pt x="0" y="406400"/>
                  </a:cubicBezTo>
                  <a:cubicBezTo>
                    <a:pt x="0" y="630849"/>
                    <a:pt x="171161" y="812800"/>
                    <a:pt x="382298" y="812800"/>
                  </a:cubicBezTo>
                  <a:cubicBezTo>
                    <a:pt x="593436" y="812800"/>
                    <a:pt x="764597" y="630849"/>
                    <a:pt x="764597" y="406400"/>
                  </a:cubicBezTo>
                  <a:cubicBezTo>
                    <a:pt x="764597" y="181951"/>
                    <a:pt x="593436" y="0"/>
                    <a:pt x="382298" y="0"/>
                  </a:cubicBezTo>
                  <a:close/>
                </a:path>
              </a:pathLst>
            </a:custGeom>
            <a:solidFill>
              <a:srgbClr val="FFD0A1"/>
            </a:solidFill>
          </p:spPr>
        </p:sp>
        <p:sp>
          <p:nvSpPr>
            <p:cNvPr name="TextBox 13" id="13"/>
            <p:cNvSpPr txBox="true"/>
            <p:nvPr/>
          </p:nvSpPr>
          <p:spPr>
            <a:xfrm>
              <a:off x="71681" y="-47625"/>
              <a:ext cx="621235" cy="784225"/>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292174" y="477586"/>
            <a:ext cx="9240743" cy="917067"/>
          </a:xfrm>
          <a:prstGeom prst="rect">
            <a:avLst/>
          </a:prstGeom>
        </p:spPr>
        <p:txBody>
          <a:bodyPr anchor="t" rtlCol="false" tIns="0" lIns="0" bIns="0" rIns="0">
            <a:spAutoFit/>
          </a:bodyPr>
          <a:lstStyle/>
          <a:p>
            <a:pPr algn="l">
              <a:lnSpc>
                <a:spcPts val="6788"/>
              </a:lnSpc>
            </a:pPr>
            <a:r>
              <a:rPr lang="en-US" sz="7299">
                <a:solidFill>
                  <a:srgbClr val="556BA0"/>
                </a:solidFill>
                <a:latin typeface="TDTD가시고딕"/>
                <a:ea typeface="TDTD가시고딕"/>
                <a:cs typeface="TDTD가시고딕"/>
                <a:sym typeface="TDTD가시고딕"/>
              </a:rPr>
              <a:t>Hypothesis:</a:t>
            </a:r>
          </a:p>
        </p:txBody>
      </p:sp>
      <p:sp>
        <p:nvSpPr>
          <p:cNvPr name="TextBox 15" id="15"/>
          <p:cNvSpPr txBox="true"/>
          <p:nvPr/>
        </p:nvSpPr>
        <p:spPr>
          <a:xfrm rot="0">
            <a:off x="292174" y="1477269"/>
            <a:ext cx="16967126" cy="2921000"/>
          </a:xfrm>
          <a:prstGeom prst="rect">
            <a:avLst/>
          </a:prstGeom>
        </p:spPr>
        <p:txBody>
          <a:bodyPr anchor="t" rtlCol="false" tIns="0" lIns="0" bIns="0" rIns="0">
            <a:spAutoFit/>
          </a:bodyPr>
          <a:lstStyle/>
          <a:p>
            <a:pPr algn="l">
              <a:lnSpc>
                <a:spcPts val="4375"/>
              </a:lnSpc>
            </a:pPr>
            <a:r>
              <a:rPr lang="en-US" sz="3500">
                <a:solidFill>
                  <a:srgbClr val="556BA0"/>
                </a:solidFill>
                <a:latin typeface="イワタ福まるご"/>
                <a:ea typeface="イワタ福まるご"/>
                <a:cs typeface="イワタ福まるご"/>
                <a:sym typeface="イワタ福まるご"/>
              </a:rPr>
              <a:t>Hypothesis 1: Main association</a:t>
            </a:r>
          </a:p>
          <a:p>
            <a:pPr algn="l" marL="755651" indent="-377825" lvl="1">
              <a:lnSpc>
                <a:spcPts val="4375"/>
              </a:lnSpc>
              <a:buAutoNum type="arabicPeriod" startAt="1"/>
            </a:pPr>
            <a:r>
              <a:rPr lang="en-US" sz="3500">
                <a:solidFill>
                  <a:srgbClr val="556BA0"/>
                </a:solidFill>
                <a:latin typeface="イワタ福まるご"/>
                <a:ea typeface="イワタ福まるご"/>
                <a:cs typeface="イワタ福まるご"/>
                <a:sym typeface="イワタ福まるご"/>
              </a:rPr>
              <a:t>H0₁: Perceived prevalence of sexual harassment in one’s neighborhood is not associated with subjective security.</a:t>
            </a:r>
          </a:p>
          <a:p>
            <a:pPr algn="l" marL="755651" indent="-377825" lvl="1">
              <a:lnSpc>
                <a:spcPts val="4375"/>
              </a:lnSpc>
              <a:buAutoNum type="arabicPeriod" startAt="1"/>
            </a:pPr>
            <a:r>
              <a:rPr lang="en-US" sz="3500">
                <a:solidFill>
                  <a:srgbClr val="556BA0"/>
                </a:solidFill>
                <a:latin typeface="イワタ福まるご"/>
                <a:ea typeface="イワタ福まるご"/>
                <a:cs typeface="イワタ福まるご"/>
                <a:sym typeface="イワタ福まるご"/>
              </a:rPr>
              <a:t>H1₁: Higher perceived prevalence of sexual harassment in one’s neighborhood is associated with lower subjective security.</a:t>
            </a:r>
          </a:p>
        </p:txBody>
      </p:sp>
      <p:sp>
        <p:nvSpPr>
          <p:cNvPr name="TextBox 16" id="16"/>
          <p:cNvSpPr txBox="true"/>
          <p:nvPr/>
        </p:nvSpPr>
        <p:spPr>
          <a:xfrm rot="0">
            <a:off x="292174" y="4421634"/>
            <a:ext cx="16967126" cy="2921000"/>
          </a:xfrm>
          <a:prstGeom prst="rect">
            <a:avLst/>
          </a:prstGeom>
        </p:spPr>
        <p:txBody>
          <a:bodyPr anchor="t" rtlCol="false" tIns="0" lIns="0" bIns="0" rIns="0">
            <a:spAutoFit/>
          </a:bodyPr>
          <a:lstStyle/>
          <a:p>
            <a:pPr algn="l">
              <a:lnSpc>
                <a:spcPts val="4375"/>
              </a:lnSpc>
            </a:pPr>
            <a:r>
              <a:rPr lang="en-US" sz="3500">
                <a:solidFill>
                  <a:srgbClr val="556BA0"/>
                </a:solidFill>
                <a:latin typeface="イワタ福まるご"/>
                <a:ea typeface="イワタ福まるご"/>
                <a:cs typeface="イワタ福まるご"/>
                <a:sym typeface="イワタ福まるご"/>
              </a:rPr>
              <a:t>Hypothesis 2: Gender difference</a:t>
            </a:r>
          </a:p>
          <a:p>
            <a:pPr algn="l" marL="755651" indent="-377825" lvl="1">
              <a:lnSpc>
                <a:spcPts val="4375"/>
              </a:lnSpc>
              <a:buAutoNum type="arabicPeriod" startAt="1"/>
            </a:pPr>
            <a:r>
              <a:rPr lang="en-US" sz="3500">
                <a:solidFill>
                  <a:srgbClr val="556BA0"/>
                </a:solidFill>
                <a:latin typeface="イワタ福まるご"/>
                <a:ea typeface="イワタ福まるご"/>
                <a:cs typeface="イワタ福まるご"/>
                <a:sym typeface="イワタ福まるご"/>
              </a:rPr>
              <a:t>H0₂: The association between perceived sexual harassment and subjective security does not differ by gender.</a:t>
            </a:r>
          </a:p>
          <a:p>
            <a:pPr algn="l" marL="755651" indent="-377825" lvl="1">
              <a:lnSpc>
                <a:spcPts val="4375"/>
              </a:lnSpc>
              <a:buAutoNum type="arabicPeriod" startAt="1"/>
            </a:pPr>
            <a:r>
              <a:rPr lang="en-US" sz="3500">
                <a:solidFill>
                  <a:srgbClr val="556BA0"/>
                </a:solidFill>
                <a:latin typeface="イワタ福まるご"/>
                <a:ea typeface="イワタ福まるご"/>
                <a:cs typeface="イワタ福まるご"/>
                <a:sym typeface="イワタ福まるご"/>
              </a:rPr>
              <a:t>H1₂: The association between perceived sexual harassment and subjective security is stronger among women than among men.</a:t>
            </a:r>
          </a:p>
        </p:txBody>
      </p:sp>
      <p:sp>
        <p:nvSpPr>
          <p:cNvPr name="TextBox 17" id="17"/>
          <p:cNvSpPr txBox="true"/>
          <p:nvPr/>
        </p:nvSpPr>
        <p:spPr>
          <a:xfrm rot="0">
            <a:off x="292174" y="7366000"/>
            <a:ext cx="16967126" cy="2921000"/>
          </a:xfrm>
          <a:prstGeom prst="rect">
            <a:avLst/>
          </a:prstGeom>
        </p:spPr>
        <p:txBody>
          <a:bodyPr anchor="t" rtlCol="false" tIns="0" lIns="0" bIns="0" rIns="0">
            <a:spAutoFit/>
          </a:bodyPr>
          <a:lstStyle/>
          <a:p>
            <a:pPr algn="l">
              <a:lnSpc>
                <a:spcPts val="4375"/>
              </a:lnSpc>
            </a:pPr>
            <a:r>
              <a:rPr lang="en-US" sz="3500">
                <a:solidFill>
                  <a:srgbClr val="556BA0"/>
                </a:solidFill>
                <a:latin typeface="イワタ福まるご"/>
                <a:ea typeface="イワタ福まるご"/>
                <a:cs typeface="イワタ福まるご"/>
                <a:sym typeface="イワタ福まるご"/>
              </a:rPr>
              <a:t>Hypothesis 3: Country difference</a:t>
            </a:r>
          </a:p>
          <a:p>
            <a:pPr algn="l" marL="755651" indent="-377825" lvl="1">
              <a:lnSpc>
                <a:spcPts val="4375"/>
              </a:lnSpc>
              <a:buAutoNum type="arabicPeriod" startAt="1"/>
            </a:pPr>
            <a:r>
              <a:rPr lang="en-US" sz="3500">
                <a:solidFill>
                  <a:srgbClr val="556BA0"/>
                </a:solidFill>
                <a:latin typeface="イワタ福まるご"/>
                <a:ea typeface="イワタ福まるご"/>
                <a:cs typeface="イワタ福まるご"/>
                <a:sym typeface="イワタ福まるご"/>
              </a:rPr>
              <a:t>H0₃: The gender difference in the association between perceived sexual harassment and subjective security is the same in Singapore and Malaysia.</a:t>
            </a:r>
          </a:p>
          <a:p>
            <a:pPr algn="l" marL="755651" indent="-377825" lvl="1">
              <a:lnSpc>
                <a:spcPts val="4375"/>
              </a:lnSpc>
              <a:buAutoNum type="arabicPeriod" startAt="1"/>
            </a:pPr>
            <a:r>
              <a:rPr lang="en-US" sz="3500">
                <a:solidFill>
                  <a:srgbClr val="556BA0"/>
                </a:solidFill>
                <a:latin typeface="イワタ福まるご"/>
                <a:ea typeface="イワタ福まるご"/>
                <a:cs typeface="イワタ福まるご"/>
                <a:sym typeface="イワタ福まるご"/>
              </a:rPr>
              <a:t>H1₃: The gender difference in this association varies between Singapore and Malaysia.</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EEE5"/>
        </a:solidFill>
      </p:bgPr>
    </p:bg>
    <p:spTree>
      <p:nvGrpSpPr>
        <p:cNvPr id="1" name=""/>
        <p:cNvGrpSpPr/>
        <p:nvPr/>
      </p:nvGrpSpPr>
      <p:grpSpPr>
        <a:xfrm>
          <a:off x="0" y="0"/>
          <a:ext cx="0" cy="0"/>
          <a:chOff x="0" y="0"/>
          <a:chExt cx="0" cy="0"/>
        </a:xfrm>
      </p:grpSpPr>
      <p:sp>
        <p:nvSpPr>
          <p:cNvPr name="Freeform 2" id="2"/>
          <p:cNvSpPr/>
          <p:nvPr/>
        </p:nvSpPr>
        <p:spPr>
          <a:xfrm flipH="false" flipV="false" rot="0">
            <a:off x="735214" y="849420"/>
            <a:ext cx="13744635" cy="8229600"/>
          </a:xfrm>
          <a:custGeom>
            <a:avLst/>
            <a:gdLst/>
            <a:ahLst/>
            <a:cxnLst/>
            <a:rect r="r" b="b" t="t" l="l"/>
            <a:pathLst>
              <a:path h="8229600" w="13744635">
                <a:moveTo>
                  <a:pt x="0" y="0"/>
                </a:moveTo>
                <a:lnTo>
                  <a:pt x="13744635" y="0"/>
                </a:lnTo>
                <a:lnTo>
                  <a:pt x="13744635" y="8229600"/>
                </a:lnTo>
                <a:lnTo>
                  <a:pt x="0" y="8229600"/>
                </a:lnTo>
                <a:lnTo>
                  <a:pt x="0" y="0"/>
                </a:lnTo>
                <a:close/>
              </a:path>
            </a:pathLst>
          </a:custGeom>
          <a:blipFill>
            <a:blip r:embed="rId2"/>
            <a:stretch>
              <a:fillRect l="0" t="0" r="0" b="0"/>
            </a:stretch>
          </a:blipFill>
        </p:spPr>
      </p:sp>
      <p:grpSp>
        <p:nvGrpSpPr>
          <p:cNvPr name="Group 3" id="3"/>
          <p:cNvGrpSpPr/>
          <p:nvPr/>
        </p:nvGrpSpPr>
        <p:grpSpPr>
          <a:xfrm rot="0">
            <a:off x="0" y="5831630"/>
            <a:ext cx="5471928" cy="4607762"/>
            <a:chOff x="0" y="0"/>
            <a:chExt cx="7295904" cy="6143682"/>
          </a:xfrm>
        </p:grpSpPr>
        <p:sp>
          <p:nvSpPr>
            <p:cNvPr name="Freeform 4" id="4"/>
            <p:cNvSpPr/>
            <p:nvPr/>
          </p:nvSpPr>
          <p:spPr>
            <a:xfrm flipH="false" flipV="false" rot="0">
              <a:off x="0" y="0"/>
              <a:ext cx="7295904" cy="6055600"/>
            </a:xfrm>
            <a:custGeom>
              <a:avLst/>
              <a:gdLst/>
              <a:ahLst/>
              <a:cxnLst/>
              <a:rect r="r" b="b" t="t" l="l"/>
              <a:pathLst>
                <a:path h="6055600" w="7295904">
                  <a:moveTo>
                    <a:pt x="0" y="0"/>
                  </a:moveTo>
                  <a:lnTo>
                    <a:pt x="7295904" y="0"/>
                  </a:lnTo>
                  <a:lnTo>
                    <a:pt x="7295904" y="6055600"/>
                  </a:lnTo>
                  <a:lnTo>
                    <a:pt x="0" y="6055600"/>
                  </a:lnTo>
                  <a:lnTo>
                    <a:pt x="0" y="0"/>
                  </a:lnTo>
                  <a:close/>
                </a:path>
              </a:pathLst>
            </a:custGeom>
            <a:blipFill>
              <a:blip r:embed="rId3"/>
              <a:stretch>
                <a:fillRect l="0" t="0" r="0" b="0"/>
              </a:stretch>
            </a:blipFill>
          </p:spPr>
        </p:sp>
        <p:sp>
          <p:nvSpPr>
            <p:cNvPr name="Freeform 5" id="5"/>
            <p:cNvSpPr/>
            <p:nvPr/>
          </p:nvSpPr>
          <p:spPr>
            <a:xfrm flipH="false" flipV="false" rot="0">
              <a:off x="2449533" y="2500357"/>
              <a:ext cx="4207388" cy="3555243"/>
            </a:xfrm>
            <a:custGeom>
              <a:avLst/>
              <a:gdLst/>
              <a:ahLst/>
              <a:cxnLst/>
              <a:rect r="r" b="b" t="t" l="l"/>
              <a:pathLst>
                <a:path h="3555243" w="4207388">
                  <a:moveTo>
                    <a:pt x="0" y="0"/>
                  </a:moveTo>
                  <a:lnTo>
                    <a:pt x="4207388" y="0"/>
                  </a:lnTo>
                  <a:lnTo>
                    <a:pt x="4207388" y="3555243"/>
                  </a:lnTo>
                  <a:lnTo>
                    <a:pt x="0" y="3555243"/>
                  </a:lnTo>
                  <a:lnTo>
                    <a:pt x="0" y="0"/>
                  </a:lnTo>
                  <a:close/>
                </a:path>
              </a:pathLst>
            </a:custGeom>
            <a:blipFill>
              <a:blip r:embed="rId4"/>
              <a:stretch>
                <a:fillRect l="0" t="0" r="0" b="0"/>
              </a:stretch>
            </a:blipFill>
          </p:spPr>
        </p:sp>
        <p:sp>
          <p:nvSpPr>
            <p:cNvPr name="Freeform 6" id="6"/>
            <p:cNvSpPr/>
            <p:nvPr/>
          </p:nvSpPr>
          <p:spPr>
            <a:xfrm flipH="false" flipV="false" rot="0">
              <a:off x="3252056" y="2803954"/>
              <a:ext cx="3404865" cy="3251646"/>
            </a:xfrm>
            <a:custGeom>
              <a:avLst/>
              <a:gdLst/>
              <a:ahLst/>
              <a:cxnLst/>
              <a:rect r="r" b="b" t="t" l="l"/>
              <a:pathLst>
                <a:path h="3251646" w="3404865">
                  <a:moveTo>
                    <a:pt x="0" y="0"/>
                  </a:moveTo>
                  <a:lnTo>
                    <a:pt x="3404865" y="0"/>
                  </a:lnTo>
                  <a:lnTo>
                    <a:pt x="3404865" y="3251646"/>
                  </a:lnTo>
                  <a:lnTo>
                    <a:pt x="0" y="3251646"/>
                  </a:lnTo>
                  <a:lnTo>
                    <a:pt x="0" y="0"/>
                  </a:lnTo>
                  <a:close/>
                </a:path>
              </a:pathLst>
            </a:custGeom>
            <a:blipFill>
              <a:blip r:embed="rId5"/>
              <a:stretch>
                <a:fillRect l="0" t="0" r="0" b="0"/>
              </a:stretch>
            </a:blipFill>
          </p:spPr>
        </p:sp>
        <p:sp>
          <p:nvSpPr>
            <p:cNvPr name="Freeform 7" id="7"/>
            <p:cNvSpPr/>
            <p:nvPr/>
          </p:nvSpPr>
          <p:spPr>
            <a:xfrm flipH="false" flipV="false" rot="0">
              <a:off x="0" y="2584660"/>
              <a:ext cx="3252056" cy="3559022"/>
            </a:xfrm>
            <a:custGeom>
              <a:avLst/>
              <a:gdLst/>
              <a:ahLst/>
              <a:cxnLst/>
              <a:rect r="r" b="b" t="t" l="l"/>
              <a:pathLst>
                <a:path h="3559022" w="3252056">
                  <a:moveTo>
                    <a:pt x="0" y="0"/>
                  </a:moveTo>
                  <a:lnTo>
                    <a:pt x="3252056" y="0"/>
                  </a:lnTo>
                  <a:lnTo>
                    <a:pt x="3252056" y="3559022"/>
                  </a:lnTo>
                  <a:lnTo>
                    <a:pt x="0" y="3559022"/>
                  </a:lnTo>
                  <a:lnTo>
                    <a:pt x="0" y="0"/>
                  </a:lnTo>
                  <a:close/>
                </a:path>
              </a:pathLst>
            </a:custGeom>
            <a:blipFill>
              <a:blip r:embed="rId6"/>
              <a:stretch>
                <a:fillRect l="0" t="0" r="0" b="0"/>
              </a:stretch>
            </a:blipFill>
          </p:spPr>
        </p:sp>
        <p:sp>
          <p:nvSpPr>
            <p:cNvPr name="Freeform 8" id="8"/>
            <p:cNvSpPr/>
            <p:nvPr/>
          </p:nvSpPr>
          <p:spPr>
            <a:xfrm flipH="false" flipV="false" rot="0">
              <a:off x="2846930" y="4249563"/>
              <a:ext cx="1145942" cy="1894119"/>
            </a:xfrm>
            <a:custGeom>
              <a:avLst/>
              <a:gdLst/>
              <a:ahLst/>
              <a:cxnLst/>
              <a:rect r="r" b="b" t="t" l="l"/>
              <a:pathLst>
                <a:path h="1894119" w="1145942">
                  <a:moveTo>
                    <a:pt x="0" y="0"/>
                  </a:moveTo>
                  <a:lnTo>
                    <a:pt x="1145942" y="0"/>
                  </a:lnTo>
                  <a:lnTo>
                    <a:pt x="1145942" y="1894119"/>
                  </a:lnTo>
                  <a:lnTo>
                    <a:pt x="0" y="1894119"/>
                  </a:lnTo>
                  <a:lnTo>
                    <a:pt x="0" y="0"/>
                  </a:lnTo>
                  <a:close/>
                </a:path>
              </a:pathLst>
            </a:custGeom>
            <a:blipFill>
              <a:blip r:embed="rId7"/>
              <a:stretch>
                <a:fillRect l="0" t="0" r="0" b="0"/>
              </a:stretch>
            </a:blipFill>
          </p:spPr>
        </p:sp>
      </p:grpSp>
      <p:grpSp>
        <p:nvGrpSpPr>
          <p:cNvPr name="Group 9" id="9"/>
          <p:cNvGrpSpPr/>
          <p:nvPr/>
        </p:nvGrpSpPr>
        <p:grpSpPr>
          <a:xfrm rot="0">
            <a:off x="3680649" y="8355478"/>
            <a:ext cx="217732" cy="217732"/>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BE2"/>
            </a:solidFill>
          </p:spPr>
        </p:sp>
        <p:sp>
          <p:nvSpPr>
            <p:cNvPr name="TextBox 11" id="11"/>
            <p:cNvSpPr txBox="true"/>
            <p:nvPr/>
          </p:nvSpPr>
          <p:spPr>
            <a:xfrm>
              <a:off x="76200" y="-47625"/>
              <a:ext cx="660400" cy="784225"/>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3562209" y="8388346"/>
            <a:ext cx="118440" cy="118440"/>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BE2"/>
            </a:solidFill>
          </p:spPr>
        </p:sp>
        <p:sp>
          <p:nvSpPr>
            <p:cNvPr name="TextBox 14" id="14"/>
            <p:cNvSpPr txBox="true"/>
            <p:nvPr/>
          </p:nvSpPr>
          <p:spPr>
            <a:xfrm>
              <a:off x="76200" y="-47625"/>
              <a:ext cx="660400" cy="784225"/>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2676744" y="8076290"/>
            <a:ext cx="193765" cy="193765"/>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BE2"/>
            </a:solidFill>
          </p:spPr>
        </p:sp>
        <p:sp>
          <p:nvSpPr>
            <p:cNvPr name="TextBox 17" id="17"/>
            <p:cNvSpPr txBox="true"/>
            <p:nvPr/>
          </p:nvSpPr>
          <p:spPr>
            <a:xfrm>
              <a:off x="76200" y="-47625"/>
              <a:ext cx="660400" cy="784225"/>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2870509" y="8076290"/>
            <a:ext cx="193765" cy="193765"/>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BE2"/>
            </a:solidFill>
          </p:spPr>
        </p:sp>
        <p:sp>
          <p:nvSpPr>
            <p:cNvPr name="TextBox 20" id="20"/>
            <p:cNvSpPr txBox="true"/>
            <p:nvPr/>
          </p:nvSpPr>
          <p:spPr>
            <a:xfrm>
              <a:off x="76200" y="-47625"/>
              <a:ext cx="660400" cy="784225"/>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1028700" y="8194581"/>
            <a:ext cx="193765" cy="193765"/>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BE2"/>
            </a:solidFill>
          </p:spPr>
        </p:sp>
        <p:sp>
          <p:nvSpPr>
            <p:cNvPr name="TextBox 23" id="23"/>
            <p:cNvSpPr txBox="true"/>
            <p:nvPr/>
          </p:nvSpPr>
          <p:spPr>
            <a:xfrm>
              <a:off x="76200" y="-47625"/>
              <a:ext cx="660400" cy="784225"/>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1125583" y="8194581"/>
            <a:ext cx="193765" cy="193765"/>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BE2"/>
            </a:solidFill>
          </p:spPr>
        </p:sp>
        <p:sp>
          <p:nvSpPr>
            <p:cNvPr name="TextBox 26" id="26"/>
            <p:cNvSpPr txBox="true"/>
            <p:nvPr/>
          </p:nvSpPr>
          <p:spPr>
            <a:xfrm>
              <a:off x="76200" y="-47625"/>
              <a:ext cx="660400" cy="784225"/>
            </a:xfrm>
            <a:prstGeom prst="rect">
              <a:avLst/>
            </a:prstGeom>
          </p:spPr>
          <p:txBody>
            <a:bodyPr anchor="ctr" rtlCol="false" tIns="50800" lIns="50800" bIns="50800" rIns="50800"/>
            <a:lstStyle/>
            <a:p>
              <a:pPr algn="ctr">
                <a:lnSpc>
                  <a:spcPts val="2659"/>
                </a:lnSpc>
              </a:pPr>
            </a:p>
          </p:txBody>
        </p:sp>
      </p:grpSp>
      <p:sp>
        <p:nvSpPr>
          <p:cNvPr name="Freeform 27" id="27"/>
          <p:cNvSpPr/>
          <p:nvPr/>
        </p:nvSpPr>
        <p:spPr>
          <a:xfrm flipH="true" flipV="false" rot="0">
            <a:off x="14273511" y="1207066"/>
            <a:ext cx="2232278" cy="1407510"/>
          </a:xfrm>
          <a:custGeom>
            <a:avLst/>
            <a:gdLst/>
            <a:ahLst/>
            <a:cxnLst/>
            <a:rect r="r" b="b" t="t" l="l"/>
            <a:pathLst>
              <a:path h="1407510" w="2232278">
                <a:moveTo>
                  <a:pt x="2232277" y="0"/>
                </a:moveTo>
                <a:lnTo>
                  <a:pt x="0" y="0"/>
                </a:lnTo>
                <a:lnTo>
                  <a:pt x="0" y="1407509"/>
                </a:lnTo>
                <a:lnTo>
                  <a:pt x="2232277" y="1407509"/>
                </a:lnTo>
                <a:lnTo>
                  <a:pt x="2232277" y="0"/>
                </a:lnTo>
                <a:close/>
              </a:path>
            </a:pathLst>
          </a:custGeom>
          <a:blipFill>
            <a:blip r:embed="rId8"/>
            <a:stretch>
              <a:fillRect l="0" t="0" r="0" b="0"/>
            </a:stretch>
          </a:blipFill>
        </p:spPr>
      </p:sp>
      <p:sp>
        <p:nvSpPr>
          <p:cNvPr name="TextBox 28" id="28"/>
          <p:cNvSpPr txBox="true"/>
          <p:nvPr/>
        </p:nvSpPr>
        <p:spPr>
          <a:xfrm rot="0">
            <a:off x="4904740" y="1219200"/>
            <a:ext cx="9368770" cy="917067"/>
          </a:xfrm>
          <a:prstGeom prst="rect">
            <a:avLst/>
          </a:prstGeom>
        </p:spPr>
        <p:txBody>
          <a:bodyPr anchor="t" rtlCol="false" tIns="0" lIns="0" bIns="0" rIns="0">
            <a:spAutoFit/>
          </a:bodyPr>
          <a:lstStyle/>
          <a:p>
            <a:pPr algn="ctr">
              <a:lnSpc>
                <a:spcPts val="6788"/>
              </a:lnSpc>
            </a:pPr>
            <a:r>
              <a:rPr lang="en-US" sz="7299">
                <a:solidFill>
                  <a:srgbClr val="556BA0"/>
                </a:solidFill>
                <a:latin typeface="TDTD가시고딕"/>
                <a:ea typeface="TDTD가시고딕"/>
                <a:cs typeface="TDTD가시고딕"/>
                <a:sym typeface="TDTD가시고딕"/>
              </a:rPr>
              <a:t>Data Chosen</a:t>
            </a:r>
          </a:p>
        </p:txBody>
      </p:sp>
      <p:sp>
        <p:nvSpPr>
          <p:cNvPr name="TextBox 29" id="29"/>
          <p:cNvSpPr txBox="true"/>
          <p:nvPr/>
        </p:nvSpPr>
        <p:spPr>
          <a:xfrm rot="0">
            <a:off x="5355706" y="2131046"/>
            <a:ext cx="11150082" cy="8733155"/>
          </a:xfrm>
          <a:prstGeom prst="rect">
            <a:avLst/>
          </a:prstGeom>
        </p:spPr>
        <p:txBody>
          <a:bodyPr anchor="t" rtlCol="false" tIns="0" lIns="0" bIns="0" rIns="0">
            <a:spAutoFit/>
          </a:bodyPr>
          <a:lstStyle/>
          <a:p>
            <a:pPr algn="l">
              <a:lnSpc>
                <a:spcPts val="4000"/>
              </a:lnSpc>
            </a:pPr>
            <a:r>
              <a:rPr lang="en-US" sz="3200" u="sng">
                <a:solidFill>
                  <a:srgbClr val="556BA0"/>
                </a:solidFill>
                <a:latin typeface="イワタ福まるご"/>
                <a:ea typeface="イワタ福まるご"/>
                <a:cs typeface="イワタ福まるご"/>
                <a:sym typeface="イワタ福まるご"/>
              </a:rPr>
              <a:t>Dataset</a:t>
            </a:r>
            <a:r>
              <a:rPr lang="en-US" sz="3200">
                <a:solidFill>
                  <a:srgbClr val="556BA0"/>
                </a:solidFill>
                <a:latin typeface="イワタ福まるご"/>
                <a:ea typeface="イワタ福まるご"/>
                <a:cs typeface="イワタ福まるご"/>
                <a:sym typeface="イワタ福まるご"/>
              </a:rPr>
              <a:t>: </a:t>
            </a:r>
            <a:r>
              <a:rPr lang="en-US" sz="3200">
                <a:solidFill>
                  <a:srgbClr val="556BA0"/>
                </a:solidFill>
                <a:latin typeface="イワタ福まるご"/>
                <a:ea typeface="イワタ福まるご"/>
                <a:cs typeface="イワタ福まるご"/>
                <a:sym typeface="イワタ福まるご"/>
              </a:rPr>
              <a:t>Wave 7 of the World Values Survey</a:t>
            </a:r>
          </a:p>
          <a:p>
            <a:pPr algn="l">
              <a:lnSpc>
                <a:spcPts val="4000"/>
              </a:lnSpc>
            </a:pPr>
            <a:r>
              <a:rPr lang="en-US" sz="3200" u="sng">
                <a:solidFill>
                  <a:srgbClr val="556BA0"/>
                </a:solidFill>
                <a:latin typeface="イワタ福まるご"/>
                <a:ea typeface="イワタ福まるご"/>
                <a:cs typeface="イワタ福まるご"/>
                <a:sym typeface="イワタ福まるご"/>
              </a:rPr>
              <a:t>Sample</a:t>
            </a:r>
            <a:r>
              <a:rPr lang="en-US" sz="3200">
                <a:solidFill>
                  <a:srgbClr val="556BA0"/>
                </a:solidFill>
                <a:latin typeface="イワタ福まるご"/>
                <a:ea typeface="イワタ福まるご"/>
                <a:cs typeface="イワタ福まるご"/>
                <a:sym typeface="イワタ福まるご"/>
              </a:rPr>
              <a:t>: The Singapore 2020 and Malaysia 2018 data, raw data contain 2012 Singapore respondents and 1313 Malaysian respondents</a:t>
            </a:r>
          </a:p>
          <a:p>
            <a:pPr algn="l">
              <a:lnSpc>
                <a:spcPts val="4000"/>
              </a:lnSpc>
            </a:pPr>
            <a:r>
              <a:rPr lang="en-US" sz="3200" u="sng">
                <a:solidFill>
                  <a:srgbClr val="556BA0"/>
                </a:solidFill>
                <a:latin typeface="イワタ福まるご"/>
                <a:ea typeface="イワタ福まるご"/>
                <a:cs typeface="イワタ福まるご"/>
                <a:sym typeface="イワタ福まるご"/>
              </a:rPr>
              <a:t>Variables</a:t>
            </a:r>
            <a:r>
              <a:rPr lang="en-US" sz="3200">
                <a:solidFill>
                  <a:srgbClr val="556BA0"/>
                </a:solidFill>
                <a:latin typeface="イワタ福まるご"/>
                <a:ea typeface="イワタ福まるご"/>
                <a:cs typeface="イワタ福まるご"/>
                <a:sym typeface="イワタ福まるご"/>
              </a:rPr>
              <a:t>:</a:t>
            </a:r>
          </a:p>
          <a:p>
            <a:pPr algn="l" marL="690881" indent="-345440" lvl="1">
              <a:lnSpc>
                <a:spcPts val="4000"/>
              </a:lnSpc>
              <a:buAutoNum type="arabicPeriod" startAt="1"/>
            </a:pPr>
            <a:r>
              <a:rPr lang="en-US" sz="3200">
                <a:solidFill>
                  <a:srgbClr val="556BA0"/>
                </a:solidFill>
                <a:latin typeface="イワタ福まるご"/>
                <a:ea typeface="イワタ福まるご"/>
                <a:cs typeface="イワタ福まるご"/>
                <a:sym typeface="イワタ福まるご"/>
              </a:rPr>
              <a:t>Subjective security</a:t>
            </a:r>
          </a:p>
          <a:p>
            <a:pPr algn="l" marL="690881" indent="-345440" lvl="1">
              <a:lnSpc>
                <a:spcPts val="4000"/>
              </a:lnSpc>
              <a:buAutoNum type="arabicPeriod" startAt="1"/>
            </a:pPr>
            <a:r>
              <a:rPr lang="en-US" sz="3200">
                <a:solidFill>
                  <a:srgbClr val="556BA0"/>
                </a:solidFill>
                <a:latin typeface="イワタ福まるご"/>
                <a:ea typeface="イワタ福まるご"/>
                <a:cs typeface="イワタ福まるご"/>
                <a:sym typeface="イワタ福まるご"/>
              </a:rPr>
              <a:t>Sexual harrassment</a:t>
            </a:r>
          </a:p>
          <a:p>
            <a:pPr algn="l" marL="690881" indent="-345440" lvl="1">
              <a:lnSpc>
                <a:spcPts val="4000"/>
              </a:lnSpc>
              <a:buAutoNum type="arabicPeriod" startAt="1"/>
            </a:pPr>
            <a:r>
              <a:rPr lang="en-US" sz="3200">
                <a:solidFill>
                  <a:srgbClr val="556BA0"/>
                </a:solidFill>
                <a:latin typeface="イワタ福まるご"/>
                <a:ea typeface="イワタ福まるご"/>
                <a:cs typeface="イワタ福まるご"/>
                <a:sym typeface="イワタ福まるご"/>
              </a:rPr>
              <a:t>Gender</a:t>
            </a:r>
          </a:p>
          <a:p>
            <a:pPr algn="l" marL="690881" indent="-345440" lvl="1">
              <a:lnSpc>
                <a:spcPts val="4000"/>
              </a:lnSpc>
              <a:buAutoNum type="arabicPeriod" startAt="1"/>
            </a:pPr>
            <a:r>
              <a:rPr lang="en-US" sz="3200">
                <a:solidFill>
                  <a:srgbClr val="556BA0"/>
                </a:solidFill>
                <a:latin typeface="イワタ福まるご"/>
                <a:ea typeface="イワタ福まるご"/>
                <a:cs typeface="イワタ福まるご"/>
                <a:sym typeface="イワタ福まるご"/>
              </a:rPr>
              <a:t>Age</a:t>
            </a:r>
          </a:p>
          <a:p>
            <a:pPr algn="l" marL="690881" indent="-345440" lvl="1">
              <a:lnSpc>
                <a:spcPts val="4000"/>
              </a:lnSpc>
              <a:buAutoNum type="arabicPeriod" startAt="1"/>
            </a:pPr>
            <a:r>
              <a:rPr lang="en-US" sz="3200">
                <a:solidFill>
                  <a:srgbClr val="556BA0"/>
                </a:solidFill>
                <a:latin typeface="イワタ福まるご"/>
                <a:ea typeface="イワタ福まるご"/>
                <a:cs typeface="イワタ福まるご"/>
                <a:sym typeface="イワタ福まるご"/>
              </a:rPr>
              <a:t>Education</a:t>
            </a:r>
          </a:p>
          <a:p>
            <a:pPr algn="l" marL="690881" indent="-345440" lvl="1">
              <a:lnSpc>
                <a:spcPts val="4000"/>
              </a:lnSpc>
              <a:buAutoNum type="arabicPeriod" startAt="1"/>
            </a:pPr>
            <a:r>
              <a:rPr lang="en-US" sz="3200">
                <a:solidFill>
                  <a:srgbClr val="556BA0"/>
                </a:solidFill>
                <a:latin typeface="イワタ福まるご"/>
                <a:ea typeface="イワタ福まるご"/>
                <a:cs typeface="イワタ福まるご"/>
                <a:sym typeface="イワタ福まるご"/>
              </a:rPr>
              <a:t>Household income </a:t>
            </a:r>
          </a:p>
          <a:p>
            <a:pPr algn="l" marL="690881" indent="-345440" lvl="1">
              <a:lnSpc>
                <a:spcPts val="4000"/>
              </a:lnSpc>
              <a:buAutoNum type="arabicPeriod" startAt="1"/>
            </a:pPr>
            <a:r>
              <a:rPr lang="en-US" sz="3200">
                <a:solidFill>
                  <a:srgbClr val="556BA0"/>
                </a:solidFill>
                <a:latin typeface="イワタ福まるご"/>
                <a:ea typeface="イワタ福まるご"/>
                <a:cs typeface="イワタ福まるご"/>
                <a:sym typeface="イワタ福まるご"/>
              </a:rPr>
              <a:t>Employment status</a:t>
            </a:r>
          </a:p>
          <a:p>
            <a:pPr algn="l" marL="690881" indent="-345440" lvl="1">
              <a:lnSpc>
                <a:spcPts val="4000"/>
              </a:lnSpc>
              <a:buAutoNum type="arabicPeriod" startAt="1"/>
            </a:pPr>
            <a:r>
              <a:rPr lang="en-US" sz="3200">
                <a:solidFill>
                  <a:srgbClr val="556BA0"/>
                </a:solidFill>
                <a:latin typeface="イワタ福まるご"/>
                <a:ea typeface="イワタ福まるご"/>
                <a:cs typeface="イワタ福まるご"/>
                <a:sym typeface="イワタ福まるご"/>
              </a:rPr>
              <a:t>Marital status</a:t>
            </a:r>
          </a:p>
          <a:p>
            <a:pPr algn="l" marL="690881" indent="-345440" lvl="1">
              <a:lnSpc>
                <a:spcPts val="4000"/>
              </a:lnSpc>
              <a:buAutoNum type="arabicPeriod" startAt="1"/>
            </a:pPr>
            <a:r>
              <a:rPr lang="en-US" sz="3200">
                <a:solidFill>
                  <a:srgbClr val="556BA0"/>
                </a:solidFill>
                <a:latin typeface="イワタ福まるご"/>
                <a:ea typeface="イワタ福まるご"/>
                <a:cs typeface="イワタ福まるご"/>
                <a:sym typeface="イワタ福まるご"/>
              </a:rPr>
              <a:t>Victim self </a:t>
            </a:r>
          </a:p>
          <a:p>
            <a:pPr algn="l" marL="690881" indent="-345440" lvl="1">
              <a:lnSpc>
                <a:spcPts val="4000"/>
              </a:lnSpc>
              <a:buAutoNum type="arabicPeriod" startAt="1"/>
            </a:pPr>
            <a:r>
              <a:rPr lang="en-US" sz="3200">
                <a:solidFill>
                  <a:srgbClr val="556BA0"/>
                </a:solidFill>
                <a:latin typeface="イワタ福まるご"/>
                <a:ea typeface="イワタ福まるご"/>
                <a:cs typeface="イワタ福まるご"/>
                <a:sym typeface="イワタ福まるご"/>
              </a:rPr>
              <a:t>Victim family</a:t>
            </a:r>
          </a:p>
          <a:p>
            <a:pPr algn="l">
              <a:lnSpc>
                <a:spcPts val="4000"/>
              </a:lnSpc>
            </a:pPr>
          </a:p>
          <a:p>
            <a:pPr algn="l">
              <a:lnSpc>
                <a:spcPts val="4000"/>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EEE5"/>
        </a:solidFill>
      </p:bgPr>
    </p:bg>
    <p:spTree>
      <p:nvGrpSpPr>
        <p:cNvPr id="1" name=""/>
        <p:cNvGrpSpPr/>
        <p:nvPr/>
      </p:nvGrpSpPr>
      <p:grpSpPr>
        <a:xfrm>
          <a:off x="0" y="0"/>
          <a:ext cx="0" cy="0"/>
          <a:chOff x="0" y="0"/>
          <a:chExt cx="0" cy="0"/>
        </a:xfrm>
      </p:grpSpPr>
      <p:sp>
        <p:nvSpPr>
          <p:cNvPr name="Freeform 2" id="2"/>
          <p:cNvSpPr/>
          <p:nvPr/>
        </p:nvSpPr>
        <p:spPr>
          <a:xfrm flipH="false" flipV="false" rot="0">
            <a:off x="2841235" y="770908"/>
            <a:ext cx="13744635" cy="8229600"/>
          </a:xfrm>
          <a:custGeom>
            <a:avLst/>
            <a:gdLst/>
            <a:ahLst/>
            <a:cxnLst/>
            <a:rect r="r" b="b" t="t" l="l"/>
            <a:pathLst>
              <a:path h="8229600" w="13744635">
                <a:moveTo>
                  <a:pt x="0" y="0"/>
                </a:moveTo>
                <a:lnTo>
                  <a:pt x="13744634" y="0"/>
                </a:lnTo>
                <a:lnTo>
                  <a:pt x="13744634"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0">
            <a:off x="582199" y="3432542"/>
            <a:ext cx="4518071" cy="7157340"/>
          </a:xfrm>
          <a:custGeom>
            <a:avLst/>
            <a:gdLst/>
            <a:ahLst/>
            <a:cxnLst/>
            <a:rect r="r" b="b" t="t" l="l"/>
            <a:pathLst>
              <a:path h="7157340" w="4518071">
                <a:moveTo>
                  <a:pt x="0" y="0"/>
                </a:moveTo>
                <a:lnTo>
                  <a:pt x="4518071" y="0"/>
                </a:lnTo>
                <a:lnTo>
                  <a:pt x="4518071" y="7157341"/>
                </a:lnTo>
                <a:lnTo>
                  <a:pt x="0" y="7157341"/>
                </a:lnTo>
                <a:lnTo>
                  <a:pt x="0" y="0"/>
                </a:lnTo>
                <a:close/>
              </a:path>
            </a:pathLst>
          </a:custGeom>
          <a:blipFill>
            <a:blip r:embed="rId3"/>
            <a:stretch>
              <a:fillRect l="0" t="0" r="0" b="0"/>
            </a:stretch>
          </a:blipFill>
        </p:spPr>
      </p:sp>
      <p:sp>
        <p:nvSpPr>
          <p:cNvPr name="Freeform 4" id="4"/>
          <p:cNvSpPr/>
          <p:nvPr/>
        </p:nvSpPr>
        <p:spPr>
          <a:xfrm flipH="false" flipV="false" rot="-1980233">
            <a:off x="15815509" y="284933"/>
            <a:ext cx="2887583" cy="5409991"/>
          </a:xfrm>
          <a:custGeom>
            <a:avLst/>
            <a:gdLst/>
            <a:ahLst/>
            <a:cxnLst/>
            <a:rect r="r" b="b" t="t" l="l"/>
            <a:pathLst>
              <a:path h="5409991" w="2887583">
                <a:moveTo>
                  <a:pt x="0" y="0"/>
                </a:moveTo>
                <a:lnTo>
                  <a:pt x="2887582" y="0"/>
                </a:lnTo>
                <a:lnTo>
                  <a:pt x="2887582" y="5409990"/>
                </a:lnTo>
                <a:lnTo>
                  <a:pt x="0" y="5409990"/>
                </a:lnTo>
                <a:lnTo>
                  <a:pt x="0" y="0"/>
                </a:lnTo>
                <a:close/>
              </a:path>
            </a:pathLst>
          </a:custGeom>
          <a:blipFill>
            <a:blip r:embed="rId4"/>
            <a:stretch>
              <a:fillRect l="0" t="0" r="0" b="0"/>
            </a:stretch>
          </a:blipFill>
        </p:spPr>
      </p:sp>
      <p:grpSp>
        <p:nvGrpSpPr>
          <p:cNvPr name="Group 5" id="5"/>
          <p:cNvGrpSpPr/>
          <p:nvPr/>
        </p:nvGrpSpPr>
        <p:grpSpPr>
          <a:xfrm rot="0">
            <a:off x="2020078" y="4185746"/>
            <a:ext cx="374891" cy="37489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DFD4"/>
            </a:solidFill>
          </p:spPr>
        </p:sp>
        <p:sp>
          <p:nvSpPr>
            <p:cNvPr name="TextBox 7" id="7"/>
            <p:cNvSpPr txBox="true"/>
            <p:nvPr/>
          </p:nvSpPr>
          <p:spPr>
            <a:xfrm>
              <a:off x="76200" y="-47625"/>
              <a:ext cx="660400" cy="784225"/>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2394970" y="4089095"/>
            <a:ext cx="284098" cy="284098"/>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DFD4"/>
            </a:solidFill>
          </p:spPr>
        </p:sp>
        <p:sp>
          <p:nvSpPr>
            <p:cNvPr name="TextBox 10" id="10"/>
            <p:cNvSpPr txBox="true"/>
            <p:nvPr/>
          </p:nvSpPr>
          <p:spPr>
            <a:xfrm>
              <a:off x="76200" y="-47625"/>
              <a:ext cx="660400" cy="784225"/>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5784207" y="5959225"/>
            <a:ext cx="10545108" cy="2339419"/>
          </a:xfrm>
          <a:custGeom>
            <a:avLst/>
            <a:gdLst/>
            <a:ahLst/>
            <a:cxnLst/>
            <a:rect r="r" b="b" t="t" l="l"/>
            <a:pathLst>
              <a:path h="2339419" w="10545108">
                <a:moveTo>
                  <a:pt x="0" y="0"/>
                </a:moveTo>
                <a:lnTo>
                  <a:pt x="10545107" y="0"/>
                </a:lnTo>
                <a:lnTo>
                  <a:pt x="10545107" y="2339419"/>
                </a:lnTo>
                <a:lnTo>
                  <a:pt x="0" y="2339419"/>
                </a:lnTo>
                <a:lnTo>
                  <a:pt x="0" y="0"/>
                </a:lnTo>
                <a:close/>
              </a:path>
            </a:pathLst>
          </a:custGeom>
          <a:blipFill>
            <a:blip r:embed="rId5"/>
            <a:stretch>
              <a:fillRect l="0" t="0" r="0" b="0"/>
            </a:stretch>
          </a:blipFill>
        </p:spPr>
      </p:sp>
      <p:sp>
        <p:nvSpPr>
          <p:cNvPr name="TextBox 12" id="12"/>
          <p:cNvSpPr txBox="true"/>
          <p:nvPr/>
        </p:nvSpPr>
        <p:spPr>
          <a:xfrm rot="0">
            <a:off x="5465023" y="1940178"/>
            <a:ext cx="13151840" cy="1774322"/>
          </a:xfrm>
          <a:prstGeom prst="rect">
            <a:avLst/>
          </a:prstGeom>
        </p:spPr>
        <p:txBody>
          <a:bodyPr anchor="t" rtlCol="false" tIns="0" lIns="0" bIns="0" rIns="0">
            <a:spAutoFit/>
          </a:bodyPr>
          <a:lstStyle/>
          <a:p>
            <a:pPr algn="l">
              <a:lnSpc>
                <a:spcPts val="6789"/>
              </a:lnSpc>
            </a:pPr>
            <a:r>
              <a:rPr lang="en-US" sz="7300">
                <a:solidFill>
                  <a:srgbClr val="556BA0"/>
                </a:solidFill>
                <a:latin typeface="TDTD가시고딕"/>
                <a:ea typeface="TDTD가시고딕"/>
                <a:cs typeface="TDTD가시고딕"/>
                <a:sym typeface="TDTD가시고딕"/>
              </a:rPr>
              <a:t>Dependent Variable:</a:t>
            </a:r>
          </a:p>
          <a:p>
            <a:pPr algn="l">
              <a:lnSpc>
                <a:spcPts val="6789"/>
              </a:lnSpc>
            </a:pPr>
            <a:r>
              <a:rPr lang="en-US" sz="7300">
                <a:solidFill>
                  <a:srgbClr val="556BA0"/>
                </a:solidFill>
                <a:latin typeface="TDTD가시고딕"/>
                <a:ea typeface="TDTD가시고딕"/>
                <a:cs typeface="TDTD가시고딕"/>
                <a:sym typeface="TDTD가시고딕"/>
              </a:rPr>
              <a:t>Subjective security</a:t>
            </a:r>
          </a:p>
        </p:txBody>
      </p:sp>
      <p:sp>
        <p:nvSpPr>
          <p:cNvPr name="TextBox 13" id="13"/>
          <p:cNvSpPr txBox="true"/>
          <p:nvPr/>
        </p:nvSpPr>
        <p:spPr>
          <a:xfrm rot="0">
            <a:off x="5334345" y="3838325"/>
            <a:ext cx="9240743" cy="1816100"/>
          </a:xfrm>
          <a:prstGeom prst="rect">
            <a:avLst/>
          </a:prstGeom>
        </p:spPr>
        <p:txBody>
          <a:bodyPr anchor="t" rtlCol="false" tIns="0" lIns="0" bIns="0" rIns="0">
            <a:spAutoFit/>
          </a:bodyPr>
          <a:lstStyle/>
          <a:p>
            <a:pPr algn="l" marL="755651" indent="-377825" lvl="1">
              <a:lnSpc>
                <a:spcPts val="4375"/>
              </a:lnSpc>
              <a:buFont typeface="Arial"/>
              <a:buChar char="•"/>
            </a:pPr>
            <a:r>
              <a:rPr lang="en-US" sz="3500">
                <a:solidFill>
                  <a:srgbClr val="556BA0"/>
                </a:solidFill>
                <a:latin typeface="イワタ福まるご"/>
                <a:ea typeface="イワタ福まるご"/>
                <a:cs typeface="イワタ福まるご"/>
                <a:sym typeface="イワタ福まるご"/>
              </a:rPr>
              <a:t>Measured using Q131 (“How secure do you feel these days?”)</a:t>
            </a:r>
          </a:p>
          <a:p>
            <a:pPr algn="l" marL="755651" indent="-377825" lvl="1">
              <a:lnSpc>
                <a:spcPts val="4375"/>
              </a:lnSpc>
              <a:buFont typeface="Arial"/>
              <a:buChar char="•"/>
            </a:pPr>
            <a:r>
              <a:rPr lang="en-US" sz="3500">
                <a:solidFill>
                  <a:srgbClr val="556BA0"/>
                </a:solidFill>
                <a:latin typeface="イワタ福まるご"/>
                <a:ea typeface="イワタ福まるご"/>
                <a:cs typeface="イワタ福まるご"/>
                <a:sym typeface="イワタ福まるご"/>
              </a:rPr>
              <a:t>Ordinal Variable</a:t>
            </a:r>
          </a:p>
        </p:txBody>
      </p:sp>
      <p:sp>
        <p:nvSpPr>
          <p:cNvPr name="TextBox 14" id="14"/>
          <p:cNvSpPr txBox="true"/>
          <p:nvPr/>
        </p:nvSpPr>
        <p:spPr>
          <a:xfrm rot="0">
            <a:off x="5784207" y="8259803"/>
            <a:ext cx="9240743" cy="1816019"/>
          </a:xfrm>
          <a:prstGeom prst="rect">
            <a:avLst/>
          </a:prstGeom>
        </p:spPr>
        <p:txBody>
          <a:bodyPr anchor="t" rtlCol="false" tIns="0" lIns="0" bIns="0" rIns="0">
            <a:spAutoFit/>
          </a:bodyPr>
          <a:lstStyle/>
          <a:p>
            <a:pPr algn="l" marL="755651" indent="-377825" lvl="1">
              <a:lnSpc>
                <a:spcPts val="4375"/>
              </a:lnSpc>
              <a:buFont typeface="Arial"/>
              <a:buChar char="•"/>
            </a:pPr>
            <a:r>
              <a:rPr lang="en-US" sz="3500">
                <a:solidFill>
                  <a:srgbClr val="556BA0"/>
                </a:solidFill>
                <a:latin typeface="イワタ福まるご"/>
                <a:ea typeface="イワタ福まるご"/>
                <a:cs typeface="イワタ福まるご"/>
                <a:sym typeface="イワタ福まるご"/>
              </a:rPr>
              <a:t>Note: Reverse-coded as security_r</a:t>
            </a:r>
          </a:p>
          <a:p>
            <a:pPr algn="l" marL="755651" indent="-377825" lvl="1">
              <a:lnSpc>
                <a:spcPts val="4375"/>
              </a:lnSpc>
              <a:buFont typeface="Arial"/>
              <a:buChar char="•"/>
            </a:pPr>
            <a:r>
              <a:rPr lang="en-US" sz="3500">
                <a:solidFill>
                  <a:srgbClr val="556BA0"/>
                </a:solidFill>
                <a:latin typeface="イワタ福まるご"/>
                <a:ea typeface="イワタ福まるご"/>
                <a:cs typeface="イワタ福まるご"/>
                <a:sym typeface="イワタ福まるご"/>
              </a:rPr>
              <a:t>Higher scores = greater subjective security</a:t>
            </a:r>
          </a:p>
          <a:p>
            <a:pPr algn="l">
              <a:lnSpc>
                <a:spcPts val="4375"/>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EEE5"/>
        </a:solidFill>
      </p:bgPr>
    </p:bg>
    <p:spTree>
      <p:nvGrpSpPr>
        <p:cNvPr id="1" name=""/>
        <p:cNvGrpSpPr/>
        <p:nvPr/>
      </p:nvGrpSpPr>
      <p:grpSpPr>
        <a:xfrm>
          <a:off x="0" y="0"/>
          <a:ext cx="0" cy="0"/>
          <a:chOff x="0" y="0"/>
          <a:chExt cx="0" cy="0"/>
        </a:xfrm>
      </p:grpSpPr>
      <p:sp>
        <p:nvSpPr>
          <p:cNvPr name="Freeform 2" id="2"/>
          <p:cNvSpPr/>
          <p:nvPr/>
        </p:nvSpPr>
        <p:spPr>
          <a:xfrm flipH="false" flipV="false" rot="0">
            <a:off x="2841235" y="770908"/>
            <a:ext cx="13744635" cy="8229600"/>
          </a:xfrm>
          <a:custGeom>
            <a:avLst/>
            <a:gdLst/>
            <a:ahLst/>
            <a:cxnLst/>
            <a:rect r="r" b="b" t="t" l="l"/>
            <a:pathLst>
              <a:path h="8229600" w="13744635">
                <a:moveTo>
                  <a:pt x="0" y="0"/>
                </a:moveTo>
                <a:lnTo>
                  <a:pt x="13744634" y="0"/>
                </a:lnTo>
                <a:lnTo>
                  <a:pt x="13744634"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0">
            <a:off x="582199" y="3432542"/>
            <a:ext cx="4518071" cy="7157340"/>
          </a:xfrm>
          <a:custGeom>
            <a:avLst/>
            <a:gdLst/>
            <a:ahLst/>
            <a:cxnLst/>
            <a:rect r="r" b="b" t="t" l="l"/>
            <a:pathLst>
              <a:path h="7157340" w="4518071">
                <a:moveTo>
                  <a:pt x="0" y="0"/>
                </a:moveTo>
                <a:lnTo>
                  <a:pt x="4518071" y="0"/>
                </a:lnTo>
                <a:lnTo>
                  <a:pt x="4518071" y="7157341"/>
                </a:lnTo>
                <a:lnTo>
                  <a:pt x="0" y="7157341"/>
                </a:lnTo>
                <a:lnTo>
                  <a:pt x="0" y="0"/>
                </a:lnTo>
                <a:close/>
              </a:path>
            </a:pathLst>
          </a:custGeom>
          <a:blipFill>
            <a:blip r:embed="rId3"/>
            <a:stretch>
              <a:fillRect l="0" t="0" r="0" b="0"/>
            </a:stretch>
          </a:blipFill>
        </p:spPr>
      </p:sp>
      <p:sp>
        <p:nvSpPr>
          <p:cNvPr name="Freeform 4" id="4"/>
          <p:cNvSpPr/>
          <p:nvPr/>
        </p:nvSpPr>
        <p:spPr>
          <a:xfrm flipH="false" flipV="false" rot="-1980233">
            <a:off x="15815509" y="284933"/>
            <a:ext cx="2887583" cy="5409991"/>
          </a:xfrm>
          <a:custGeom>
            <a:avLst/>
            <a:gdLst/>
            <a:ahLst/>
            <a:cxnLst/>
            <a:rect r="r" b="b" t="t" l="l"/>
            <a:pathLst>
              <a:path h="5409991" w="2887583">
                <a:moveTo>
                  <a:pt x="0" y="0"/>
                </a:moveTo>
                <a:lnTo>
                  <a:pt x="2887582" y="0"/>
                </a:lnTo>
                <a:lnTo>
                  <a:pt x="2887582" y="5409990"/>
                </a:lnTo>
                <a:lnTo>
                  <a:pt x="0" y="5409990"/>
                </a:lnTo>
                <a:lnTo>
                  <a:pt x="0" y="0"/>
                </a:lnTo>
                <a:close/>
              </a:path>
            </a:pathLst>
          </a:custGeom>
          <a:blipFill>
            <a:blip r:embed="rId4"/>
            <a:stretch>
              <a:fillRect l="0" t="0" r="0" b="0"/>
            </a:stretch>
          </a:blipFill>
        </p:spPr>
      </p:sp>
      <p:grpSp>
        <p:nvGrpSpPr>
          <p:cNvPr name="Group 5" id="5"/>
          <p:cNvGrpSpPr/>
          <p:nvPr/>
        </p:nvGrpSpPr>
        <p:grpSpPr>
          <a:xfrm rot="0">
            <a:off x="2020078" y="4185746"/>
            <a:ext cx="374891" cy="37489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DFD4"/>
            </a:solidFill>
          </p:spPr>
        </p:sp>
        <p:sp>
          <p:nvSpPr>
            <p:cNvPr name="TextBox 7" id="7"/>
            <p:cNvSpPr txBox="true"/>
            <p:nvPr/>
          </p:nvSpPr>
          <p:spPr>
            <a:xfrm>
              <a:off x="76200" y="-47625"/>
              <a:ext cx="660400" cy="784225"/>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2394970" y="4089095"/>
            <a:ext cx="284098" cy="284098"/>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DFD4"/>
            </a:solidFill>
          </p:spPr>
        </p:sp>
        <p:sp>
          <p:nvSpPr>
            <p:cNvPr name="TextBox 10" id="10"/>
            <p:cNvSpPr txBox="true"/>
            <p:nvPr/>
          </p:nvSpPr>
          <p:spPr>
            <a:xfrm>
              <a:off x="76200" y="-47625"/>
              <a:ext cx="660400" cy="784225"/>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5379621" y="5581280"/>
            <a:ext cx="11206249" cy="2710511"/>
          </a:xfrm>
          <a:custGeom>
            <a:avLst/>
            <a:gdLst/>
            <a:ahLst/>
            <a:cxnLst/>
            <a:rect r="r" b="b" t="t" l="l"/>
            <a:pathLst>
              <a:path h="2710511" w="11206249">
                <a:moveTo>
                  <a:pt x="0" y="0"/>
                </a:moveTo>
                <a:lnTo>
                  <a:pt x="11206248" y="0"/>
                </a:lnTo>
                <a:lnTo>
                  <a:pt x="11206248" y="2710511"/>
                </a:lnTo>
                <a:lnTo>
                  <a:pt x="0" y="2710511"/>
                </a:lnTo>
                <a:lnTo>
                  <a:pt x="0" y="0"/>
                </a:lnTo>
                <a:close/>
              </a:path>
            </a:pathLst>
          </a:custGeom>
          <a:blipFill>
            <a:blip r:embed="rId5"/>
            <a:stretch>
              <a:fillRect l="0" t="0" r="0" b="0"/>
            </a:stretch>
          </a:blipFill>
        </p:spPr>
      </p:sp>
      <p:sp>
        <p:nvSpPr>
          <p:cNvPr name="TextBox 12" id="12"/>
          <p:cNvSpPr txBox="true"/>
          <p:nvPr/>
        </p:nvSpPr>
        <p:spPr>
          <a:xfrm rot="0">
            <a:off x="5100270" y="534270"/>
            <a:ext cx="13151840" cy="2631572"/>
          </a:xfrm>
          <a:prstGeom prst="rect">
            <a:avLst/>
          </a:prstGeom>
        </p:spPr>
        <p:txBody>
          <a:bodyPr anchor="t" rtlCol="false" tIns="0" lIns="0" bIns="0" rIns="0">
            <a:spAutoFit/>
          </a:bodyPr>
          <a:lstStyle/>
          <a:p>
            <a:pPr algn="l">
              <a:lnSpc>
                <a:spcPts val="6789"/>
              </a:lnSpc>
            </a:pPr>
            <a:r>
              <a:rPr lang="en-US" sz="7300">
                <a:solidFill>
                  <a:srgbClr val="556BA0"/>
                </a:solidFill>
                <a:latin typeface="TDTD가시고딕"/>
                <a:ea typeface="TDTD가시고딕"/>
                <a:cs typeface="TDTD가시고딕"/>
                <a:sym typeface="TDTD가시고딕"/>
              </a:rPr>
              <a:t>Independent Variable:</a:t>
            </a:r>
          </a:p>
          <a:p>
            <a:pPr algn="l">
              <a:lnSpc>
                <a:spcPts val="6789"/>
              </a:lnSpc>
            </a:pPr>
            <a:r>
              <a:rPr lang="en-US" sz="7300">
                <a:solidFill>
                  <a:srgbClr val="556BA0"/>
                </a:solidFill>
                <a:latin typeface="TDTD가시고딕"/>
                <a:ea typeface="TDTD가시고딕"/>
                <a:cs typeface="TDTD가시고딕"/>
                <a:sym typeface="TDTD가시고딕"/>
              </a:rPr>
              <a:t>Perceived prevalence of sexual harassment</a:t>
            </a:r>
          </a:p>
        </p:txBody>
      </p:sp>
      <p:sp>
        <p:nvSpPr>
          <p:cNvPr name="TextBox 13" id="13"/>
          <p:cNvSpPr txBox="true"/>
          <p:nvPr/>
        </p:nvSpPr>
        <p:spPr>
          <a:xfrm rot="0">
            <a:off x="5217308" y="3098430"/>
            <a:ext cx="9240743" cy="2368550"/>
          </a:xfrm>
          <a:prstGeom prst="rect">
            <a:avLst/>
          </a:prstGeom>
        </p:spPr>
        <p:txBody>
          <a:bodyPr anchor="t" rtlCol="false" tIns="0" lIns="0" bIns="0" rIns="0">
            <a:spAutoFit/>
          </a:bodyPr>
          <a:lstStyle/>
          <a:p>
            <a:pPr algn="l" marL="755651" indent="-377825" lvl="1">
              <a:lnSpc>
                <a:spcPts val="4375"/>
              </a:lnSpc>
              <a:buFont typeface="Arial"/>
              <a:buChar char="•"/>
            </a:pPr>
            <a:r>
              <a:rPr lang="en-US" sz="3500">
                <a:solidFill>
                  <a:srgbClr val="556BA0"/>
                </a:solidFill>
                <a:latin typeface="イワタ福まるご"/>
                <a:ea typeface="イワタ福まるご"/>
                <a:cs typeface="イワタ福まるご"/>
                <a:sym typeface="イワタ福まるご"/>
              </a:rPr>
              <a:t>Measured using Q138 (“How frequently does sexual harassment occur in your neighborhood?”)</a:t>
            </a:r>
          </a:p>
          <a:p>
            <a:pPr algn="l" marL="755651" indent="-377825" lvl="1">
              <a:lnSpc>
                <a:spcPts val="4375"/>
              </a:lnSpc>
              <a:buFont typeface="Arial"/>
              <a:buChar char="•"/>
            </a:pPr>
            <a:r>
              <a:rPr lang="en-US" sz="3500">
                <a:solidFill>
                  <a:srgbClr val="556BA0"/>
                </a:solidFill>
                <a:latin typeface="イワタ福まるご"/>
                <a:ea typeface="イワタ福まるご"/>
                <a:cs typeface="イワタ福まるご"/>
                <a:sym typeface="イワタ福まるご"/>
              </a:rPr>
              <a:t>Ordinal Variable</a:t>
            </a:r>
          </a:p>
        </p:txBody>
      </p:sp>
      <p:sp>
        <p:nvSpPr>
          <p:cNvPr name="TextBox 14" id="14"/>
          <p:cNvSpPr txBox="true"/>
          <p:nvPr/>
        </p:nvSpPr>
        <p:spPr>
          <a:xfrm rot="0">
            <a:off x="5379621" y="8259803"/>
            <a:ext cx="9240743" cy="1816019"/>
          </a:xfrm>
          <a:prstGeom prst="rect">
            <a:avLst/>
          </a:prstGeom>
        </p:spPr>
        <p:txBody>
          <a:bodyPr anchor="t" rtlCol="false" tIns="0" lIns="0" bIns="0" rIns="0">
            <a:spAutoFit/>
          </a:bodyPr>
          <a:lstStyle/>
          <a:p>
            <a:pPr algn="l" marL="755651" indent="-377825" lvl="1">
              <a:lnSpc>
                <a:spcPts val="4375"/>
              </a:lnSpc>
              <a:buFont typeface="Arial"/>
              <a:buChar char="•"/>
            </a:pPr>
            <a:r>
              <a:rPr lang="en-US" sz="3500">
                <a:solidFill>
                  <a:srgbClr val="556BA0"/>
                </a:solidFill>
                <a:latin typeface="イワタ福まるご"/>
                <a:ea typeface="イワタ福まるご"/>
                <a:cs typeface="イワタ福まるご"/>
                <a:sym typeface="イワタ福まるご"/>
              </a:rPr>
              <a:t>Note: Reverse-coded as harassment_r</a:t>
            </a:r>
          </a:p>
          <a:p>
            <a:pPr algn="l" marL="755651" indent="-377825" lvl="1">
              <a:lnSpc>
                <a:spcPts val="4375"/>
              </a:lnSpc>
              <a:buFont typeface="Arial"/>
              <a:buChar char="•"/>
            </a:pPr>
            <a:r>
              <a:rPr lang="en-US" sz="3500">
                <a:solidFill>
                  <a:srgbClr val="556BA0"/>
                </a:solidFill>
                <a:latin typeface="イワタ福まるご"/>
                <a:ea typeface="イワタ福まるご"/>
                <a:cs typeface="イワタ福まるご"/>
                <a:sym typeface="イワタ福まるご"/>
              </a:rPr>
              <a:t>Higher scores = more frequent perceived sexual harassment.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EEE5"/>
        </a:solidFill>
      </p:bgPr>
    </p:bg>
    <p:spTree>
      <p:nvGrpSpPr>
        <p:cNvPr id="1" name=""/>
        <p:cNvGrpSpPr/>
        <p:nvPr/>
      </p:nvGrpSpPr>
      <p:grpSpPr>
        <a:xfrm>
          <a:off x="0" y="0"/>
          <a:ext cx="0" cy="0"/>
          <a:chOff x="0" y="0"/>
          <a:chExt cx="0" cy="0"/>
        </a:xfrm>
      </p:grpSpPr>
      <p:sp>
        <p:nvSpPr>
          <p:cNvPr name="Freeform 2" id="2"/>
          <p:cNvSpPr/>
          <p:nvPr/>
        </p:nvSpPr>
        <p:spPr>
          <a:xfrm flipH="false" flipV="false" rot="0">
            <a:off x="2841235" y="770908"/>
            <a:ext cx="13744635" cy="8229600"/>
          </a:xfrm>
          <a:custGeom>
            <a:avLst/>
            <a:gdLst/>
            <a:ahLst/>
            <a:cxnLst/>
            <a:rect r="r" b="b" t="t" l="l"/>
            <a:pathLst>
              <a:path h="8229600" w="13744635">
                <a:moveTo>
                  <a:pt x="0" y="0"/>
                </a:moveTo>
                <a:lnTo>
                  <a:pt x="13744634" y="0"/>
                </a:lnTo>
                <a:lnTo>
                  <a:pt x="13744634"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0">
            <a:off x="582199" y="3432542"/>
            <a:ext cx="4518071" cy="7157340"/>
          </a:xfrm>
          <a:custGeom>
            <a:avLst/>
            <a:gdLst/>
            <a:ahLst/>
            <a:cxnLst/>
            <a:rect r="r" b="b" t="t" l="l"/>
            <a:pathLst>
              <a:path h="7157340" w="4518071">
                <a:moveTo>
                  <a:pt x="0" y="0"/>
                </a:moveTo>
                <a:lnTo>
                  <a:pt x="4518071" y="0"/>
                </a:lnTo>
                <a:lnTo>
                  <a:pt x="4518071" y="7157341"/>
                </a:lnTo>
                <a:lnTo>
                  <a:pt x="0" y="7157341"/>
                </a:lnTo>
                <a:lnTo>
                  <a:pt x="0" y="0"/>
                </a:lnTo>
                <a:close/>
              </a:path>
            </a:pathLst>
          </a:custGeom>
          <a:blipFill>
            <a:blip r:embed="rId3"/>
            <a:stretch>
              <a:fillRect l="0" t="0" r="0" b="0"/>
            </a:stretch>
          </a:blipFill>
        </p:spPr>
      </p:sp>
      <p:sp>
        <p:nvSpPr>
          <p:cNvPr name="Freeform 4" id="4"/>
          <p:cNvSpPr/>
          <p:nvPr/>
        </p:nvSpPr>
        <p:spPr>
          <a:xfrm flipH="false" flipV="false" rot="-1980233">
            <a:off x="15815509" y="284933"/>
            <a:ext cx="2887583" cy="5409991"/>
          </a:xfrm>
          <a:custGeom>
            <a:avLst/>
            <a:gdLst/>
            <a:ahLst/>
            <a:cxnLst/>
            <a:rect r="r" b="b" t="t" l="l"/>
            <a:pathLst>
              <a:path h="5409991" w="2887583">
                <a:moveTo>
                  <a:pt x="0" y="0"/>
                </a:moveTo>
                <a:lnTo>
                  <a:pt x="2887582" y="0"/>
                </a:lnTo>
                <a:lnTo>
                  <a:pt x="2887582" y="5409990"/>
                </a:lnTo>
                <a:lnTo>
                  <a:pt x="0" y="5409990"/>
                </a:lnTo>
                <a:lnTo>
                  <a:pt x="0" y="0"/>
                </a:lnTo>
                <a:close/>
              </a:path>
            </a:pathLst>
          </a:custGeom>
          <a:blipFill>
            <a:blip r:embed="rId4"/>
            <a:stretch>
              <a:fillRect l="0" t="0" r="0" b="0"/>
            </a:stretch>
          </a:blipFill>
        </p:spPr>
      </p:sp>
      <p:grpSp>
        <p:nvGrpSpPr>
          <p:cNvPr name="Group 5" id="5"/>
          <p:cNvGrpSpPr/>
          <p:nvPr/>
        </p:nvGrpSpPr>
        <p:grpSpPr>
          <a:xfrm rot="0">
            <a:off x="2020078" y="4185746"/>
            <a:ext cx="374891" cy="37489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DFD4"/>
            </a:solidFill>
          </p:spPr>
        </p:sp>
        <p:sp>
          <p:nvSpPr>
            <p:cNvPr name="TextBox 7" id="7"/>
            <p:cNvSpPr txBox="true"/>
            <p:nvPr/>
          </p:nvSpPr>
          <p:spPr>
            <a:xfrm>
              <a:off x="76200" y="-47625"/>
              <a:ext cx="660400" cy="784225"/>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2394970" y="4089095"/>
            <a:ext cx="284098" cy="284098"/>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DFD4"/>
            </a:solidFill>
          </p:spPr>
        </p:sp>
        <p:sp>
          <p:nvSpPr>
            <p:cNvPr name="TextBox 10" id="10"/>
            <p:cNvSpPr txBox="true"/>
            <p:nvPr/>
          </p:nvSpPr>
          <p:spPr>
            <a:xfrm>
              <a:off x="76200" y="-47625"/>
              <a:ext cx="660400" cy="784225"/>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5465023" y="4700039"/>
            <a:ext cx="12023298" cy="1344816"/>
          </a:xfrm>
          <a:custGeom>
            <a:avLst/>
            <a:gdLst/>
            <a:ahLst/>
            <a:cxnLst/>
            <a:rect r="r" b="b" t="t" l="l"/>
            <a:pathLst>
              <a:path h="1344816" w="12023298">
                <a:moveTo>
                  <a:pt x="0" y="0"/>
                </a:moveTo>
                <a:lnTo>
                  <a:pt x="12023298" y="0"/>
                </a:lnTo>
                <a:lnTo>
                  <a:pt x="12023298" y="1344816"/>
                </a:lnTo>
                <a:lnTo>
                  <a:pt x="0" y="1344816"/>
                </a:lnTo>
                <a:lnTo>
                  <a:pt x="0" y="0"/>
                </a:lnTo>
                <a:close/>
              </a:path>
            </a:pathLst>
          </a:custGeom>
          <a:blipFill>
            <a:blip r:embed="rId5"/>
            <a:stretch>
              <a:fillRect l="0" t="0" r="0" b="0"/>
            </a:stretch>
          </a:blipFill>
        </p:spPr>
      </p:sp>
      <p:sp>
        <p:nvSpPr>
          <p:cNvPr name="TextBox 12" id="12"/>
          <p:cNvSpPr txBox="true"/>
          <p:nvPr/>
        </p:nvSpPr>
        <p:spPr>
          <a:xfrm rot="0">
            <a:off x="5465023" y="1940178"/>
            <a:ext cx="13151840" cy="917072"/>
          </a:xfrm>
          <a:prstGeom prst="rect">
            <a:avLst/>
          </a:prstGeom>
        </p:spPr>
        <p:txBody>
          <a:bodyPr anchor="t" rtlCol="false" tIns="0" lIns="0" bIns="0" rIns="0">
            <a:spAutoFit/>
          </a:bodyPr>
          <a:lstStyle/>
          <a:p>
            <a:pPr algn="l">
              <a:lnSpc>
                <a:spcPts val="6789"/>
              </a:lnSpc>
            </a:pPr>
            <a:r>
              <a:rPr lang="en-US" sz="7300">
                <a:solidFill>
                  <a:srgbClr val="556BA0"/>
                </a:solidFill>
                <a:latin typeface="TDTD가시고딕"/>
                <a:ea typeface="TDTD가시고딕"/>
                <a:cs typeface="TDTD가시고딕"/>
                <a:sym typeface="TDTD가시고딕"/>
              </a:rPr>
              <a:t>Moderator: Gender</a:t>
            </a:r>
          </a:p>
        </p:txBody>
      </p:sp>
      <p:sp>
        <p:nvSpPr>
          <p:cNvPr name="TextBox 13" id="13"/>
          <p:cNvSpPr txBox="true"/>
          <p:nvPr/>
        </p:nvSpPr>
        <p:spPr>
          <a:xfrm rot="0">
            <a:off x="5100270" y="3112743"/>
            <a:ext cx="11676560" cy="1263650"/>
          </a:xfrm>
          <a:prstGeom prst="rect">
            <a:avLst/>
          </a:prstGeom>
        </p:spPr>
        <p:txBody>
          <a:bodyPr anchor="t" rtlCol="false" tIns="0" lIns="0" bIns="0" rIns="0">
            <a:spAutoFit/>
          </a:bodyPr>
          <a:lstStyle/>
          <a:p>
            <a:pPr algn="l" marL="755651" indent="-377825" lvl="1">
              <a:lnSpc>
                <a:spcPts val="4375"/>
              </a:lnSpc>
              <a:buFont typeface="Arial"/>
              <a:buChar char="•"/>
            </a:pPr>
            <a:r>
              <a:rPr lang="en-US" sz="3500">
                <a:solidFill>
                  <a:srgbClr val="556BA0"/>
                </a:solidFill>
                <a:latin typeface="イワタ福まるご"/>
                <a:ea typeface="イワタ福まるご"/>
                <a:cs typeface="イワタ福まるご"/>
                <a:sym typeface="イワタ福まるご"/>
              </a:rPr>
              <a:t>Gender, binary variable, men is the reference group (coded 0)</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EEE5"/>
        </a:solidFill>
      </p:bgPr>
    </p:bg>
    <p:spTree>
      <p:nvGrpSpPr>
        <p:cNvPr id="1" name=""/>
        <p:cNvGrpSpPr/>
        <p:nvPr/>
      </p:nvGrpSpPr>
      <p:grpSpPr>
        <a:xfrm>
          <a:off x="0" y="0"/>
          <a:ext cx="0" cy="0"/>
          <a:chOff x="0" y="0"/>
          <a:chExt cx="0" cy="0"/>
        </a:xfrm>
      </p:grpSpPr>
      <p:sp>
        <p:nvSpPr>
          <p:cNvPr name="Freeform 2" id="2"/>
          <p:cNvSpPr/>
          <p:nvPr/>
        </p:nvSpPr>
        <p:spPr>
          <a:xfrm flipH="false" flipV="false" rot="0">
            <a:off x="2841235" y="770908"/>
            <a:ext cx="13744635" cy="8229600"/>
          </a:xfrm>
          <a:custGeom>
            <a:avLst/>
            <a:gdLst/>
            <a:ahLst/>
            <a:cxnLst/>
            <a:rect r="r" b="b" t="t" l="l"/>
            <a:pathLst>
              <a:path h="8229600" w="13744635">
                <a:moveTo>
                  <a:pt x="0" y="0"/>
                </a:moveTo>
                <a:lnTo>
                  <a:pt x="13744634" y="0"/>
                </a:lnTo>
                <a:lnTo>
                  <a:pt x="13744634"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0">
            <a:off x="582199" y="3432542"/>
            <a:ext cx="4518071" cy="7157340"/>
          </a:xfrm>
          <a:custGeom>
            <a:avLst/>
            <a:gdLst/>
            <a:ahLst/>
            <a:cxnLst/>
            <a:rect r="r" b="b" t="t" l="l"/>
            <a:pathLst>
              <a:path h="7157340" w="4518071">
                <a:moveTo>
                  <a:pt x="0" y="0"/>
                </a:moveTo>
                <a:lnTo>
                  <a:pt x="4518071" y="0"/>
                </a:lnTo>
                <a:lnTo>
                  <a:pt x="4518071" y="7157341"/>
                </a:lnTo>
                <a:lnTo>
                  <a:pt x="0" y="7157341"/>
                </a:lnTo>
                <a:lnTo>
                  <a:pt x="0" y="0"/>
                </a:lnTo>
                <a:close/>
              </a:path>
            </a:pathLst>
          </a:custGeom>
          <a:blipFill>
            <a:blip r:embed="rId3"/>
            <a:stretch>
              <a:fillRect l="0" t="0" r="0" b="0"/>
            </a:stretch>
          </a:blipFill>
        </p:spPr>
      </p:sp>
      <p:sp>
        <p:nvSpPr>
          <p:cNvPr name="Freeform 4" id="4"/>
          <p:cNvSpPr/>
          <p:nvPr/>
        </p:nvSpPr>
        <p:spPr>
          <a:xfrm flipH="false" flipV="false" rot="-1980233">
            <a:off x="15815509" y="284933"/>
            <a:ext cx="2887583" cy="5409991"/>
          </a:xfrm>
          <a:custGeom>
            <a:avLst/>
            <a:gdLst/>
            <a:ahLst/>
            <a:cxnLst/>
            <a:rect r="r" b="b" t="t" l="l"/>
            <a:pathLst>
              <a:path h="5409991" w="2887583">
                <a:moveTo>
                  <a:pt x="0" y="0"/>
                </a:moveTo>
                <a:lnTo>
                  <a:pt x="2887582" y="0"/>
                </a:lnTo>
                <a:lnTo>
                  <a:pt x="2887582" y="5409990"/>
                </a:lnTo>
                <a:lnTo>
                  <a:pt x="0" y="5409990"/>
                </a:lnTo>
                <a:lnTo>
                  <a:pt x="0" y="0"/>
                </a:lnTo>
                <a:close/>
              </a:path>
            </a:pathLst>
          </a:custGeom>
          <a:blipFill>
            <a:blip r:embed="rId4"/>
            <a:stretch>
              <a:fillRect l="0" t="0" r="0" b="0"/>
            </a:stretch>
          </a:blipFill>
        </p:spPr>
      </p:sp>
      <p:grpSp>
        <p:nvGrpSpPr>
          <p:cNvPr name="Group 5" id="5"/>
          <p:cNvGrpSpPr/>
          <p:nvPr/>
        </p:nvGrpSpPr>
        <p:grpSpPr>
          <a:xfrm rot="0">
            <a:off x="2020078" y="4185746"/>
            <a:ext cx="374891" cy="37489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DFD4"/>
            </a:solidFill>
          </p:spPr>
        </p:sp>
        <p:sp>
          <p:nvSpPr>
            <p:cNvPr name="TextBox 7" id="7"/>
            <p:cNvSpPr txBox="true"/>
            <p:nvPr/>
          </p:nvSpPr>
          <p:spPr>
            <a:xfrm>
              <a:off x="76200" y="-47625"/>
              <a:ext cx="660400" cy="784225"/>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2394970" y="4089095"/>
            <a:ext cx="284098" cy="284098"/>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DFD4"/>
            </a:solidFill>
          </p:spPr>
        </p:sp>
        <p:sp>
          <p:nvSpPr>
            <p:cNvPr name="TextBox 10" id="10"/>
            <p:cNvSpPr txBox="true"/>
            <p:nvPr/>
          </p:nvSpPr>
          <p:spPr>
            <a:xfrm>
              <a:off x="76200" y="-47625"/>
              <a:ext cx="660400" cy="784225"/>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5465023" y="1940178"/>
            <a:ext cx="13151840" cy="917072"/>
          </a:xfrm>
          <a:prstGeom prst="rect">
            <a:avLst/>
          </a:prstGeom>
        </p:spPr>
        <p:txBody>
          <a:bodyPr anchor="t" rtlCol="false" tIns="0" lIns="0" bIns="0" rIns="0">
            <a:spAutoFit/>
          </a:bodyPr>
          <a:lstStyle/>
          <a:p>
            <a:pPr algn="l">
              <a:lnSpc>
                <a:spcPts val="6789"/>
              </a:lnSpc>
            </a:pPr>
            <a:r>
              <a:rPr lang="en-US" sz="7300">
                <a:solidFill>
                  <a:srgbClr val="556BA0"/>
                </a:solidFill>
                <a:latin typeface="TDTD가시고딕"/>
                <a:ea typeface="TDTD가시고딕"/>
                <a:cs typeface="TDTD가시고딕"/>
                <a:sym typeface="TDTD가시고딕"/>
              </a:rPr>
              <a:t>Control Variables:</a:t>
            </a:r>
          </a:p>
        </p:txBody>
      </p:sp>
      <p:sp>
        <p:nvSpPr>
          <p:cNvPr name="TextBox 12" id="12"/>
          <p:cNvSpPr txBox="true"/>
          <p:nvPr/>
        </p:nvSpPr>
        <p:spPr>
          <a:xfrm rot="0">
            <a:off x="5100270" y="2676275"/>
            <a:ext cx="11676560" cy="7340600"/>
          </a:xfrm>
          <a:prstGeom prst="rect">
            <a:avLst/>
          </a:prstGeom>
        </p:spPr>
        <p:txBody>
          <a:bodyPr anchor="t" rtlCol="false" tIns="0" lIns="0" bIns="0" rIns="0">
            <a:spAutoFit/>
          </a:bodyPr>
          <a:lstStyle/>
          <a:p>
            <a:pPr algn="l" marL="755651" indent="-377825" lvl="1">
              <a:lnSpc>
                <a:spcPts val="4375"/>
              </a:lnSpc>
              <a:buFont typeface="Arial"/>
              <a:buChar char="•"/>
            </a:pPr>
            <a:r>
              <a:rPr lang="en-US" sz="3500">
                <a:solidFill>
                  <a:srgbClr val="556BA0"/>
                </a:solidFill>
                <a:latin typeface="イワタ福まるご"/>
                <a:ea typeface="イワタ福まるご"/>
                <a:cs typeface="イワタ福まるご"/>
                <a:sym typeface="イワタ福まるご"/>
              </a:rPr>
              <a:t>Age, continuous variable, measured in years</a:t>
            </a:r>
          </a:p>
          <a:p>
            <a:pPr algn="l" marL="755651" indent="-377825" lvl="1">
              <a:lnSpc>
                <a:spcPts val="4375"/>
              </a:lnSpc>
              <a:buFont typeface="Arial"/>
              <a:buChar char="•"/>
            </a:pPr>
            <a:r>
              <a:rPr lang="en-US" sz="3500">
                <a:solidFill>
                  <a:srgbClr val="556BA0"/>
                </a:solidFill>
                <a:latin typeface="イワタ福まるご"/>
                <a:ea typeface="イワタ福まるご"/>
                <a:cs typeface="イワタ福まるご"/>
                <a:sym typeface="イワタ福まるご"/>
              </a:rPr>
              <a:t>Education, ordinal variable, measured by highest educational level attained</a:t>
            </a:r>
          </a:p>
          <a:p>
            <a:pPr algn="l" marL="755651" indent="-377825" lvl="1">
              <a:lnSpc>
                <a:spcPts val="4375"/>
              </a:lnSpc>
              <a:buFont typeface="Arial"/>
              <a:buChar char="•"/>
            </a:pPr>
            <a:r>
              <a:rPr lang="en-US" sz="3500">
                <a:solidFill>
                  <a:srgbClr val="556BA0"/>
                </a:solidFill>
                <a:latin typeface="イワタ福まるご"/>
                <a:ea typeface="イワタ福まるご"/>
                <a:cs typeface="イワタ福まるご"/>
                <a:sym typeface="イワタ福まるご"/>
              </a:rPr>
              <a:t>Household income, ordinal variable, measured on a 10-point income scale from lowest to highest income group</a:t>
            </a:r>
          </a:p>
          <a:p>
            <a:pPr algn="l" marL="755651" indent="-377825" lvl="1">
              <a:lnSpc>
                <a:spcPts val="4375"/>
              </a:lnSpc>
              <a:buFont typeface="Arial"/>
              <a:buChar char="•"/>
            </a:pPr>
            <a:r>
              <a:rPr lang="en-US" sz="3500">
                <a:solidFill>
                  <a:srgbClr val="556BA0"/>
                </a:solidFill>
                <a:latin typeface="イワタ福まるご"/>
                <a:ea typeface="イワタ福まるご"/>
                <a:cs typeface="イワタ福まるご"/>
                <a:sym typeface="イワタ福まるご"/>
              </a:rPr>
              <a:t>Employment status, binary variable, unemployment is the reference group (coded 0)</a:t>
            </a:r>
          </a:p>
          <a:p>
            <a:pPr algn="l" marL="755651" indent="-377825" lvl="1">
              <a:lnSpc>
                <a:spcPts val="4375"/>
              </a:lnSpc>
              <a:buFont typeface="Arial"/>
              <a:buChar char="•"/>
            </a:pPr>
            <a:r>
              <a:rPr lang="en-US" sz="3500">
                <a:solidFill>
                  <a:srgbClr val="556BA0"/>
                </a:solidFill>
                <a:latin typeface="イワタ福まるご"/>
                <a:ea typeface="イワタ福まるご"/>
                <a:cs typeface="イワタ福まるご"/>
                <a:sym typeface="イワタ福まるご"/>
              </a:rPr>
              <a:t>Marital status, binary variable, unmarried is the reference group (coded 0)</a:t>
            </a:r>
          </a:p>
          <a:p>
            <a:pPr algn="l" marL="755651" indent="-377825" lvl="1">
              <a:lnSpc>
                <a:spcPts val="4375"/>
              </a:lnSpc>
              <a:buFont typeface="Arial"/>
              <a:buChar char="•"/>
            </a:pPr>
            <a:r>
              <a:rPr lang="en-US" sz="3500">
                <a:solidFill>
                  <a:srgbClr val="556BA0"/>
                </a:solidFill>
                <a:latin typeface="イワタ福まるご"/>
                <a:ea typeface="イワタ福まるご"/>
                <a:cs typeface="イワタ福まるご"/>
                <a:sym typeface="イワタ福まるご"/>
              </a:rPr>
              <a:t>Personal crime victimisation, binary variable, no victim is the reference group (coded 0)</a:t>
            </a:r>
          </a:p>
          <a:p>
            <a:pPr algn="l" marL="755651" indent="-377825" lvl="1">
              <a:lnSpc>
                <a:spcPts val="4375"/>
              </a:lnSpc>
              <a:buFont typeface="Arial"/>
              <a:buChar char="•"/>
            </a:pPr>
            <a:r>
              <a:rPr lang="en-US" sz="3500">
                <a:solidFill>
                  <a:srgbClr val="556BA0"/>
                </a:solidFill>
                <a:latin typeface="イワタ福まるご"/>
                <a:ea typeface="イワタ福まるご"/>
                <a:cs typeface="イワタ福まるご"/>
                <a:sym typeface="イワタ福まるご"/>
              </a:rPr>
              <a:t>Family crime victimisation, binary variable, no victim is the reference group (coded 0)</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EEE5"/>
        </a:solidFill>
      </p:bgPr>
    </p:bg>
    <p:spTree>
      <p:nvGrpSpPr>
        <p:cNvPr id="1" name=""/>
        <p:cNvGrpSpPr/>
        <p:nvPr/>
      </p:nvGrpSpPr>
      <p:grpSpPr>
        <a:xfrm>
          <a:off x="0" y="0"/>
          <a:ext cx="0" cy="0"/>
          <a:chOff x="0" y="0"/>
          <a:chExt cx="0" cy="0"/>
        </a:xfrm>
      </p:grpSpPr>
      <p:sp>
        <p:nvSpPr>
          <p:cNvPr name="Freeform 2" id="2"/>
          <p:cNvSpPr/>
          <p:nvPr/>
        </p:nvSpPr>
        <p:spPr>
          <a:xfrm flipH="false" flipV="false" rot="0">
            <a:off x="2841235" y="770908"/>
            <a:ext cx="13744635" cy="8229600"/>
          </a:xfrm>
          <a:custGeom>
            <a:avLst/>
            <a:gdLst/>
            <a:ahLst/>
            <a:cxnLst/>
            <a:rect r="r" b="b" t="t" l="l"/>
            <a:pathLst>
              <a:path h="8229600" w="13744635">
                <a:moveTo>
                  <a:pt x="0" y="0"/>
                </a:moveTo>
                <a:lnTo>
                  <a:pt x="13744634" y="0"/>
                </a:lnTo>
                <a:lnTo>
                  <a:pt x="13744634" y="8229600"/>
                </a:lnTo>
                <a:lnTo>
                  <a:pt x="0" y="8229600"/>
                </a:lnTo>
                <a:lnTo>
                  <a:pt x="0" y="0"/>
                </a:lnTo>
                <a:close/>
              </a:path>
            </a:pathLst>
          </a:custGeom>
          <a:blipFill>
            <a:blip r:embed="rId2"/>
            <a:stretch>
              <a:fillRect l="0" t="0" r="0" b="0"/>
            </a:stretch>
          </a:blipFill>
        </p:spPr>
      </p:sp>
      <p:grpSp>
        <p:nvGrpSpPr>
          <p:cNvPr name="Group 3" id="3"/>
          <p:cNvGrpSpPr/>
          <p:nvPr/>
        </p:nvGrpSpPr>
        <p:grpSpPr>
          <a:xfrm rot="0">
            <a:off x="2020078" y="4185746"/>
            <a:ext cx="374891" cy="37489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DFD4"/>
            </a:solidFill>
          </p:spPr>
        </p:sp>
        <p:sp>
          <p:nvSpPr>
            <p:cNvPr name="TextBox 5" id="5"/>
            <p:cNvSpPr txBox="true"/>
            <p:nvPr/>
          </p:nvSpPr>
          <p:spPr>
            <a:xfrm>
              <a:off x="76200" y="-47625"/>
              <a:ext cx="660400" cy="78422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2394970" y="4089095"/>
            <a:ext cx="284098" cy="28409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DFD4"/>
            </a:solidFill>
          </p:spPr>
        </p:sp>
        <p:sp>
          <p:nvSpPr>
            <p:cNvPr name="TextBox 8" id="8"/>
            <p:cNvSpPr txBox="true"/>
            <p:nvPr/>
          </p:nvSpPr>
          <p:spPr>
            <a:xfrm>
              <a:off x="76200" y="-47625"/>
              <a:ext cx="660400" cy="784225"/>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3802996" y="3028716"/>
            <a:ext cx="12497798" cy="553700"/>
          </a:xfrm>
          <a:custGeom>
            <a:avLst/>
            <a:gdLst/>
            <a:ahLst/>
            <a:cxnLst/>
            <a:rect r="r" b="b" t="t" l="l"/>
            <a:pathLst>
              <a:path h="553700" w="12497798">
                <a:moveTo>
                  <a:pt x="0" y="0"/>
                </a:moveTo>
                <a:lnTo>
                  <a:pt x="12497798" y="0"/>
                </a:lnTo>
                <a:lnTo>
                  <a:pt x="12497798" y="553700"/>
                </a:lnTo>
                <a:lnTo>
                  <a:pt x="0" y="553700"/>
                </a:lnTo>
                <a:lnTo>
                  <a:pt x="0" y="0"/>
                </a:lnTo>
                <a:close/>
              </a:path>
            </a:pathLst>
          </a:custGeom>
          <a:blipFill>
            <a:blip r:embed="rId3"/>
            <a:stretch>
              <a:fillRect l="0" t="0" r="0" b="0"/>
            </a:stretch>
          </a:blipFill>
        </p:spPr>
      </p:sp>
      <p:sp>
        <p:nvSpPr>
          <p:cNvPr name="Freeform 10" id="10"/>
          <p:cNvSpPr/>
          <p:nvPr/>
        </p:nvSpPr>
        <p:spPr>
          <a:xfrm flipH="false" flipV="false" rot="0">
            <a:off x="3802996" y="3889800"/>
            <a:ext cx="12497798" cy="5616198"/>
          </a:xfrm>
          <a:custGeom>
            <a:avLst/>
            <a:gdLst/>
            <a:ahLst/>
            <a:cxnLst/>
            <a:rect r="r" b="b" t="t" l="l"/>
            <a:pathLst>
              <a:path h="5616198" w="12497798">
                <a:moveTo>
                  <a:pt x="0" y="0"/>
                </a:moveTo>
                <a:lnTo>
                  <a:pt x="12497798" y="0"/>
                </a:lnTo>
                <a:lnTo>
                  <a:pt x="12497798" y="5616198"/>
                </a:lnTo>
                <a:lnTo>
                  <a:pt x="0" y="5616198"/>
                </a:lnTo>
                <a:lnTo>
                  <a:pt x="0" y="0"/>
                </a:lnTo>
                <a:close/>
              </a:path>
            </a:pathLst>
          </a:custGeom>
          <a:blipFill>
            <a:blip r:embed="rId4"/>
            <a:stretch>
              <a:fillRect l="0" t="0" r="0" b="0"/>
            </a:stretch>
          </a:blipFill>
        </p:spPr>
      </p:sp>
      <p:sp>
        <p:nvSpPr>
          <p:cNvPr name="TextBox 11" id="11"/>
          <p:cNvSpPr txBox="true"/>
          <p:nvPr/>
        </p:nvSpPr>
        <p:spPr>
          <a:xfrm rot="0">
            <a:off x="5465023" y="1940178"/>
            <a:ext cx="13151840" cy="917072"/>
          </a:xfrm>
          <a:prstGeom prst="rect">
            <a:avLst/>
          </a:prstGeom>
        </p:spPr>
        <p:txBody>
          <a:bodyPr anchor="t" rtlCol="false" tIns="0" lIns="0" bIns="0" rIns="0">
            <a:spAutoFit/>
          </a:bodyPr>
          <a:lstStyle/>
          <a:p>
            <a:pPr algn="l">
              <a:lnSpc>
                <a:spcPts val="6789"/>
              </a:lnSpc>
            </a:pPr>
            <a:r>
              <a:rPr lang="en-US" sz="7300">
                <a:solidFill>
                  <a:srgbClr val="556BA0"/>
                </a:solidFill>
                <a:latin typeface="TDTD가시고딕"/>
                <a:ea typeface="TDTD가시고딕"/>
                <a:cs typeface="TDTD가시고딕"/>
                <a:sym typeface="TDTD가시고딕"/>
              </a:rPr>
              <a:t>Control Variables: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EEE5"/>
        </a:solidFill>
      </p:bgPr>
    </p:bg>
    <p:spTree>
      <p:nvGrpSpPr>
        <p:cNvPr id="1" name=""/>
        <p:cNvGrpSpPr/>
        <p:nvPr/>
      </p:nvGrpSpPr>
      <p:grpSpPr>
        <a:xfrm>
          <a:off x="0" y="0"/>
          <a:ext cx="0" cy="0"/>
          <a:chOff x="0" y="0"/>
          <a:chExt cx="0" cy="0"/>
        </a:xfrm>
      </p:grpSpPr>
      <p:sp>
        <p:nvSpPr>
          <p:cNvPr name="Freeform 2" id="2"/>
          <p:cNvSpPr/>
          <p:nvPr/>
        </p:nvSpPr>
        <p:spPr>
          <a:xfrm flipH="false" flipV="false" rot="0">
            <a:off x="2841235" y="770908"/>
            <a:ext cx="13744635" cy="8229600"/>
          </a:xfrm>
          <a:custGeom>
            <a:avLst/>
            <a:gdLst/>
            <a:ahLst/>
            <a:cxnLst/>
            <a:rect r="r" b="b" t="t" l="l"/>
            <a:pathLst>
              <a:path h="8229600" w="13744635">
                <a:moveTo>
                  <a:pt x="0" y="0"/>
                </a:moveTo>
                <a:lnTo>
                  <a:pt x="13744634" y="0"/>
                </a:lnTo>
                <a:lnTo>
                  <a:pt x="13744634" y="8229600"/>
                </a:lnTo>
                <a:lnTo>
                  <a:pt x="0" y="8229600"/>
                </a:lnTo>
                <a:lnTo>
                  <a:pt x="0" y="0"/>
                </a:lnTo>
                <a:close/>
              </a:path>
            </a:pathLst>
          </a:custGeom>
          <a:blipFill>
            <a:blip r:embed="rId2"/>
            <a:stretch>
              <a:fillRect l="0" t="0" r="0" b="0"/>
            </a:stretch>
          </a:blipFill>
        </p:spPr>
      </p:sp>
      <p:grpSp>
        <p:nvGrpSpPr>
          <p:cNvPr name="Group 3" id="3"/>
          <p:cNvGrpSpPr/>
          <p:nvPr/>
        </p:nvGrpSpPr>
        <p:grpSpPr>
          <a:xfrm rot="0">
            <a:off x="2020078" y="4185746"/>
            <a:ext cx="374891" cy="37489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DFD4"/>
            </a:solidFill>
          </p:spPr>
        </p:sp>
        <p:sp>
          <p:nvSpPr>
            <p:cNvPr name="TextBox 5" id="5"/>
            <p:cNvSpPr txBox="true"/>
            <p:nvPr/>
          </p:nvSpPr>
          <p:spPr>
            <a:xfrm>
              <a:off x="76200" y="-47625"/>
              <a:ext cx="660400" cy="78422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2394970" y="4089095"/>
            <a:ext cx="284098" cy="28409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DFD4"/>
            </a:solidFill>
          </p:spPr>
        </p:sp>
        <p:sp>
          <p:nvSpPr>
            <p:cNvPr name="TextBox 8" id="8"/>
            <p:cNvSpPr txBox="true"/>
            <p:nvPr/>
          </p:nvSpPr>
          <p:spPr>
            <a:xfrm>
              <a:off x="76200" y="-47625"/>
              <a:ext cx="660400" cy="784225"/>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3171437" y="3065362"/>
            <a:ext cx="13084230" cy="1864503"/>
          </a:xfrm>
          <a:custGeom>
            <a:avLst/>
            <a:gdLst/>
            <a:ahLst/>
            <a:cxnLst/>
            <a:rect r="r" b="b" t="t" l="l"/>
            <a:pathLst>
              <a:path h="1864503" w="13084230">
                <a:moveTo>
                  <a:pt x="0" y="0"/>
                </a:moveTo>
                <a:lnTo>
                  <a:pt x="13084230" y="0"/>
                </a:lnTo>
                <a:lnTo>
                  <a:pt x="13084230" y="1864503"/>
                </a:lnTo>
                <a:lnTo>
                  <a:pt x="0" y="1864503"/>
                </a:lnTo>
                <a:lnTo>
                  <a:pt x="0" y="0"/>
                </a:lnTo>
                <a:close/>
              </a:path>
            </a:pathLst>
          </a:custGeom>
          <a:blipFill>
            <a:blip r:embed="rId3"/>
            <a:stretch>
              <a:fillRect l="0" t="0" r="0" b="0"/>
            </a:stretch>
          </a:blipFill>
        </p:spPr>
      </p:sp>
      <p:sp>
        <p:nvSpPr>
          <p:cNvPr name="Freeform 10" id="10"/>
          <p:cNvSpPr/>
          <p:nvPr/>
        </p:nvSpPr>
        <p:spPr>
          <a:xfrm flipH="false" flipV="false" rot="0">
            <a:off x="3171437" y="5015590"/>
            <a:ext cx="13084230" cy="678744"/>
          </a:xfrm>
          <a:custGeom>
            <a:avLst/>
            <a:gdLst/>
            <a:ahLst/>
            <a:cxnLst/>
            <a:rect r="r" b="b" t="t" l="l"/>
            <a:pathLst>
              <a:path h="678744" w="13084230">
                <a:moveTo>
                  <a:pt x="0" y="0"/>
                </a:moveTo>
                <a:lnTo>
                  <a:pt x="13084230" y="0"/>
                </a:lnTo>
                <a:lnTo>
                  <a:pt x="13084230" y="678744"/>
                </a:lnTo>
                <a:lnTo>
                  <a:pt x="0" y="678744"/>
                </a:lnTo>
                <a:lnTo>
                  <a:pt x="0" y="0"/>
                </a:lnTo>
                <a:close/>
              </a:path>
            </a:pathLst>
          </a:custGeom>
          <a:blipFill>
            <a:blip r:embed="rId4"/>
            <a:stretch>
              <a:fillRect l="0" t="0" r="0" b="0"/>
            </a:stretch>
          </a:blipFill>
        </p:spPr>
      </p:sp>
      <p:sp>
        <p:nvSpPr>
          <p:cNvPr name="Freeform 11" id="11"/>
          <p:cNvSpPr/>
          <p:nvPr/>
        </p:nvSpPr>
        <p:spPr>
          <a:xfrm flipH="false" flipV="false" rot="0">
            <a:off x="3171437" y="5775297"/>
            <a:ext cx="13084230" cy="2265207"/>
          </a:xfrm>
          <a:custGeom>
            <a:avLst/>
            <a:gdLst/>
            <a:ahLst/>
            <a:cxnLst/>
            <a:rect r="r" b="b" t="t" l="l"/>
            <a:pathLst>
              <a:path h="2265207" w="13084230">
                <a:moveTo>
                  <a:pt x="0" y="0"/>
                </a:moveTo>
                <a:lnTo>
                  <a:pt x="13084230" y="0"/>
                </a:lnTo>
                <a:lnTo>
                  <a:pt x="13084230" y="2265207"/>
                </a:lnTo>
                <a:lnTo>
                  <a:pt x="0" y="2265207"/>
                </a:lnTo>
                <a:lnTo>
                  <a:pt x="0" y="0"/>
                </a:lnTo>
                <a:close/>
              </a:path>
            </a:pathLst>
          </a:custGeom>
          <a:blipFill>
            <a:blip r:embed="rId5"/>
            <a:stretch>
              <a:fillRect l="0" t="0" r="0" b="0"/>
            </a:stretch>
          </a:blipFill>
        </p:spPr>
      </p:sp>
      <p:sp>
        <p:nvSpPr>
          <p:cNvPr name="Freeform 12" id="12"/>
          <p:cNvSpPr/>
          <p:nvPr/>
        </p:nvSpPr>
        <p:spPr>
          <a:xfrm flipH="false" flipV="false" rot="0">
            <a:off x="3171437" y="8121467"/>
            <a:ext cx="13084230" cy="1995345"/>
          </a:xfrm>
          <a:custGeom>
            <a:avLst/>
            <a:gdLst/>
            <a:ahLst/>
            <a:cxnLst/>
            <a:rect r="r" b="b" t="t" l="l"/>
            <a:pathLst>
              <a:path h="1995345" w="13084230">
                <a:moveTo>
                  <a:pt x="0" y="0"/>
                </a:moveTo>
                <a:lnTo>
                  <a:pt x="13084230" y="0"/>
                </a:lnTo>
                <a:lnTo>
                  <a:pt x="13084230" y="1995345"/>
                </a:lnTo>
                <a:lnTo>
                  <a:pt x="0" y="1995345"/>
                </a:lnTo>
                <a:lnTo>
                  <a:pt x="0" y="0"/>
                </a:lnTo>
                <a:close/>
              </a:path>
            </a:pathLst>
          </a:custGeom>
          <a:blipFill>
            <a:blip r:embed="rId6"/>
            <a:stretch>
              <a:fillRect l="0" t="0" r="0" b="0"/>
            </a:stretch>
          </a:blipFill>
        </p:spPr>
      </p:sp>
      <p:sp>
        <p:nvSpPr>
          <p:cNvPr name="TextBox 13" id="13"/>
          <p:cNvSpPr txBox="true"/>
          <p:nvPr/>
        </p:nvSpPr>
        <p:spPr>
          <a:xfrm rot="0">
            <a:off x="5465023" y="1940178"/>
            <a:ext cx="13151840" cy="917072"/>
          </a:xfrm>
          <a:prstGeom prst="rect">
            <a:avLst/>
          </a:prstGeom>
        </p:spPr>
        <p:txBody>
          <a:bodyPr anchor="t" rtlCol="false" tIns="0" lIns="0" bIns="0" rIns="0">
            <a:spAutoFit/>
          </a:bodyPr>
          <a:lstStyle/>
          <a:p>
            <a:pPr algn="l">
              <a:lnSpc>
                <a:spcPts val="6789"/>
              </a:lnSpc>
            </a:pPr>
            <a:r>
              <a:rPr lang="en-US" sz="7300">
                <a:solidFill>
                  <a:srgbClr val="556BA0"/>
                </a:solidFill>
                <a:latin typeface="TDTD가시고딕"/>
                <a:ea typeface="TDTD가시고딕"/>
                <a:cs typeface="TDTD가시고딕"/>
                <a:sym typeface="TDTD가시고딕"/>
              </a:rPr>
              <a:t>Control Variables: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FEEE5"/>
        </a:solidFill>
      </p:bgPr>
    </p:bg>
    <p:spTree>
      <p:nvGrpSpPr>
        <p:cNvPr id="1" name=""/>
        <p:cNvGrpSpPr/>
        <p:nvPr/>
      </p:nvGrpSpPr>
      <p:grpSpPr>
        <a:xfrm>
          <a:off x="0" y="0"/>
          <a:ext cx="0" cy="0"/>
          <a:chOff x="0" y="0"/>
          <a:chExt cx="0" cy="0"/>
        </a:xfrm>
      </p:grpSpPr>
      <p:sp>
        <p:nvSpPr>
          <p:cNvPr name="Freeform 2" id="2"/>
          <p:cNvSpPr/>
          <p:nvPr/>
        </p:nvSpPr>
        <p:spPr>
          <a:xfrm flipH="false" flipV="false" rot="0">
            <a:off x="2841235" y="770908"/>
            <a:ext cx="13744635" cy="8229600"/>
          </a:xfrm>
          <a:custGeom>
            <a:avLst/>
            <a:gdLst/>
            <a:ahLst/>
            <a:cxnLst/>
            <a:rect r="r" b="b" t="t" l="l"/>
            <a:pathLst>
              <a:path h="8229600" w="13744635">
                <a:moveTo>
                  <a:pt x="0" y="0"/>
                </a:moveTo>
                <a:lnTo>
                  <a:pt x="13744634" y="0"/>
                </a:lnTo>
                <a:lnTo>
                  <a:pt x="13744634"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1980233">
            <a:off x="15815509" y="284933"/>
            <a:ext cx="2887583" cy="5409991"/>
          </a:xfrm>
          <a:custGeom>
            <a:avLst/>
            <a:gdLst/>
            <a:ahLst/>
            <a:cxnLst/>
            <a:rect r="r" b="b" t="t" l="l"/>
            <a:pathLst>
              <a:path h="5409991" w="2887583">
                <a:moveTo>
                  <a:pt x="0" y="0"/>
                </a:moveTo>
                <a:lnTo>
                  <a:pt x="2887582" y="0"/>
                </a:lnTo>
                <a:lnTo>
                  <a:pt x="2887582" y="5409990"/>
                </a:lnTo>
                <a:lnTo>
                  <a:pt x="0" y="5409990"/>
                </a:lnTo>
                <a:lnTo>
                  <a:pt x="0" y="0"/>
                </a:lnTo>
                <a:close/>
              </a:path>
            </a:pathLst>
          </a:custGeom>
          <a:blipFill>
            <a:blip r:embed="rId3"/>
            <a:stretch>
              <a:fillRect l="0" t="0" r="0" b="0"/>
            </a:stretch>
          </a:blipFill>
        </p:spPr>
      </p:sp>
      <p:grpSp>
        <p:nvGrpSpPr>
          <p:cNvPr name="Group 4" id="4"/>
          <p:cNvGrpSpPr/>
          <p:nvPr/>
        </p:nvGrpSpPr>
        <p:grpSpPr>
          <a:xfrm rot="0">
            <a:off x="2020078" y="4185746"/>
            <a:ext cx="374891" cy="374891"/>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DFD4"/>
            </a:solidFill>
          </p:spPr>
        </p:sp>
        <p:sp>
          <p:nvSpPr>
            <p:cNvPr name="TextBox 6" id="6"/>
            <p:cNvSpPr txBox="true"/>
            <p:nvPr/>
          </p:nvSpPr>
          <p:spPr>
            <a:xfrm>
              <a:off x="76200" y="-47625"/>
              <a:ext cx="660400" cy="784225"/>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2394970" y="4089095"/>
            <a:ext cx="284098" cy="284098"/>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DFD4"/>
            </a:solidFill>
          </p:spPr>
        </p:sp>
        <p:sp>
          <p:nvSpPr>
            <p:cNvPr name="TextBox 9" id="9"/>
            <p:cNvSpPr txBox="true"/>
            <p:nvPr/>
          </p:nvSpPr>
          <p:spPr>
            <a:xfrm>
              <a:off x="76200" y="-47625"/>
              <a:ext cx="660400" cy="784225"/>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209154" y="5369547"/>
            <a:ext cx="17869693" cy="675308"/>
          </a:xfrm>
          <a:custGeom>
            <a:avLst/>
            <a:gdLst/>
            <a:ahLst/>
            <a:cxnLst/>
            <a:rect r="r" b="b" t="t" l="l"/>
            <a:pathLst>
              <a:path h="675308" w="17869693">
                <a:moveTo>
                  <a:pt x="0" y="0"/>
                </a:moveTo>
                <a:lnTo>
                  <a:pt x="17869692" y="0"/>
                </a:lnTo>
                <a:lnTo>
                  <a:pt x="17869692" y="675308"/>
                </a:lnTo>
                <a:lnTo>
                  <a:pt x="0" y="675308"/>
                </a:lnTo>
                <a:lnTo>
                  <a:pt x="0" y="0"/>
                </a:lnTo>
                <a:close/>
              </a:path>
            </a:pathLst>
          </a:custGeom>
          <a:blipFill>
            <a:blip r:embed="rId4"/>
            <a:stretch>
              <a:fillRect l="0" t="0" r="0" b="-23652"/>
            </a:stretch>
          </a:blipFill>
        </p:spPr>
      </p:sp>
      <p:sp>
        <p:nvSpPr>
          <p:cNvPr name="TextBox 11" id="11"/>
          <p:cNvSpPr txBox="true"/>
          <p:nvPr/>
        </p:nvSpPr>
        <p:spPr>
          <a:xfrm rot="0">
            <a:off x="4788159" y="3172022"/>
            <a:ext cx="13151840" cy="917072"/>
          </a:xfrm>
          <a:prstGeom prst="rect">
            <a:avLst/>
          </a:prstGeom>
        </p:spPr>
        <p:txBody>
          <a:bodyPr anchor="t" rtlCol="false" tIns="0" lIns="0" bIns="0" rIns="0">
            <a:spAutoFit/>
          </a:bodyPr>
          <a:lstStyle/>
          <a:p>
            <a:pPr algn="l">
              <a:lnSpc>
                <a:spcPts val="6789"/>
              </a:lnSpc>
            </a:pPr>
            <a:r>
              <a:rPr lang="en-US" sz="7300">
                <a:solidFill>
                  <a:srgbClr val="556BA0"/>
                </a:solidFill>
                <a:latin typeface="TDTD가시고딕"/>
                <a:ea typeface="TDTD가시고딕"/>
                <a:cs typeface="TDTD가시고딕"/>
                <a:sym typeface="TDTD가시고딕"/>
              </a:rPr>
              <a:t>OLS Model Formula</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FEEE5"/>
        </a:solidFill>
      </p:bgPr>
    </p:bg>
    <p:spTree>
      <p:nvGrpSpPr>
        <p:cNvPr id="1" name=""/>
        <p:cNvGrpSpPr/>
        <p:nvPr/>
      </p:nvGrpSpPr>
      <p:grpSpPr>
        <a:xfrm>
          <a:off x="0" y="0"/>
          <a:ext cx="0" cy="0"/>
          <a:chOff x="0" y="0"/>
          <a:chExt cx="0" cy="0"/>
        </a:xfrm>
      </p:grpSpPr>
      <p:sp>
        <p:nvSpPr>
          <p:cNvPr name="Freeform 2" id="2"/>
          <p:cNvSpPr/>
          <p:nvPr/>
        </p:nvSpPr>
        <p:spPr>
          <a:xfrm flipH="false" flipV="false" rot="0">
            <a:off x="2841235" y="770908"/>
            <a:ext cx="13744635" cy="8229600"/>
          </a:xfrm>
          <a:custGeom>
            <a:avLst/>
            <a:gdLst/>
            <a:ahLst/>
            <a:cxnLst/>
            <a:rect r="r" b="b" t="t" l="l"/>
            <a:pathLst>
              <a:path h="8229600" w="13744635">
                <a:moveTo>
                  <a:pt x="0" y="0"/>
                </a:moveTo>
                <a:lnTo>
                  <a:pt x="13744634" y="0"/>
                </a:lnTo>
                <a:lnTo>
                  <a:pt x="13744634"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1980233">
            <a:off x="15815509" y="284933"/>
            <a:ext cx="2887583" cy="5409991"/>
          </a:xfrm>
          <a:custGeom>
            <a:avLst/>
            <a:gdLst/>
            <a:ahLst/>
            <a:cxnLst/>
            <a:rect r="r" b="b" t="t" l="l"/>
            <a:pathLst>
              <a:path h="5409991" w="2887583">
                <a:moveTo>
                  <a:pt x="0" y="0"/>
                </a:moveTo>
                <a:lnTo>
                  <a:pt x="2887582" y="0"/>
                </a:lnTo>
                <a:lnTo>
                  <a:pt x="2887582" y="5409990"/>
                </a:lnTo>
                <a:lnTo>
                  <a:pt x="0" y="5409990"/>
                </a:lnTo>
                <a:lnTo>
                  <a:pt x="0" y="0"/>
                </a:lnTo>
                <a:close/>
              </a:path>
            </a:pathLst>
          </a:custGeom>
          <a:blipFill>
            <a:blip r:embed="rId3"/>
            <a:stretch>
              <a:fillRect l="0" t="0" r="0" b="0"/>
            </a:stretch>
          </a:blipFill>
        </p:spPr>
      </p:sp>
      <p:grpSp>
        <p:nvGrpSpPr>
          <p:cNvPr name="Group 4" id="4"/>
          <p:cNvGrpSpPr/>
          <p:nvPr/>
        </p:nvGrpSpPr>
        <p:grpSpPr>
          <a:xfrm rot="0">
            <a:off x="2020078" y="4185746"/>
            <a:ext cx="374891" cy="374891"/>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DFD4"/>
            </a:solidFill>
          </p:spPr>
        </p:sp>
        <p:sp>
          <p:nvSpPr>
            <p:cNvPr name="TextBox 6" id="6"/>
            <p:cNvSpPr txBox="true"/>
            <p:nvPr/>
          </p:nvSpPr>
          <p:spPr>
            <a:xfrm>
              <a:off x="76200" y="-47625"/>
              <a:ext cx="660400" cy="784225"/>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2394970" y="4089095"/>
            <a:ext cx="284098" cy="284098"/>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DFD4"/>
            </a:solidFill>
          </p:spPr>
        </p:sp>
        <p:sp>
          <p:nvSpPr>
            <p:cNvPr name="TextBox 9" id="9"/>
            <p:cNvSpPr txBox="true"/>
            <p:nvPr/>
          </p:nvSpPr>
          <p:spPr>
            <a:xfrm>
              <a:off x="76200" y="-47625"/>
              <a:ext cx="660400" cy="784225"/>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2745813" y="1878481"/>
            <a:ext cx="6967739" cy="534336"/>
          </a:xfrm>
          <a:custGeom>
            <a:avLst/>
            <a:gdLst/>
            <a:ahLst/>
            <a:cxnLst/>
            <a:rect r="r" b="b" t="t" l="l"/>
            <a:pathLst>
              <a:path h="534336" w="6967739">
                <a:moveTo>
                  <a:pt x="0" y="0"/>
                </a:moveTo>
                <a:lnTo>
                  <a:pt x="6967739" y="0"/>
                </a:lnTo>
                <a:lnTo>
                  <a:pt x="6967739" y="534335"/>
                </a:lnTo>
                <a:lnTo>
                  <a:pt x="0" y="534335"/>
                </a:lnTo>
                <a:lnTo>
                  <a:pt x="0" y="0"/>
                </a:lnTo>
                <a:close/>
              </a:path>
            </a:pathLst>
          </a:custGeom>
          <a:blipFill>
            <a:blip r:embed="rId4"/>
            <a:stretch>
              <a:fillRect l="0" t="0" r="0" b="0"/>
            </a:stretch>
          </a:blipFill>
        </p:spPr>
      </p:sp>
      <p:sp>
        <p:nvSpPr>
          <p:cNvPr name="Freeform 11" id="11"/>
          <p:cNvSpPr/>
          <p:nvPr/>
        </p:nvSpPr>
        <p:spPr>
          <a:xfrm flipH="false" flipV="false" rot="0">
            <a:off x="2745813" y="3889070"/>
            <a:ext cx="12796374" cy="1549983"/>
          </a:xfrm>
          <a:custGeom>
            <a:avLst/>
            <a:gdLst/>
            <a:ahLst/>
            <a:cxnLst/>
            <a:rect r="r" b="b" t="t" l="l"/>
            <a:pathLst>
              <a:path h="1549983" w="12796374">
                <a:moveTo>
                  <a:pt x="0" y="0"/>
                </a:moveTo>
                <a:lnTo>
                  <a:pt x="12796374" y="0"/>
                </a:lnTo>
                <a:lnTo>
                  <a:pt x="12796374" y="1549983"/>
                </a:lnTo>
                <a:lnTo>
                  <a:pt x="0" y="1549983"/>
                </a:lnTo>
                <a:lnTo>
                  <a:pt x="0" y="0"/>
                </a:lnTo>
                <a:close/>
              </a:path>
            </a:pathLst>
          </a:custGeom>
          <a:blipFill>
            <a:blip r:embed="rId5"/>
            <a:stretch>
              <a:fillRect l="0" t="0" r="0" b="0"/>
            </a:stretch>
          </a:blipFill>
        </p:spPr>
      </p:sp>
      <p:sp>
        <p:nvSpPr>
          <p:cNvPr name="Freeform 12" id="12"/>
          <p:cNvSpPr/>
          <p:nvPr/>
        </p:nvSpPr>
        <p:spPr>
          <a:xfrm flipH="false" flipV="false" rot="0">
            <a:off x="2745813" y="6948062"/>
            <a:ext cx="12652993" cy="2149689"/>
          </a:xfrm>
          <a:custGeom>
            <a:avLst/>
            <a:gdLst/>
            <a:ahLst/>
            <a:cxnLst/>
            <a:rect r="r" b="b" t="t" l="l"/>
            <a:pathLst>
              <a:path h="2149689" w="12652993">
                <a:moveTo>
                  <a:pt x="0" y="0"/>
                </a:moveTo>
                <a:lnTo>
                  <a:pt x="12652993" y="0"/>
                </a:lnTo>
                <a:lnTo>
                  <a:pt x="12652993" y="2149689"/>
                </a:lnTo>
                <a:lnTo>
                  <a:pt x="0" y="2149689"/>
                </a:lnTo>
                <a:lnTo>
                  <a:pt x="0" y="0"/>
                </a:lnTo>
                <a:close/>
              </a:path>
            </a:pathLst>
          </a:custGeom>
          <a:blipFill>
            <a:blip r:embed="rId6"/>
            <a:stretch>
              <a:fillRect l="0" t="0" r="0" b="0"/>
            </a:stretch>
          </a:blipFill>
        </p:spPr>
      </p:sp>
      <p:sp>
        <p:nvSpPr>
          <p:cNvPr name="TextBox 13" id="13"/>
          <p:cNvSpPr txBox="true"/>
          <p:nvPr/>
        </p:nvSpPr>
        <p:spPr>
          <a:xfrm rot="0">
            <a:off x="6791672" y="961408"/>
            <a:ext cx="3607868" cy="917072"/>
          </a:xfrm>
          <a:prstGeom prst="rect">
            <a:avLst/>
          </a:prstGeom>
        </p:spPr>
        <p:txBody>
          <a:bodyPr anchor="t" rtlCol="false" tIns="0" lIns="0" bIns="0" rIns="0">
            <a:spAutoFit/>
          </a:bodyPr>
          <a:lstStyle/>
          <a:p>
            <a:pPr algn="l">
              <a:lnSpc>
                <a:spcPts val="6789"/>
              </a:lnSpc>
            </a:pPr>
            <a:r>
              <a:rPr lang="en-US" sz="7300">
                <a:solidFill>
                  <a:srgbClr val="556BA0"/>
                </a:solidFill>
                <a:latin typeface="TDTD가시고딕"/>
                <a:ea typeface="TDTD가시고딕"/>
                <a:cs typeface="TDTD가시고딕"/>
                <a:sym typeface="TDTD가시고딕"/>
              </a:rPr>
              <a:t>Model1</a:t>
            </a:r>
          </a:p>
        </p:txBody>
      </p:sp>
      <p:sp>
        <p:nvSpPr>
          <p:cNvPr name="TextBox 14" id="14"/>
          <p:cNvSpPr txBox="true"/>
          <p:nvPr/>
        </p:nvSpPr>
        <p:spPr>
          <a:xfrm rot="0">
            <a:off x="6791672" y="2971997"/>
            <a:ext cx="3607868" cy="917072"/>
          </a:xfrm>
          <a:prstGeom prst="rect">
            <a:avLst/>
          </a:prstGeom>
        </p:spPr>
        <p:txBody>
          <a:bodyPr anchor="t" rtlCol="false" tIns="0" lIns="0" bIns="0" rIns="0">
            <a:spAutoFit/>
          </a:bodyPr>
          <a:lstStyle/>
          <a:p>
            <a:pPr algn="l">
              <a:lnSpc>
                <a:spcPts val="6789"/>
              </a:lnSpc>
            </a:pPr>
            <a:r>
              <a:rPr lang="en-US" sz="7300">
                <a:solidFill>
                  <a:srgbClr val="556BA0"/>
                </a:solidFill>
                <a:latin typeface="TDTD가시고딕"/>
                <a:ea typeface="TDTD가시고딕"/>
                <a:cs typeface="TDTD가시고딕"/>
                <a:sym typeface="TDTD가시고딕"/>
              </a:rPr>
              <a:t>Model2</a:t>
            </a:r>
          </a:p>
        </p:txBody>
      </p:sp>
      <p:sp>
        <p:nvSpPr>
          <p:cNvPr name="TextBox 15" id="15"/>
          <p:cNvSpPr txBox="true"/>
          <p:nvPr/>
        </p:nvSpPr>
        <p:spPr>
          <a:xfrm rot="0">
            <a:off x="6791672" y="6030990"/>
            <a:ext cx="3607868" cy="917072"/>
          </a:xfrm>
          <a:prstGeom prst="rect">
            <a:avLst/>
          </a:prstGeom>
        </p:spPr>
        <p:txBody>
          <a:bodyPr anchor="t" rtlCol="false" tIns="0" lIns="0" bIns="0" rIns="0">
            <a:spAutoFit/>
          </a:bodyPr>
          <a:lstStyle/>
          <a:p>
            <a:pPr algn="l">
              <a:lnSpc>
                <a:spcPts val="6789"/>
              </a:lnSpc>
            </a:pPr>
            <a:r>
              <a:rPr lang="en-US" sz="7300">
                <a:solidFill>
                  <a:srgbClr val="556BA0"/>
                </a:solidFill>
                <a:latin typeface="TDTD가시고딕"/>
                <a:ea typeface="TDTD가시고딕"/>
                <a:cs typeface="TDTD가시고딕"/>
                <a:sym typeface="TDTD가시고딕"/>
              </a:rPr>
              <a:t>Model3</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FEEE5"/>
        </a:solidFill>
      </p:bgPr>
    </p:bg>
    <p:spTree>
      <p:nvGrpSpPr>
        <p:cNvPr id="1" name=""/>
        <p:cNvGrpSpPr/>
        <p:nvPr/>
      </p:nvGrpSpPr>
      <p:grpSpPr>
        <a:xfrm>
          <a:off x="0" y="0"/>
          <a:ext cx="0" cy="0"/>
          <a:chOff x="0" y="0"/>
          <a:chExt cx="0" cy="0"/>
        </a:xfrm>
      </p:grpSpPr>
      <p:sp>
        <p:nvSpPr>
          <p:cNvPr name="TextBox 2" id="2"/>
          <p:cNvSpPr txBox="true"/>
          <p:nvPr/>
        </p:nvSpPr>
        <p:spPr>
          <a:xfrm rot="0">
            <a:off x="953757" y="3068856"/>
            <a:ext cx="10910743" cy="1952369"/>
          </a:xfrm>
          <a:prstGeom prst="rect">
            <a:avLst/>
          </a:prstGeom>
        </p:spPr>
        <p:txBody>
          <a:bodyPr anchor="t" rtlCol="false" tIns="0" lIns="0" bIns="0" rIns="0">
            <a:spAutoFit/>
          </a:bodyPr>
          <a:lstStyle/>
          <a:p>
            <a:pPr algn="l">
              <a:lnSpc>
                <a:spcPts val="14580"/>
              </a:lnSpc>
            </a:pPr>
            <a:r>
              <a:rPr lang="en-US" sz="14580">
                <a:solidFill>
                  <a:srgbClr val="556BA0"/>
                </a:solidFill>
                <a:latin typeface="TDTD가시고딕"/>
                <a:ea typeface="TDTD가시고딕"/>
                <a:cs typeface="TDTD가시고딕"/>
                <a:sym typeface="TDTD가시고딕"/>
              </a:rPr>
              <a:t>Singapore</a:t>
            </a:r>
          </a:p>
        </p:txBody>
      </p:sp>
      <p:sp>
        <p:nvSpPr>
          <p:cNvPr name="Freeform 3" id="3"/>
          <p:cNvSpPr/>
          <p:nvPr/>
        </p:nvSpPr>
        <p:spPr>
          <a:xfrm flipH="false" flipV="false" rot="-828974">
            <a:off x="3872010" y="7316688"/>
            <a:ext cx="2025214" cy="1276951"/>
          </a:xfrm>
          <a:custGeom>
            <a:avLst/>
            <a:gdLst/>
            <a:ahLst/>
            <a:cxnLst/>
            <a:rect r="r" b="b" t="t" l="l"/>
            <a:pathLst>
              <a:path h="1276951" w="2025214">
                <a:moveTo>
                  <a:pt x="0" y="0"/>
                </a:moveTo>
                <a:lnTo>
                  <a:pt x="2025214" y="0"/>
                </a:lnTo>
                <a:lnTo>
                  <a:pt x="2025214" y="1276951"/>
                </a:lnTo>
                <a:lnTo>
                  <a:pt x="0" y="1276951"/>
                </a:lnTo>
                <a:lnTo>
                  <a:pt x="0" y="0"/>
                </a:lnTo>
                <a:close/>
              </a:path>
            </a:pathLst>
          </a:custGeom>
          <a:blipFill>
            <a:blip r:embed="rId2"/>
            <a:stretch>
              <a:fillRect l="0" t="0" r="0" b="0"/>
            </a:stretch>
          </a:blipFill>
        </p:spPr>
      </p:sp>
      <p:sp>
        <p:nvSpPr>
          <p:cNvPr name="Freeform 4" id="4"/>
          <p:cNvSpPr/>
          <p:nvPr/>
        </p:nvSpPr>
        <p:spPr>
          <a:xfrm flipH="false" flipV="false" rot="-186545">
            <a:off x="11742389" y="1965698"/>
            <a:ext cx="2422332" cy="1131589"/>
          </a:xfrm>
          <a:custGeom>
            <a:avLst/>
            <a:gdLst/>
            <a:ahLst/>
            <a:cxnLst/>
            <a:rect r="r" b="b" t="t" l="l"/>
            <a:pathLst>
              <a:path h="1131589" w="2422332">
                <a:moveTo>
                  <a:pt x="0" y="0"/>
                </a:moveTo>
                <a:lnTo>
                  <a:pt x="2422332" y="0"/>
                </a:lnTo>
                <a:lnTo>
                  <a:pt x="2422332" y="1131589"/>
                </a:lnTo>
                <a:lnTo>
                  <a:pt x="0" y="1131589"/>
                </a:lnTo>
                <a:lnTo>
                  <a:pt x="0" y="0"/>
                </a:lnTo>
                <a:close/>
              </a:path>
            </a:pathLst>
          </a:custGeom>
          <a:blipFill>
            <a:blip r:embed="rId3"/>
            <a:stretch>
              <a:fillRect l="0" t="0" r="0" b="0"/>
            </a:stretch>
          </a:blipFill>
        </p:spPr>
      </p:sp>
      <p:sp>
        <p:nvSpPr>
          <p:cNvPr name="Freeform 5" id="5"/>
          <p:cNvSpPr/>
          <p:nvPr/>
        </p:nvSpPr>
        <p:spPr>
          <a:xfrm flipH="false" flipV="false" rot="0">
            <a:off x="11472462" y="3926746"/>
            <a:ext cx="6815538" cy="3510002"/>
          </a:xfrm>
          <a:custGeom>
            <a:avLst/>
            <a:gdLst/>
            <a:ahLst/>
            <a:cxnLst/>
            <a:rect r="r" b="b" t="t" l="l"/>
            <a:pathLst>
              <a:path h="3510002" w="6815538">
                <a:moveTo>
                  <a:pt x="0" y="0"/>
                </a:moveTo>
                <a:lnTo>
                  <a:pt x="6815538" y="0"/>
                </a:lnTo>
                <a:lnTo>
                  <a:pt x="6815538" y="3510002"/>
                </a:lnTo>
                <a:lnTo>
                  <a:pt x="0" y="3510002"/>
                </a:lnTo>
                <a:lnTo>
                  <a:pt x="0" y="0"/>
                </a:lnTo>
                <a:close/>
              </a:path>
            </a:pathLst>
          </a:custGeom>
          <a:blipFill>
            <a:blip r:embed="rId4"/>
            <a:stretch>
              <a:fillRect l="0" t="0" r="0" b="0"/>
            </a:stretch>
          </a:blipFill>
        </p:spPr>
      </p:sp>
      <p:sp>
        <p:nvSpPr>
          <p:cNvPr name="Freeform 6" id="6"/>
          <p:cNvSpPr/>
          <p:nvPr/>
        </p:nvSpPr>
        <p:spPr>
          <a:xfrm flipH="false" flipV="false" rot="0">
            <a:off x="12260029" y="5373908"/>
            <a:ext cx="4472281" cy="4125680"/>
          </a:xfrm>
          <a:custGeom>
            <a:avLst/>
            <a:gdLst/>
            <a:ahLst/>
            <a:cxnLst/>
            <a:rect r="r" b="b" t="t" l="l"/>
            <a:pathLst>
              <a:path h="4125680" w="4472281">
                <a:moveTo>
                  <a:pt x="0" y="0"/>
                </a:moveTo>
                <a:lnTo>
                  <a:pt x="4472281" y="0"/>
                </a:lnTo>
                <a:lnTo>
                  <a:pt x="4472281" y="4125679"/>
                </a:lnTo>
                <a:lnTo>
                  <a:pt x="0" y="4125679"/>
                </a:lnTo>
                <a:lnTo>
                  <a:pt x="0" y="0"/>
                </a:lnTo>
                <a:close/>
              </a:path>
            </a:pathLst>
          </a:custGeom>
          <a:blipFill>
            <a:blip r:embed="rId5"/>
            <a:stretch>
              <a:fillRect l="0" t="0" r="0" b="0"/>
            </a:stretch>
          </a:blipFill>
        </p:spPr>
      </p:sp>
      <p:sp>
        <p:nvSpPr>
          <p:cNvPr name="Freeform 7" id="7"/>
          <p:cNvSpPr/>
          <p:nvPr/>
        </p:nvSpPr>
        <p:spPr>
          <a:xfrm flipH="false" flipV="false" rot="0">
            <a:off x="13028152" y="4010484"/>
            <a:ext cx="3704159" cy="4768024"/>
          </a:xfrm>
          <a:custGeom>
            <a:avLst/>
            <a:gdLst/>
            <a:ahLst/>
            <a:cxnLst/>
            <a:rect r="r" b="b" t="t" l="l"/>
            <a:pathLst>
              <a:path h="4768024" w="3704159">
                <a:moveTo>
                  <a:pt x="0" y="0"/>
                </a:moveTo>
                <a:lnTo>
                  <a:pt x="3704158" y="0"/>
                </a:lnTo>
                <a:lnTo>
                  <a:pt x="3704158" y="4768024"/>
                </a:lnTo>
                <a:lnTo>
                  <a:pt x="0" y="4768024"/>
                </a:lnTo>
                <a:lnTo>
                  <a:pt x="0" y="0"/>
                </a:lnTo>
                <a:close/>
              </a:path>
            </a:pathLst>
          </a:custGeom>
          <a:blipFill>
            <a:blip r:embed="rId6"/>
            <a:stretch>
              <a:fillRect l="0" t="0" r="0" b="0"/>
            </a:stretch>
          </a:blipFill>
        </p:spPr>
      </p:sp>
      <p:sp>
        <p:nvSpPr>
          <p:cNvPr name="Freeform 8" id="8"/>
          <p:cNvSpPr/>
          <p:nvPr/>
        </p:nvSpPr>
        <p:spPr>
          <a:xfrm flipH="false" flipV="false" rot="0">
            <a:off x="14880231" y="6738689"/>
            <a:ext cx="2820050" cy="4079638"/>
          </a:xfrm>
          <a:custGeom>
            <a:avLst/>
            <a:gdLst/>
            <a:ahLst/>
            <a:cxnLst/>
            <a:rect r="r" b="b" t="t" l="l"/>
            <a:pathLst>
              <a:path h="4079638" w="2820050">
                <a:moveTo>
                  <a:pt x="0" y="0"/>
                </a:moveTo>
                <a:lnTo>
                  <a:pt x="2820049" y="0"/>
                </a:lnTo>
                <a:lnTo>
                  <a:pt x="2820049" y="4079637"/>
                </a:lnTo>
                <a:lnTo>
                  <a:pt x="0" y="4079637"/>
                </a:lnTo>
                <a:lnTo>
                  <a:pt x="0" y="0"/>
                </a:lnTo>
                <a:close/>
              </a:path>
            </a:pathLst>
          </a:custGeom>
          <a:blipFill>
            <a:blip r:embed="rId7"/>
            <a:stretch>
              <a:fillRect l="0" t="0" r="0" b="0"/>
            </a:stretch>
          </a:blipFill>
        </p:spPr>
      </p:sp>
      <p:grpSp>
        <p:nvGrpSpPr>
          <p:cNvPr name="Group 9" id="9"/>
          <p:cNvGrpSpPr/>
          <p:nvPr/>
        </p:nvGrpSpPr>
        <p:grpSpPr>
          <a:xfrm rot="0">
            <a:off x="14289988" y="4772735"/>
            <a:ext cx="206181" cy="20618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BE2"/>
            </a:solidFill>
          </p:spPr>
        </p:sp>
        <p:sp>
          <p:nvSpPr>
            <p:cNvPr name="TextBox 11" id="11"/>
            <p:cNvSpPr txBox="true"/>
            <p:nvPr/>
          </p:nvSpPr>
          <p:spPr>
            <a:xfrm>
              <a:off x="76200" y="-47625"/>
              <a:ext cx="660400" cy="784225"/>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4524376" y="4815044"/>
            <a:ext cx="206181" cy="206181"/>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BE2"/>
            </a:solidFill>
          </p:spPr>
        </p:sp>
        <p:sp>
          <p:nvSpPr>
            <p:cNvPr name="TextBox 14" id="14"/>
            <p:cNvSpPr txBox="true"/>
            <p:nvPr/>
          </p:nvSpPr>
          <p:spPr>
            <a:xfrm>
              <a:off x="76200" y="-47625"/>
              <a:ext cx="660400" cy="784225"/>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5284206" y="5914859"/>
            <a:ext cx="7560679" cy="5339729"/>
          </a:xfrm>
          <a:custGeom>
            <a:avLst/>
            <a:gdLst/>
            <a:ahLst/>
            <a:cxnLst/>
            <a:rect r="r" b="b" t="t" l="l"/>
            <a:pathLst>
              <a:path h="5339729" w="7560679">
                <a:moveTo>
                  <a:pt x="0" y="0"/>
                </a:moveTo>
                <a:lnTo>
                  <a:pt x="7560678" y="0"/>
                </a:lnTo>
                <a:lnTo>
                  <a:pt x="7560678" y="5339730"/>
                </a:lnTo>
                <a:lnTo>
                  <a:pt x="0" y="5339730"/>
                </a:lnTo>
                <a:lnTo>
                  <a:pt x="0" y="0"/>
                </a:lnTo>
                <a:close/>
              </a:path>
            </a:pathLst>
          </a:custGeom>
          <a:blipFill>
            <a:blip r:embed="rId8"/>
            <a:stretch>
              <a:fillRect l="0" t="0" r="0" b="0"/>
            </a:stretch>
          </a:blipFill>
        </p:spPr>
      </p:sp>
      <p:sp>
        <p:nvSpPr>
          <p:cNvPr name="Freeform 16" id="16"/>
          <p:cNvSpPr/>
          <p:nvPr/>
        </p:nvSpPr>
        <p:spPr>
          <a:xfrm flipH="false" flipV="false" rot="0">
            <a:off x="7782504" y="5681747"/>
            <a:ext cx="4477525" cy="3979400"/>
          </a:xfrm>
          <a:custGeom>
            <a:avLst/>
            <a:gdLst/>
            <a:ahLst/>
            <a:cxnLst/>
            <a:rect r="r" b="b" t="t" l="l"/>
            <a:pathLst>
              <a:path h="3979400" w="4477525">
                <a:moveTo>
                  <a:pt x="0" y="0"/>
                </a:moveTo>
                <a:lnTo>
                  <a:pt x="4477525" y="0"/>
                </a:lnTo>
                <a:lnTo>
                  <a:pt x="4477525" y="3979400"/>
                </a:lnTo>
                <a:lnTo>
                  <a:pt x="0" y="3979400"/>
                </a:lnTo>
                <a:lnTo>
                  <a:pt x="0" y="0"/>
                </a:lnTo>
                <a:close/>
              </a:path>
            </a:pathLst>
          </a:custGeom>
          <a:blipFill>
            <a:blip r:embed="rId9"/>
            <a:stretch>
              <a:fillRect l="0" t="0" r="0" b="0"/>
            </a:stretch>
          </a:blipFill>
        </p:spPr>
      </p:sp>
      <p:sp>
        <p:nvSpPr>
          <p:cNvPr name="Freeform 17" id="17"/>
          <p:cNvSpPr/>
          <p:nvPr/>
        </p:nvSpPr>
        <p:spPr>
          <a:xfrm flipH="false" flipV="false" rot="-629346">
            <a:off x="1851228" y="1392380"/>
            <a:ext cx="2965603" cy="1016921"/>
          </a:xfrm>
          <a:custGeom>
            <a:avLst/>
            <a:gdLst/>
            <a:ahLst/>
            <a:cxnLst/>
            <a:rect r="r" b="b" t="t" l="l"/>
            <a:pathLst>
              <a:path h="1016921" w="2965603">
                <a:moveTo>
                  <a:pt x="0" y="0"/>
                </a:moveTo>
                <a:lnTo>
                  <a:pt x="2965603" y="0"/>
                </a:lnTo>
                <a:lnTo>
                  <a:pt x="2965603" y="1016921"/>
                </a:lnTo>
                <a:lnTo>
                  <a:pt x="0" y="1016921"/>
                </a:lnTo>
                <a:lnTo>
                  <a:pt x="0" y="0"/>
                </a:lnTo>
                <a:close/>
              </a:path>
            </a:pathLst>
          </a:custGeom>
          <a:blipFill>
            <a:blip r:embed="rId10"/>
            <a:stretch>
              <a:fillRect l="0" t="0" r="0" b="0"/>
            </a:stretch>
          </a:blipFill>
        </p:spPr>
      </p:sp>
      <p:sp>
        <p:nvSpPr>
          <p:cNvPr name="Freeform 18" id="18"/>
          <p:cNvSpPr/>
          <p:nvPr/>
        </p:nvSpPr>
        <p:spPr>
          <a:xfrm flipH="true" flipV="false" rot="641235">
            <a:off x="-68092" y="5382167"/>
            <a:ext cx="3120858" cy="5847040"/>
          </a:xfrm>
          <a:custGeom>
            <a:avLst/>
            <a:gdLst/>
            <a:ahLst/>
            <a:cxnLst/>
            <a:rect r="r" b="b" t="t" l="l"/>
            <a:pathLst>
              <a:path h="5847040" w="3120858">
                <a:moveTo>
                  <a:pt x="3120858" y="0"/>
                </a:moveTo>
                <a:lnTo>
                  <a:pt x="0" y="0"/>
                </a:lnTo>
                <a:lnTo>
                  <a:pt x="0" y="5847040"/>
                </a:lnTo>
                <a:lnTo>
                  <a:pt x="3120858" y="5847040"/>
                </a:lnTo>
                <a:lnTo>
                  <a:pt x="3120858" y="0"/>
                </a:lnTo>
                <a:close/>
              </a:path>
            </a:pathLst>
          </a:custGeom>
          <a:blipFill>
            <a:blip r:embed="rId11"/>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FEEE5"/>
        </a:solidFill>
      </p:bgPr>
    </p:bg>
    <p:spTree>
      <p:nvGrpSpPr>
        <p:cNvPr id="1" name=""/>
        <p:cNvGrpSpPr/>
        <p:nvPr/>
      </p:nvGrpSpPr>
      <p:grpSpPr>
        <a:xfrm>
          <a:off x="0" y="0"/>
          <a:ext cx="0" cy="0"/>
          <a:chOff x="0" y="0"/>
          <a:chExt cx="0" cy="0"/>
        </a:xfrm>
      </p:grpSpPr>
      <p:sp>
        <p:nvSpPr>
          <p:cNvPr name="Freeform 2" id="2"/>
          <p:cNvSpPr/>
          <p:nvPr/>
        </p:nvSpPr>
        <p:spPr>
          <a:xfrm flipH="false" flipV="false" rot="0">
            <a:off x="156434" y="687245"/>
            <a:ext cx="2772457" cy="1443988"/>
          </a:xfrm>
          <a:custGeom>
            <a:avLst/>
            <a:gdLst/>
            <a:ahLst/>
            <a:cxnLst/>
            <a:rect r="r" b="b" t="t" l="l"/>
            <a:pathLst>
              <a:path h="1443988" w="2772457">
                <a:moveTo>
                  <a:pt x="0" y="0"/>
                </a:moveTo>
                <a:lnTo>
                  <a:pt x="2772456" y="0"/>
                </a:lnTo>
                <a:lnTo>
                  <a:pt x="2772456" y="1443988"/>
                </a:lnTo>
                <a:lnTo>
                  <a:pt x="0" y="1443988"/>
                </a:lnTo>
                <a:lnTo>
                  <a:pt x="0" y="0"/>
                </a:lnTo>
                <a:close/>
              </a:path>
            </a:pathLst>
          </a:custGeom>
          <a:blipFill>
            <a:blip r:embed="rId2"/>
            <a:stretch>
              <a:fillRect l="0" t="0" r="0" b="0"/>
            </a:stretch>
          </a:blipFill>
        </p:spPr>
      </p:sp>
      <p:sp>
        <p:nvSpPr>
          <p:cNvPr name="Freeform 3" id="3"/>
          <p:cNvSpPr/>
          <p:nvPr/>
        </p:nvSpPr>
        <p:spPr>
          <a:xfrm flipH="false" flipV="false" rot="0">
            <a:off x="7776132" y="2643596"/>
            <a:ext cx="8037866" cy="2028246"/>
          </a:xfrm>
          <a:custGeom>
            <a:avLst/>
            <a:gdLst/>
            <a:ahLst/>
            <a:cxnLst/>
            <a:rect r="r" b="b" t="t" l="l"/>
            <a:pathLst>
              <a:path h="2028246" w="8037866">
                <a:moveTo>
                  <a:pt x="0" y="0"/>
                </a:moveTo>
                <a:lnTo>
                  <a:pt x="8037866" y="0"/>
                </a:lnTo>
                <a:lnTo>
                  <a:pt x="8037866" y="2028246"/>
                </a:lnTo>
                <a:lnTo>
                  <a:pt x="0" y="2028246"/>
                </a:lnTo>
                <a:lnTo>
                  <a:pt x="0" y="0"/>
                </a:lnTo>
                <a:close/>
              </a:path>
            </a:pathLst>
          </a:custGeom>
          <a:blipFill>
            <a:blip r:embed="rId3"/>
            <a:stretch>
              <a:fillRect l="0" t="0" r="0" b="0"/>
            </a:stretch>
          </a:blipFill>
        </p:spPr>
      </p:sp>
      <p:sp>
        <p:nvSpPr>
          <p:cNvPr name="Freeform 4" id="4"/>
          <p:cNvSpPr/>
          <p:nvPr/>
        </p:nvSpPr>
        <p:spPr>
          <a:xfrm flipH="false" flipV="false" rot="0">
            <a:off x="156434" y="171537"/>
            <a:ext cx="6256014" cy="9943926"/>
          </a:xfrm>
          <a:custGeom>
            <a:avLst/>
            <a:gdLst/>
            <a:ahLst/>
            <a:cxnLst/>
            <a:rect r="r" b="b" t="t" l="l"/>
            <a:pathLst>
              <a:path h="9943926" w="6256014">
                <a:moveTo>
                  <a:pt x="0" y="0"/>
                </a:moveTo>
                <a:lnTo>
                  <a:pt x="6256013" y="0"/>
                </a:lnTo>
                <a:lnTo>
                  <a:pt x="6256013" y="9943926"/>
                </a:lnTo>
                <a:lnTo>
                  <a:pt x="0" y="9943926"/>
                </a:lnTo>
                <a:lnTo>
                  <a:pt x="0" y="0"/>
                </a:lnTo>
                <a:close/>
              </a:path>
            </a:pathLst>
          </a:custGeom>
          <a:blipFill>
            <a:blip r:embed="rId4"/>
            <a:stretch>
              <a:fillRect l="0" t="0" r="0" b="0"/>
            </a:stretch>
          </a:blipFill>
        </p:spPr>
      </p:sp>
      <p:sp>
        <p:nvSpPr>
          <p:cNvPr name="Freeform 5" id="5"/>
          <p:cNvSpPr/>
          <p:nvPr/>
        </p:nvSpPr>
        <p:spPr>
          <a:xfrm flipH="false" flipV="false" rot="0">
            <a:off x="7776132" y="4805192"/>
            <a:ext cx="8037866" cy="2115983"/>
          </a:xfrm>
          <a:custGeom>
            <a:avLst/>
            <a:gdLst/>
            <a:ahLst/>
            <a:cxnLst/>
            <a:rect r="r" b="b" t="t" l="l"/>
            <a:pathLst>
              <a:path h="2115983" w="8037866">
                <a:moveTo>
                  <a:pt x="0" y="0"/>
                </a:moveTo>
                <a:lnTo>
                  <a:pt x="8037866" y="0"/>
                </a:lnTo>
                <a:lnTo>
                  <a:pt x="8037866" y="2115984"/>
                </a:lnTo>
                <a:lnTo>
                  <a:pt x="0" y="2115984"/>
                </a:lnTo>
                <a:lnTo>
                  <a:pt x="0" y="0"/>
                </a:lnTo>
                <a:close/>
              </a:path>
            </a:pathLst>
          </a:custGeom>
          <a:blipFill>
            <a:blip r:embed="rId5"/>
            <a:stretch>
              <a:fillRect l="0" t="-1763" r="0" b="-1763"/>
            </a:stretch>
          </a:blipFill>
        </p:spPr>
      </p:sp>
      <p:sp>
        <p:nvSpPr>
          <p:cNvPr name="TextBox 6" id="6"/>
          <p:cNvSpPr txBox="true"/>
          <p:nvPr/>
        </p:nvSpPr>
        <p:spPr>
          <a:xfrm rot="0">
            <a:off x="6772909" y="617330"/>
            <a:ext cx="10486391" cy="1774317"/>
          </a:xfrm>
          <a:prstGeom prst="rect">
            <a:avLst/>
          </a:prstGeom>
        </p:spPr>
        <p:txBody>
          <a:bodyPr anchor="t" rtlCol="false" tIns="0" lIns="0" bIns="0" rIns="0">
            <a:spAutoFit/>
          </a:bodyPr>
          <a:lstStyle/>
          <a:p>
            <a:pPr algn="ctr">
              <a:lnSpc>
                <a:spcPts val="6788"/>
              </a:lnSpc>
            </a:pPr>
            <a:r>
              <a:rPr lang="en-US" sz="7299">
                <a:solidFill>
                  <a:srgbClr val="556BA0"/>
                </a:solidFill>
                <a:latin typeface="TDTD가시고딕"/>
                <a:ea typeface="TDTD가시고딕"/>
                <a:cs typeface="TDTD가시고딕"/>
                <a:sym typeface="TDTD가시고딕"/>
              </a:rPr>
              <a:t>Descriptive statistics— Singapore</a:t>
            </a:r>
          </a:p>
        </p:txBody>
      </p:sp>
      <p:sp>
        <p:nvSpPr>
          <p:cNvPr name="TextBox 7" id="7"/>
          <p:cNvSpPr txBox="true"/>
          <p:nvPr/>
        </p:nvSpPr>
        <p:spPr>
          <a:xfrm rot="0">
            <a:off x="7518739" y="7461266"/>
            <a:ext cx="8994732" cy="2406015"/>
          </a:xfrm>
          <a:prstGeom prst="rect">
            <a:avLst/>
          </a:prstGeom>
        </p:spPr>
        <p:txBody>
          <a:bodyPr anchor="t" rtlCol="false" tIns="0" lIns="0" bIns="0" rIns="0">
            <a:spAutoFit/>
          </a:bodyPr>
          <a:lstStyle/>
          <a:p>
            <a:pPr algn="just" marL="777238" indent="-388619" lvl="1">
              <a:lnSpc>
                <a:spcPts val="4499"/>
              </a:lnSpc>
              <a:buFont typeface="Arial"/>
              <a:buChar char="•"/>
            </a:pPr>
            <a:r>
              <a:rPr lang="en-US" sz="3599">
                <a:solidFill>
                  <a:srgbClr val="556BA0"/>
                </a:solidFill>
                <a:latin typeface="イワタ福まるご"/>
                <a:ea typeface="イワタ福まるご"/>
                <a:cs typeface="イワタ福まるご"/>
                <a:sym typeface="イワタ福まるご"/>
              </a:rPr>
              <a:t>Sa</a:t>
            </a:r>
            <a:r>
              <a:rPr lang="en-US" sz="3599">
                <a:solidFill>
                  <a:srgbClr val="556BA0"/>
                </a:solidFill>
                <a:latin typeface="イワタ福まるご"/>
                <a:ea typeface="イワタ福まるご"/>
                <a:cs typeface="イワタ福まるご"/>
                <a:sym typeface="イワタ福まるご"/>
              </a:rPr>
              <a:t>mple size：N = 2,012</a:t>
            </a:r>
          </a:p>
          <a:p>
            <a:pPr algn="just" marL="777238" indent="-388619" lvl="1">
              <a:lnSpc>
                <a:spcPts val="4499"/>
              </a:lnSpc>
              <a:buFont typeface="Arial"/>
              <a:buChar char="•"/>
            </a:pPr>
            <a:r>
              <a:rPr lang="en-US" sz="3599">
                <a:solidFill>
                  <a:srgbClr val="556BA0"/>
                </a:solidFill>
                <a:latin typeface="イワタ福まるご"/>
                <a:ea typeface="イワタ福まるご"/>
                <a:cs typeface="イワタ福まるご"/>
                <a:sym typeface="イワタ福まるご"/>
              </a:rPr>
              <a:t>Gender: 54.08% women，45.92% men</a:t>
            </a:r>
          </a:p>
          <a:p>
            <a:pPr algn="just">
              <a:lnSpc>
                <a:spcPts val="4499"/>
              </a:lnSpc>
            </a:pPr>
          </a:p>
          <a:p>
            <a:pPr algn="just">
              <a:lnSpc>
                <a:spcPts val="4499"/>
              </a:lnSpc>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FEEE5"/>
        </a:solidFill>
      </p:bgPr>
    </p:bg>
    <p:spTree>
      <p:nvGrpSpPr>
        <p:cNvPr id="1" name=""/>
        <p:cNvGrpSpPr/>
        <p:nvPr/>
      </p:nvGrpSpPr>
      <p:grpSpPr>
        <a:xfrm>
          <a:off x="0" y="0"/>
          <a:ext cx="0" cy="0"/>
          <a:chOff x="0" y="0"/>
          <a:chExt cx="0" cy="0"/>
        </a:xfrm>
      </p:grpSpPr>
      <p:sp>
        <p:nvSpPr>
          <p:cNvPr name="TextBox 2" id="2"/>
          <p:cNvSpPr txBox="true"/>
          <p:nvPr/>
        </p:nvSpPr>
        <p:spPr>
          <a:xfrm rot="0">
            <a:off x="1296667" y="877745"/>
            <a:ext cx="14472942" cy="917067"/>
          </a:xfrm>
          <a:prstGeom prst="rect">
            <a:avLst/>
          </a:prstGeom>
        </p:spPr>
        <p:txBody>
          <a:bodyPr anchor="t" rtlCol="false" tIns="0" lIns="0" bIns="0" rIns="0">
            <a:spAutoFit/>
          </a:bodyPr>
          <a:lstStyle/>
          <a:p>
            <a:pPr algn="ctr">
              <a:lnSpc>
                <a:spcPts val="6788"/>
              </a:lnSpc>
            </a:pPr>
            <a:r>
              <a:rPr lang="en-US" sz="7299">
                <a:solidFill>
                  <a:srgbClr val="556BA0"/>
                </a:solidFill>
                <a:latin typeface="TDTD가시고딕"/>
                <a:ea typeface="TDTD가시고딕"/>
                <a:cs typeface="TDTD가시고딕"/>
                <a:sym typeface="TDTD가시고딕"/>
              </a:rPr>
              <a:t>Correlation — Singapore</a:t>
            </a:r>
          </a:p>
        </p:txBody>
      </p:sp>
      <p:sp>
        <p:nvSpPr>
          <p:cNvPr name="Freeform 3" id="3"/>
          <p:cNvSpPr/>
          <p:nvPr/>
        </p:nvSpPr>
        <p:spPr>
          <a:xfrm flipH="false" flipV="false" rot="0">
            <a:off x="156434" y="687245"/>
            <a:ext cx="2772457" cy="1443988"/>
          </a:xfrm>
          <a:custGeom>
            <a:avLst/>
            <a:gdLst/>
            <a:ahLst/>
            <a:cxnLst/>
            <a:rect r="r" b="b" t="t" l="l"/>
            <a:pathLst>
              <a:path h="1443988" w="2772457">
                <a:moveTo>
                  <a:pt x="0" y="0"/>
                </a:moveTo>
                <a:lnTo>
                  <a:pt x="2772456" y="0"/>
                </a:lnTo>
                <a:lnTo>
                  <a:pt x="2772456" y="1443988"/>
                </a:lnTo>
                <a:lnTo>
                  <a:pt x="0" y="1443988"/>
                </a:lnTo>
                <a:lnTo>
                  <a:pt x="0" y="0"/>
                </a:lnTo>
                <a:close/>
              </a:path>
            </a:pathLst>
          </a:custGeom>
          <a:blipFill>
            <a:blip r:embed="rId2"/>
            <a:stretch>
              <a:fillRect l="0" t="0" r="0" b="0"/>
            </a:stretch>
          </a:blipFill>
        </p:spPr>
      </p:sp>
      <p:sp>
        <p:nvSpPr>
          <p:cNvPr name="Freeform 4" id="4"/>
          <p:cNvSpPr/>
          <p:nvPr/>
        </p:nvSpPr>
        <p:spPr>
          <a:xfrm flipH="false" flipV="false" rot="0">
            <a:off x="1729722" y="2586742"/>
            <a:ext cx="15702286" cy="4043339"/>
          </a:xfrm>
          <a:custGeom>
            <a:avLst/>
            <a:gdLst/>
            <a:ahLst/>
            <a:cxnLst/>
            <a:rect r="r" b="b" t="t" l="l"/>
            <a:pathLst>
              <a:path h="4043339" w="15702286">
                <a:moveTo>
                  <a:pt x="0" y="0"/>
                </a:moveTo>
                <a:lnTo>
                  <a:pt x="15702286" y="0"/>
                </a:lnTo>
                <a:lnTo>
                  <a:pt x="15702286" y="4043339"/>
                </a:lnTo>
                <a:lnTo>
                  <a:pt x="0" y="4043339"/>
                </a:lnTo>
                <a:lnTo>
                  <a:pt x="0" y="0"/>
                </a:lnTo>
                <a:close/>
              </a:path>
            </a:pathLst>
          </a:custGeom>
          <a:blipFill>
            <a:blip r:embed="rId3"/>
            <a:stretch>
              <a:fillRect l="0" t="0" r="0" b="0"/>
            </a:stretch>
          </a:blipFill>
        </p:spPr>
      </p:sp>
      <p:grpSp>
        <p:nvGrpSpPr>
          <p:cNvPr name="Group 5" id="5"/>
          <p:cNvGrpSpPr/>
          <p:nvPr/>
        </p:nvGrpSpPr>
        <p:grpSpPr>
          <a:xfrm rot="0">
            <a:off x="4530558" y="3414366"/>
            <a:ext cx="792625" cy="497339"/>
            <a:chOff x="0" y="0"/>
            <a:chExt cx="208757" cy="130986"/>
          </a:xfrm>
        </p:grpSpPr>
        <p:sp>
          <p:nvSpPr>
            <p:cNvPr name="Freeform 6" id="6"/>
            <p:cNvSpPr/>
            <p:nvPr/>
          </p:nvSpPr>
          <p:spPr>
            <a:xfrm flipH="false" flipV="false" rot="0">
              <a:off x="0" y="0"/>
              <a:ext cx="208757" cy="130986"/>
            </a:xfrm>
            <a:custGeom>
              <a:avLst/>
              <a:gdLst/>
              <a:ahLst/>
              <a:cxnLst/>
              <a:rect r="r" b="b" t="t" l="l"/>
              <a:pathLst>
                <a:path h="130986" w="208757">
                  <a:moveTo>
                    <a:pt x="65493" y="0"/>
                  </a:moveTo>
                  <a:lnTo>
                    <a:pt x="143264" y="0"/>
                  </a:lnTo>
                  <a:cubicBezTo>
                    <a:pt x="179435" y="0"/>
                    <a:pt x="208757" y="29322"/>
                    <a:pt x="208757" y="65493"/>
                  </a:cubicBezTo>
                  <a:lnTo>
                    <a:pt x="208757" y="65493"/>
                  </a:lnTo>
                  <a:cubicBezTo>
                    <a:pt x="208757" y="101664"/>
                    <a:pt x="179435" y="130986"/>
                    <a:pt x="143264" y="130986"/>
                  </a:cubicBezTo>
                  <a:lnTo>
                    <a:pt x="65493" y="130986"/>
                  </a:lnTo>
                  <a:cubicBezTo>
                    <a:pt x="29322" y="130986"/>
                    <a:pt x="0" y="101664"/>
                    <a:pt x="0" y="65493"/>
                  </a:cubicBezTo>
                  <a:lnTo>
                    <a:pt x="0" y="65493"/>
                  </a:lnTo>
                  <a:cubicBezTo>
                    <a:pt x="0" y="29322"/>
                    <a:pt x="29322" y="0"/>
                    <a:pt x="65493" y="0"/>
                  </a:cubicBezTo>
                  <a:close/>
                </a:path>
              </a:pathLst>
            </a:custGeom>
            <a:ln w="57150" cap="sq">
              <a:solidFill>
                <a:srgbClr val="3872E0"/>
              </a:solidFill>
              <a:prstDash val="solid"/>
              <a:miter/>
            </a:ln>
          </p:spPr>
        </p:sp>
        <p:sp>
          <p:nvSpPr>
            <p:cNvPr name="TextBox 7" id="7"/>
            <p:cNvSpPr txBox="true"/>
            <p:nvPr/>
          </p:nvSpPr>
          <p:spPr>
            <a:xfrm>
              <a:off x="0" y="-123825"/>
              <a:ext cx="208757" cy="254811"/>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1071855" y="4111072"/>
            <a:ext cx="792625" cy="497339"/>
            <a:chOff x="0" y="0"/>
            <a:chExt cx="208757" cy="130986"/>
          </a:xfrm>
        </p:grpSpPr>
        <p:sp>
          <p:nvSpPr>
            <p:cNvPr name="Freeform 9" id="9"/>
            <p:cNvSpPr/>
            <p:nvPr/>
          </p:nvSpPr>
          <p:spPr>
            <a:xfrm flipH="false" flipV="false" rot="0">
              <a:off x="0" y="0"/>
              <a:ext cx="208757" cy="130986"/>
            </a:xfrm>
            <a:custGeom>
              <a:avLst/>
              <a:gdLst/>
              <a:ahLst/>
              <a:cxnLst/>
              <a:rect r="r" b="b" t="t" l="l"/>
              <a:pathLst>
                <a:path h="130986" w="208757">
                  <a:moveTo>
                    <a:pt x="65493" y="0"/>
                  </a:moveTo>
                  <a:lnTo>
                    <a:pt x="143264" y="0"/>
                  </a:lnTo>
                  <a:cubicBezTo>
                    <a:pt x="179435" y="0"/>
                    <a:pt x="208757" y="29322"/>
                    <a:pt x="208757" y="65493"/>
                  </a:cubicBezTo>
                  <a:lnTo>
                    <a:pt x="208757" y="65493"/>
                  </a:lnTo>
                  <a:cubicBezTo>
                    <a:pt x="208757" y="101664"/>
                    <a:pt x="179435" y="130986"/>
                    <a:pt x="143264" y="130986"/>
                  </a:cubicBezTo>
                  <a:lnTo>
                    <a:pt x="65493" y="130986"/>
                  </a:lnTo>
                  <a:cubicBezTo>
                    <a:pt x="29322" y="130986"/>
                    <a:pt x="0" y="101664"/>
                    <a:pt x="0" y="65493"/>
                  </a:cubicBezTo>
                  <a:lnTo>
                    <a:pt x="0" y="65493"/>
                  </a:lnTo>
                  <a:cubicBezTo>
                    <a:pt x="0" y="29322"/>
                    <a:pt x="29322" y="0"/>
                    <a:pt x="65493" y="0"/>
                  </a:cubicBezTo>
                  <a:close/>
                </a:path>
              </a:pathLst>
            </a:custGeom>
            <a:ln w="57150" cap="sq">
              <a:solidFill>
                <a:srgbClr val="3872E0"/>
              </a:solidFill>
              <a:prstDash val="solid"/>
              <a:miter/>
            </a:ln>
          </p:spPr>
        </p:sp>
        <p:sp>
          <p:nvSpPr>
            <p:cNvPr name="TextBox 10" id="10"/>
            <p:cNvSpPr txBox="true"/>
            <p:nvPr/>
          </p:nvSpPr>
          <p:spPr>
            <a:xfrm>
              <a:off x="0" y="-123825"/>
              <a:ext cx="208757" cy="254811"/>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2002277" y="4111072"/>
            <a:ext cx="792625" cy="497339"/>
            <a:chOff x="0" y="0"/>
            <a:chExt cx="208757" cy="130986"/>
          </a:xfrm>
        </p:grpSpPr>
        <p:sp>
          <p:nvSpPr>
            <p:cNvPr name="Freeform 12" id="12"/>
            <p:cNvSpPr/>
            <p:nvPr/>
          </p:nvSpPr>
          <p:spPr>
            <a:xfrm flipH="false" flipV="false" rot="0">
              <a:off x="0" y="0"/>
              <a:ext cx="208757" cy="130986"/>
            </a:xfrm>
            <a:custGeom>
              <a:avLst/>
              <a:gdLst/>
              <a:ahLst/>
              <a:cxnLst/>
              <a:rect r="r" b="b" t="t" l="l"/>
              <a:pathLst>
                <a:path h="130986" w="208757">
                  <a:moveTo>
                    <a:pt x="65493" y="0"/>
                  </a:moveTo>
                  <a:lnTo>
                    <a:pt x="143264" y="0"/>
                  </a:lnTo>
                  <a:cubicBezTo>
                    <a:pt x="179435" y="0"/>
                    <a:pt x="208757" y="29322"/>
                    <a:pt x="208757" y="65493"/>
                  </a:cubicBezTo>
                  <a:lnTo>
                    <a:pt x="208757" y="65493"/>
                  </a:lnTo>
                  <a:cubicBezTo>
                    <a:pt x="208757" y="101664"/>
                    <a:pt x="179435" y="130986"/>
                    <a:pt x="143264" y="130986"/>
                  </a:cubicBezTo>
                  <a:lnTo>
                    <a:pt x="65493" y="130986"/>
                  </a:lnTo>
                  <a:cubicBezTo>
                    <a:pt x="29322" y="130986"/>
                    <a:pt x="0" y="101664"/>
                    <a:pt x="0" y="65493"/>
                  </a:cubicBezTo>
                  <a:lnTo>
                    <a:pt x="0" y="65493"/>
                  </a:lnTo>
                  <a:cubicBezTo>
                    <a:pt x="0" y="29322"/>
                    <a:pt x="29322" y="0"/>
                    <a:pt x="65493" y="0"/>
                  </a:cubicBezTo>
                  <a:close/>
                </a:path>
              </a:pathLst>
            </a:custGeom>
            <a:ln w="57150" cap="sq">
              <a:solidFill>
                <a:srgbClr val="3872E0"/>
              </a:solidFill>
              <a:prstDash val="solid"/>
              <a:miter/>
            </a:ln>
          </p:spPr>
        </p:sp>
        <p:sp>
          <p:nvSpPr>
            <p:cNvPr name="TextBox 13" id="13"/>
            <p:cNvSpPr txBox="true"/>
            <p:nvPr/>
          </p:nvSpPr>
          <p:spPr>
            <a:xfrm>
              <a:off x="0" y="-123825"/>
              <a:ext cx="208757" cy="254811"/>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1028700" y="7228811"/>
            <a:ext cx="10761598" cy="605340"/>
          </a:xfrm>
          <a:custGeom>
            <a:avLst/>
            <a:gdLst/>
            <a:ahLst/>
            <a:cxnLst/>
            <a:rect r="r" b="b" t="t" l="l"/>
            <a:pathLst>
              <a:path h="605340" w="10761598">
                <a:moveTo>
                  <a:pt x="0" y="0"/>
                </a:moveTo>
                <a:lnTo>
                  <a:pt x="10761598" y="0"/>
                </a:lnTo>
                <a:lnTo>
                  <a:pt x="10761598" y="605340"/>
                </a:lnTo>
                <a:lnTo>
                  <a:pt x="0" y="605340"/>
                </a:lnTo>
                <a:lnTo>
                  <a:pt x="0" y="0"/>
                </a:lnTo>
                <a:close/>
              </a:path>
            </a:pathLst>
          </a:custGeom>
          <a:blipFill>
            <a:blip r:embed="rId4"/>
            <a:stretch>
              <a:fillRect l="0" t="0" r="0" b="0"/>
            </a:stretch>
          </a:blipFill>
        </p:spPr>
      </p:sp>
      <p:sp>
        <p:nvSpPr>
          <p:cNvPr name="Freeform 15" id="15"/>
          <p:cNvSpPr/>
          <p:nvPr/>
        </p:nvSpPr>
        <p:spPr>
          <a:xfrm flipH="false" flipV="false" rot="0">
            <a:off x="1028700" y="8291351"/>
            <a:ext cx="10696053" cy="825419"/>
          </a:xfrm>
          <a:custGeom>
            <a:avLst/>
            <a:gdLst/>
            <a:ahLst/>
            <a:cxnLst/>
            <a:rect r="r" b="b" t="t" l="l"/>
            <a:pathLst>
              <a:path h="825419" w="10696053">
                <a:moveTo>
                  <a:pt x="0" y="0"/>
                </a:moveTo>
                <a:lnTo>
                  <a:pt x="10696053" y="0"/>
                </a:lnTo>
                <a:lnTo>
                  <a:pt x="10696053" y="825419"/>
                </a:lnTo>
                <a:lnTo>
                  <a:pt x="0" y="825419"/>
                </a:lnTo>
                <a:lnTo>
                  <a:pt x="0" y="0"/>
                </a:lnTo>
                <a:close/>
              </a:path>
            </a:pathLst>
          </a:custGeom>
          <a:blipFill>
            <a:blip r:embed="rId5"/>
            <a:stretch>
              <a:fillRect l="0" t="0" r="0" b="0"/>
            </a:stretch>
          </a:blipFill>
        </p:spPr>
      </p:sp>
      <p:sp>
        <p:nvSpPr>
          <p:cNvPr name="TextBox 16" id="16"/>
          <p:cNvSpPr txBox="true"/>
          <p:nvPr/>
        </p:nvSpPr>
        <p:spPr>
          <a:xfrm rot="0">
            <a:off x="11468167" y="6852285"/>
            <a:ext cx="6568393" cy="2406015"/>
          </a:xfrm>
          <a:prstGeom prst="rect">
            <a:avLst/>
          </a:prstGeom>
        </p:spPr>
        <p:txBody>
          <a:bodyPr anchor="t" rtlCol="false" tIns="0" lIns="0" bIns="0" rIns="0">
            <a:spAutoFit/>
          </a:bodyPr>
          <a:lstStyle/>
          <a:p>
            <a:pPr algn="l" marL="777238" indent="-388619" lvl="1">
              <a:lnSpc>
                <a:spcPts val="4499"/>
              </a:lnSpc>
              <a:buFont typeface="Arial"/>
              <a:buChar char="•"/>
            </a:pPr>
            <a:r>
              <a:rPr lang="en-US" sz="3599">
                <a:solidFill>
                  <a:srgbClr val="556BA0"/>
                </a:solidFill>
                <a:latin typeface="イワタ福まるご"/>
                <a:ea typeface="イワタ福まるご"/>
                <a:cs typeface="イワタ福まるご"/>
                <a:sym typeface="イワタ福まるご"/>
              </a:rPr>
              <a:t>harassment–security relationship is relatively weak, but statistically significant</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FEEE5"/>
        </a:solidFill>
      </p:bgPr>
    </p:bg>
    <p:spTree>
      <p:nvGrpSpPr>
        <p:cNvPr id="1" name=""/>
        <p:cNvGrpSpPr/>
        <p:nvPr/>
      </p:nvGrpSpPr>
      <p:grpSpPr>
        <a:xfrm>
          <a:off x="0" y="0"/>
          <a:ext cx="0" cy="0"/>
          <a:chOff x="0" y="0"/>
          <a:chExt cx="0" cy="0"/>
        </a:xfrm>
      </p:grpSpPr>
      <p:sp>
        <p:nvSpPr>
          <p:cNvPr name="Freeform 2" id="2"/>
          <p:cNvSpPr/>
          <p:nvPr/>
        </p:nvSpPr>
        <p:spPr>
          <a:xfrm flipH="false" flipV="false" rot="0">
            <a:off x="13913442" y="846409"/>
            <a:ext cx="2965603" cy="1016921"/>
          </a:xfrm>
          <a:custGeom>
            <a:avLst/>
            <a:gdLst/>
            <a:ahLst/>
            <a:cxnLst/>
            <a:rect r="r" b="b" t="t" l="l"/>
            <a:pathLst>
              <a:path h="1016921" w="2965603">
                <a:moveTo>
                  <a:pt x="0" y="0"/>
                </a:moveTo>
                <a:lnTo>
                  <a:pt x="2965603" y="0"/>
                </a:lnTo>
                <a:lnTo>
                  <a:pt x="2965603" y="1016922"/>
                </a:lnTo>
                <a:lnTo>
                  <a:pt x="0" y="1016922"/>
                </a:lnTo>
                <a:lnTo>
                  <a:pt x="0" y="0"/>
                </a:lnTo>
                <a:close/>
              </a:path>
            </a:pathLst>
          </a:custGeom>
          <a:blipFill>
            <a:blip r:embed="rId2"/>
            <a:stretch>
              <a:fillRect l="0" t="0" r="0" b="0"/>
            </a:stretch>
          </a:blipFill>
        </p:spPr>
      </p:sp>
      <p:sp>
        <p:nvSpPr>
          <p:cNvPr name="Freeform 3" id="3"/>
          <p:cNvSpPr/>
          <p:nvPr/>
        </p:nvSpPr>
        <p:spPr>
          <a:xfrm flipH="false" flipV="false" rot="0">
            <a:off x="8805234" y="2251951"/>
            <a:ext cx="9004230" cy="6845177"/>
          </a:xfrm>
          <a:custGeom>
            <a:avLst/>
            <a:gdLst/>
            <a:ahLst/>
            <a:cxnLst/>
            <a:rect r="r" b="b" t="t" l="l"/>
            <a:pathLst>
              <a:path h="6845177" w="9004230">
                <a:moveTo>
                  <a:pt x="0" y="0"/>
                </a:moveTo>
                <a:lnTo>
                  <a:pt x="9004229" y="0"/>
                </a:lnTo>
                <a:lnTo>
                  <a:pt x="9004229" y="6845177"/>
                </a:lnTo>
                <a:lnTo>
                  <a:pt x="0" y="6845177"/>
                </a:lnTo>
                <a:lnTo>
                  <a:pt x="0" y="0"/>
                </a:lnTo>
                <a:close/>
              </a:path>
            </a:pathLst>
          </a:custGeom>
          <a:blipFill>
            <a:blip r:embed="rId3"/>
            <a:stretch>
              <a:fillRect l="0" t="0" r="0" b="0"/>
            </a:stretch>
          </a:blipFill>
        </p:spPr>
      </p:sp>
      <p:sp>
        <p:nvSpPr>
          <p:cNvPr name="TextBox 4" id="4"/>
          <p:cNvSpPr txBox="true"/>
          <p:nvPr/>
        </p:nvSpPr>
        <p:spPr>
          <a:xfrm rot="0">
            <a:off x="1028700" y="836535"/>
            <a:ext cx="9423900" cy="1026796"/>
          </a:xfrm>
          <a:prstGeom prst="rect">
            <a:avLst/>
          </a:prstGeom>
        </p:spPr>
        <p:txBody>
          <a:bodyPr anchor="t" rtlCol="false" tIns="0" lIns="0" bIns="0" rIns="0">
            <a:spAutoFit/>
          </a:bodyPr>
          <a:lstStyle/>
          <a:p>
            <a:pPr algn="ctr">
              <a:lnSpc>
                <a:spcPts val="7440"/>
              </a:lnSpc>
            </a:pPr>
            <a:r>
              <a:rPr lang="en-US" sz="8000">
                <a:solidFill>
                  <a:srgbClr val="556BA0"/>
                </a:solidFill>
                <a:latin typeface="TDTD가시고딕"/>
                <a:ea typeface="TDTD가시고딕"/>
                <a:cs typeface="TDTD가시고딕"/>
                <a:sym typeface="TDTD가시고딕"/>
              </a:rPr>
              <a:t>Data Visualization</a:t>
            </a:r>
          </a:p>
        </p:txBody>
      </p:sp>
      <p:sp>
        <p:nvSpPr>
          <p:cNvPr name="TextBox 5" id="5"/>
          <p:cNvSpPr txBox="true"/>
          <p:nvPr/>
        </p:nvSpPr>
        <p:spPr>
          <a:xfrm rot="0">
            <a:off x="352982" y="2053831"/>
            <a:ext cx="6788790" cy="1026796"/>
          </a:xfrm>
          <a:prstGeom prst="rect">
            <a:avLst/>
          </a:prstGeom>
        </p:spPr>
        <p:txBody>
          <a:bodyPr anchor="t" rtlCol="false" tIns="0" lIns="0" bIns="0" rIns="0">
            <a:spAutoFit/>
          </a:bodyPr>
          <a:lstStyle/>
          <a:p>
            <a:pPr algn="ctr">
              <a:lnSpc>
                <a:spcPts val="7440"/>
              </a:lnSpc>
            </a:pPr>
            <a:r>
              <a:rPr lang="en-US" sz="8000">
                <a:solidFill>
                  <a:srgbClr val="556BA0"/>
                </a:solidFill>
                <a:latin typeface="TDTD가시고딕"/>
                <a:ea typeface="TDTD가시고딕"/>
                <a:cs typeface="TDTD가시고딕"/>
                <a:sym typeface="TDTD가시고딕"/>
              </a:rPr>
              <a:t>Heat map</a:t>
            </a:r>
          </a:p>
        </p:txBody>
      </p:sp>
      <p:sp>
        <p:nvSpPr>
          <p:cNvPr name="TextBox 6" id="6"/>
          <p:cNvSpPr txBox="true"/>
          <p:nvPr/>
        </p:nvSpPr>
        <p:spPr>
          <a:xfrm rot="0">
            <a:off x="1206701" y="3260792"/>
            <a:ext cx="7059036" cy="5683250"/>
          </a:xfrm>
          <a:prstGeom prst="rect">
            <a:avLst/>
          </a:prstGeom>
        </p:spPr>
        <p:txBody>
          <a:bodyPr anchor="t" rtlCol="false" tIns="0" lIns="0" bIns="0" rIns="0">
            <a:spAutoFit/>
          </a:bodyPr>
          <a:lstStyle/>
          <a:p>
            <a:pPr algn="l" marL="755651" indent="-377825" lvl="1">
              <a:lnSpc>
                <a:spcPts val="4375"/>
              </a:lnSpc>
              <a:buFont typeface="Arial"/>
              <a:buChar char="•"/>
            </a:pPr>
            <a:r>
              <a:rPr lang="en-US" sz="3500">
                <a:solidFill>
                  <a:srgbClr val="556BA0"/>
                </a:solidFill>
                <a:latin typeface="イワタ福まるご"/>
                <a:ea typeface="イワタ福まるご"/>
                <a:cs typeface="イワタ福まるご"/>
                <a:sym typeface="イワタ福まるご"/>
              </a:rPr>
              <a:t>Darker colors indicate lower proportions, while colors closer to yellow indicate higher proportions.</a:t>
            </a:r>
          </a:p>
          <a:p>
            <a:pPr algn="l">
              <a:lnSpc>
                <a:spcPts val="4375"/>
              </a:lnSpc>
            </a:pPr>
          </a:p>
          <a:p>
            <a:pPr algn="l">
              <a:lnSpc>
                <a:spcPts val="4375"/>
              </a:lnSpc>
            </a:pPr>
            <a:r>
              <a:rPr lang="en-US" sz="3500">
                <a:solidFill>
                  <a:srgbClr val="556BA0"/>
                </a:solidFill>
                <a:latin typeface="イワタ福まるご"/>
                <a:ea typeface="イワタ福まるご"/>
                <a:cs typeface="イワタ福まるご"/>
                <a:sym typeface="イワタ福まるご"/>
              </a:rPr>
              <a:t>↓perceived frequency</a:t>
            </a:r>
          </a:p>
          <a:p>
            <a:pPr algn="l">
              <a:lnSpc>
                <a:spcPts val="4375"/>
              </a:lnSpc>
            </a:pPr>
            <a:r>
              <a:rPr lang="en-US" sz="3500">
                <a:solidFill>
                  <a:srgbClr val="556BA0"/>
                </a:solidFill>
                <a:latin typeface="イワタ福まるご"/>
                <a:ea typeface="イワタ福まるご"/>
                <a:cs typeface="イワタ福まるご"/>
                <a:sym typeface="イワタ福まるご"/>
              </a:rPr>
              <a:t>↑subjective security score</a:t>
            </a:r>
          </a:p>
          <a:p>
            <a:pPr algn="l" marL="755651" indent="-377825" lvl="1">
              <a:lnSpc>
                <a:spcPts val="4375"/>
              </a:lnSpc>
              <a:buFont typeface="Arial"/>
              <a:buChar char="•"/>
            </a:pPr>
            <a:r>
              <a:rPr lang="en-US" sz="3500">
                <a:solidFill>
                  <a:srgbClr val="556BA0"/>
                </a:solidFill>
                <a:latin typeface="イワタ福まるご"/>
                <a:ea typeface="イワタ福まるご"/>
                <a:cs typeface="イワタ福まるご"/>
                <a:sym typeface="イワタ福まるご"/>
              </a:rPr>
              <a:t>A negative association between perceived harassment frequency and subjective security.</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FEEE5"/>
        </a:solidFill>
      </p:bgPr>
    </p:bg>
    <p:spTree>
      <p:nvGrpSpPr>
        <p:cNvPr id="1" name=""/>
        <p:cNvGrpSpPr/>
        <p:nvPr/>
      </p:nvGrpSpPr>
      <p:grpSpPr>
        <a:xfrm>
          <a:off x="0" y="0"/>
          <a:ext cx="0" cy="0"/>
          <a:chOff x="0" y="0"/>
          <a:chExt cx="0" cy="0"/>
        </a:xfrm>
      </p:grpSpPr>
      <p:sp>
        <p:nvSpPr>
          <p:cNvPr name="Freeform 2" id="2"/>
          <p:cNvSpPr/>
          <p:nvPr/>
        </p:nvSpPr>
        <p:spPr>
          <a:xfrm flipH="false" flipV="false" rot="0">
            <a:off x="13913442" y="846409"/>
            <a:ext cx="2965603" cy="1016921"/>
          </a:xfrm>
          <a:custGeom>
            <a:avLst/>
            <a:gdLst/>
            <a:ahLst/>
            <a:cxnLst/>
            <a:rect r="r" b="b" t="t" l="l"/>
            <a:pathLst>
              <a:path h="1016921" w="2965603">
                <a:moveTo>
                  <a:pt x="0" y="0"/>
                </a:moveTo>
                <a:lnTo>
                  <a:pt x="2965603" y="0"/>
                </a:lnTo>
                <a:lnTo>
                  <a:pt x="2965603" y="1016922"/>
                </a:lnTo>
                <a:lnTo>
                  <a:pt x="0" y="1016922"/>
                </a:lnTo>
                <a:lnTo>
                  <a:pt x="0" y="0"/>
                </a:lnTo>
                <a:close/>
              </a:path>
            </a:pathLst>
          </a:custGeom>
          <a:blipFill>
            <a:blip r:embed="rId2"/>
            <a:stretch>
              <a:fillRect l="0" t="0" r="0" b="0"/>
            </a:stretch>
          </a:blipFill>
        </p:spPr>
      </p:sp>
      <p:sp>
        <p:nvSpPr>
          <p:cNvPr name="Freeform 3" id="3"/>
          <p:cNvSpPr/>
          <p:nvPr/>
        </p:nvSpPr>
        <p:spPr>
          <a:xfrm flipH="false" flipV="false" rot="0">
            <a:off x="8392738" y="3080627"/>
            <a:ext cx="9786226" cy="6415866"/>
          </a:xfrm>
          <a:custGeom>
            <a:avLst/>
            <a:gdLst/>
            <a:ahLst/>
            <a:cxnLst/>
            <a:rect r="r" b="b" t="t" l="l"/>
            <a:pathLst>
              <a:path h="6415866" w="9786226">
                <a:moveTo>
                  <a:pt x="0" y="0"/>
                </a:moveTo>
                <a:lnTo>
                  <a:pt x="9786226" y="0"/>
                </a:lnTo>
                <a:lnTo>
                  <a:pt x="9786226" y="6415865"/>
                </a:lnTo>
                <a:lnTo>
                  <a:pt x="0" y="6415865"/>
                </a:lnTo>
                <a:lnTo>
                  <a:pt x="0" y="0"/>
                </a:lnTo>
                <a:close/>
              </a:path>
            </a:pathLst>
          </a:custGeom>
          <a:blipFill>
            <a:blip r:embed="rId3"/>
            <a:stretch>
              <a:fillRect l="0" t="0" r="0" b="0"/>
            </a:stretch>
          </a:blipFill>
        </p:spPr>
      </p:sp>
      <p:sp>
        <p:nvSpPr>
          <p:cNvPr name="TextBox 4" id="4"/>
          <p:cNvSpPr txBox="true"/>
          <p:nvPr/>
        </p:nvSpPr>
        <p:spPr>
          <a:xfrm rot="0">
            <a:off x="1028700" y="836535"/>
            <a:ext cx="9423900" cy="1026796"/>
          </a:xfrm>
          <a:prstGeom prst="rect">
            <a:avLst/>
          </a:prstGeom>
        </p:spPr>
        <p:txBody>
          <a:bodyPr anchor="t" rtlCol="false" tIns="0" lIns="0" bIns="0" rIns="0">
            <a:spAutoFit/>
          </a:bodyPr>
          <a:lstStyle/>
          <a:p>
            <a:pPr algn="ctr">
              <a:lnSpc>
                <a:spcPts val="7440"/>
              </a:lnSpc>
            </a:pPr>
            <a:r>
              <a:rPr lang="en-US" sz="8000">
                <a:solidFill>
                  <a:srgbClr val="556BA0"/>
                </a:solidFill>
                <a:latin typeface="TDTD가시고딕"/>
                <a:ea typeface="TDTD가시고딕"/>
                <a:cs typeface="TDTD가시고딕"/>
                <a:sym typeface="TDTD가시고딕"/>
              </a:rPr>
              <a:t>Data Visualization</a:t>
            </a:r>
          </a:p>
        </p:txBody>
      </p:sp>
      <p:sp>
        <p:nvSpPr>
          <p:cNvPr name="TextBox 5" id="5"/>
          <p:cNvSpPr txBox="true"/>
          <p:nvPr/>
        </p:nvSpPr>
        <p:spPr>
          <a:xfrm rot="0">
            <a:off x="352982" y="2053831"/>
            <a:ext cx="10303601" cy="1026796"/>
          </a:xfrm>
          <a:prstGeom prst="rect">
            <a:avLst/>
          </a:prstGeom>
        </p:spPr>
        <p:txBody>
          <a:bodyPr anchor="t" rtlCol="false" tIns="0" lIns="0" bIns="0" rIns="0">
            <a:spAutoFit/>
          </a:bodyPr>
          <a:lstStyle/>
          <a:p>
            <a:pPr algn="ctr">
              <a:lnSpc>
                <a:spcPts val="7440"/>
              </a:lnSpc>
            </a:pPr>
            <a:r>
              <a:rPr lang="en-US" sz="8000">
                <a:solidFill>
                  <a:srgbClr val="556BA0"/>
                </a:solidFill>
                <a:latin typeface="TDTD가시고딕"/>
                <a:ea typeface="TDTD가시고딕"/>
                <a:cs typeface="TDTD가시고딕"/>
                <a:sym typeface="TDTD가시고딕"/>
              </a:rPr>
              <a:t>Stacked bar chart</a:t>
            </a:r>
          </a:p>
        </p:txBody>
      </p:sp>
      <p:sp>
        <p:nvSpPr>
          <p:cNvPr name="TextBox 6" id="6"/>
          <p:cNvSpPr txBox="true"/>
          <p:nvPr/>
        </p:nvSpPr>
        <p:spPr>
          <a:xfrm rot="0">
            <a:off x="1206701" y="3260792"/>
            <a:ext cx="7059036" cy="6235700"/>
          </a:xfrm>
          <a:prstGeom prst="rect">
            <a:avLst/>
          </a:prstGeom>
        </p:spPr>
        <p:txBody>
          <a:bodyPr anchor="t" rtlCol="false" tIns="0" lIns="0" bIns="0" rIns="0">
            <a:spAutoFit/>
          </a:bodyPr>
          <a:lstStyle/>
          <a:p>
            <a:pPr algn="l" marL="755651" indent="-377825" lvl="1">
              <a:lnSpc>
                <a:spcPts val="4375"/>
              </a:lnSpc>
              <a:buFont typeface="Arial"/>
              <a:buChar char="•"/>
            </a:pPr>
            <a:r>
              <a:rPr lang="en-US" sz="3500">
                <a:solidFill>
                  <a:srgbClr val="556BA0"/>
                </a:solidFill>
                <a:latin typeface="イワタ福まるご"/>
                <a:ea typeface="イワタ福まるご"/>
                <a:cs typeface="イワタ福まるご"/>
                <a:sym typeface="イワタ福まるご"/>
              </a:rPr>
              <a:t>The colors represent different levels of </a:t>
            </a:r>
            <a:r>
              <a:rPr lang="en-US" sz="3500">
                <a:solidFill>
                  <a:srgbClr val="556BA0"/>
                </a:solidFill>
                <a:latin typeface="イワタ福まるご"/>
                <a:ea typeface="イワタ福まるご"/>
                <a:cs typeface="イワタ福まるご"/>
                <a:sym typeface="イワタ福まるご"/>
              </a:rPr>
              <a:t>subjective security,</a:t>
            </a:r>
            <a:r>
              <a:rPr lang="en-US" sz="3500">
                <a:solidFill>
                  <a:srgbClr val="556BA0"/>
                </a:solidFill>
                <a:latin typeface="イワタ福まるご"/>
                <a:ea typeface="イワタ福まるご"/>
                <a:cs typeface="イワタ福まるご"/>
                <a:sym typeface="イワタ福まるご"/>
              </a:rPr>
              <a:t> from 1 (lowest security) to 4 (highest security).</a:t>
            </a:r>
          </a:p>
          <a:p>
            <a:pPr algn="l">
              <a:lnSpc>
                <a:spcPts val="4375"/>
              </a:lnSpc>
            </a:pPr>
          </a:p>
          <a:p>
            <a:pPr algn="l" marL="755651" indent="-377825" lvl="1">
              <a:lnSpc>
                <a:spcPts val="4375"/>
              </a:lnSpc>
              <a:buFont typeface="Arial"/>
              <a:buChar char="•"/>
            </a:pPr>
            <a:r>
              <a:rPr lang="en-US" sz="3500">
                <a:solidFill>
                  <a:srgbClr val="556BA0"/>
                </a:solidFill>
                <a:latin typeface="イワタ福まるご"/>
                <a:ea typeface="イワタ福まるご"/>
                <a:cs typeface="イワタ福まるご"/>
                <a:sym typeface="イワタ福まるご"/>
              </a:rPr>
              <a:t>Similar to the heatmap, the chart shows that respondents who perceive sexual harassment as more frequent tend to report higher subjective security scores.</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FEEE5"/>
        </a:solidFill>
      </p:bgPr>
    </p:bg>
    <p:spTree>
      <p:nvGrpSpPr>
        <p:cNvPr id="1" name=""/>
        <p:cNvGrpSpPr/>
        <p:nvPr/>
      </p:nvGrpSpPr>
      <p:grpSpPr>
        <a:xfrm>
          <a:off x="0" y="0"/>
          <a:ext cx="0" cy="0"/>
          <a:chOff x="0" y="0"/>
          <a:chExt cx="0" cy="0"/>
        </a:xfrm>
      </p:grpSpPr>
      <p:sp>
        <p:nvSpPr>
          <p:cNvPr name="Freeform 2" id="2"/>
          <p:cNvSpPr/>
          <p:nvPr/>
        </p:nvSpPr>
        <p:spPr>
          <a:xfrm flipH="false" flipV="false" rot="0">
            <a:off x="13913442" y="846409"/>
            <a:ext cx="2965603" cy="1016921"/>
          </a:xfrm>
          <a:custGeom>
            <a:avLst/>
            <a:gdLst/>
            <a:ahLst/>
            <a:cxnLst/>
            <a:rect r="r" b="b" t="t" l="l"/>
            <a:pathLst>
              <a:path h="1016921" w="2965603">
                <a:moveTo>
                  <a:pt x="0" y="0"/>
                </a:moveTo>
                <a:lnTo>
                  <a:pt x="2965603" y="0"/>
                </a:lnTo>
                <a:lnTo>
                  <a:pt x="2965603" y="1016922"/>
                </a:lnTo>
                <a:lnTo>
                  <a:pt x="0" y="1016922"/>
                </a:lnTo>
                <a:lnTo>
                  <a:pt x="0" y="0"/>
                </a:lnTo>
                <a:close/>
              </a:path>
            </a:pathLst>
          </a:custGeom>
          <a:blipFill>
            <a:blip r:embed="rId2"/>
            <a:stretch>
              <a:fillRect l="0" t="0" r="0" b="0"/>
            </a:stretch>
          </a:blipFill>
        </p:spPr>
      </p:sp>
      <p:sp>
        <p:nvSpPr>
          <p:cNvPr name="Freeform 3" id="3"/>
          <p:cNvSpPr/>
          <p:nvPr/>
        </p:nvSpPr>
        <p:spPr>
          <a:xfrm flipH="false" flipV="false" rot="0">
            <a:off x="7786658" y="3080627"/>
            <a:ext cx="10192951" cy="6616524"/>
          </a:xfrm>
          <a:custGeom>
            <a:avLst/>
            <a:gdLst/>
            <a:ahLst/>
            <a:cxnLst/>
            <a:rect r="r" b="b" t="t" l="l"/>
            <a:pathLst>
              <a:path h="6616524" w="10192951">
                <a:moveTo>
                  <a:pt x="0" y="0"/>
                </a:moveTo>
                <a:lnTo>
                  <a:pt x="10192951" y="0"/>
                </a:lnTo>
                <a:lnTo>
                  <a:pt x="10192951" y="6616524"/>
                </a:lnTo>
                <a:lnTo>
                  <a:pt x="0" y="6616524"/>
                </a:lnTo>
                <a:lnTo>
                  <a:pt x="0" y="0"/>
                </a:lnTo>
                <a:close/>
              </a:path>
            </a:pathLst>
          </a:custGeom>
          <a:blipFill>
            <a:blip r:embed="rId3"/>
            <a:stretch>
              <a:fillRect l="-4607" t="0" r="-3919" b="0"/>
            </a:stretch>
          </a:blipFill>
        </p:spPr>
      </p:sp>
      <p:sp>
        <p:nvSpPr>
          <p:cNvPr name="TextBox 4" id="4"/>
          <p:cNvSpPr txBox="true"/>
          <p:nvPr/>
        </p:nvSpPr>
        <p:spPr>
          <a:xfrm rot="0">
            <a:off x="1028700" y="836535"/>
            <a:ext cx="9423900" cy="1026796"/>
          </a:xfrm>
          <a:prstGeom prst="rect">
            <a:avLst/>
          </a:prstGeom>
        </p:spPr>
        <p:txBody>
          <a:bodyPr anchor="t" rtlCol="false" tIns="0" lIns="0" bIns="0" rIns="0">
            <a:spAutoFit/>
          </a:bodyPr>
          <a:lstStyle/>
          <a:p>
            <a:pPr algn="ctr">
              <a:lnSpc>
                <a:spcPts val="7440"/>
              </a:lnSpc>
            </a:pPr>
            <a:r>
              <a:rPr lang="en-US" sz="8000">
                <a:solidFill>
                  <a:srgbClr val="556BA0"/>
                </a:solidFill>
                <a:latin typeface="TDTD가시고딕"/>
                <a:ea typeface="TDTD가시고딕"/>
                <a:cs typeface="TDTD가시고딕"/>
                <a:sym typeface="TDTD가시고딕"/>
              </a:rPr>
              <a:t>Data Visualization</a:t>
            </a:r>
          </a:p>
        </p:txBody>
      </p:sp>
      <p:sp>
        <p:nvSpPr>
          <p:cNvPr name="TextBox 5" id="5"/>
          <p:cNvSpPr txBox="true"/>
          <p:nvPr/>
        </p:nvSpPr>
        <p:spPr>
          <a:xfrm rot="0">
            <a:off x="352982" y="2053831"/>
            <a:ext cx="9816935" cy="1026796"/>
          </a:xfrm>
          <a:prstGeom prst="rect">
            <a:avLst/>
          </a:prstGeom>
        </p:spPr>
        <p:txBody>
          <a:bodyPr anchor="t" rtlCol="false" tIns="0" lIns="0" bIns="0" rIns="0">
            <a:spAutoFit/>
          </a:bodyPr>
          <a:lstStyle/>
          <a:p>
            <a:pPr algn="ctr">
              <a:lnSpc>
                <a:spcPts val="7440"/>
              </a:lnSpc>
            </a:pPr>
            <a:r>
              <a:rPr lang="en-US" sz="8000">
                <a:solidFill>
                  <a:srgbClr val="556BA0"/>
                </a:solidFill>
                <a:latin typeface="TDTD가시고딕"/>
                <a:ea typeface="TDTD가시고딕"/>
                <a:cs typeface="TDTD가시고딕"/>
                <a:sym typeface="TDTD가시고딕"/>
              </a:rPr>
              <a:t>Gender Difference</a:t>
            </a:r>
          </a:p>
        </p:txBody>
      </p:sp>
      <p:sp>
        <p:nvSpPr>
          <p:cNvPr name="TextBox 6" id="6"/>
          <p:cNvSpPr txBox="true"/>
          <p:nvPr/>
        </p:nvSpPr>
        <p:spPr>
          <a:xfrm rot="0">
            <a:off x="352982" y="3233755"/>
            <a:ext cx="7059036" cy="6788150"/>
          </a:xfrm>
          <a:prstGeom prst="rect">
            <a:avLst/>
          </a:prstGeom>
        </p:spPr>
        <p:txBody>
          <a:bodyPr anchor="t" rtlCol="false" tIns="0" lIns="0" bIns="0" rIns="0">
            <a:spAutoFit/>
          </a:bodyPr>
          <a:lstStyle/>
          <a:p>
            <a:pPr algn="l" marL="755651" indent="-377825" lvl="1">
              <a:lnSpc>
                <a:spcPts val="4375"/>
              </a:lnSpc>
              <a:buFont typeface="Arial"/>
              <a:buChar char="•"/>
            </a:pPr>
            <a:r>
              <a:rPr lang="en-US" sz="3500">
                <a:solidFill>
                  <a:srgbClr val="556BA0"/>
                </a:solidFill>
                <a:latin typeface="イワタ福まるご"/>
                <a:ea typeface="イワタ福まるご"/>
                <a:cs typeface="イワタ福まるご"/>
                <a:sym typeface="イワタ福まるご"/>
              </a:rPr>
              <a:t>Women generally report lower subjective security than men.</a:t>
            </a:r>
          </a:p>
          <a:p>
            <a:pPr algn="l">
              <a:lnSpc>
                <a:spcPts val="4375"/>
              </a:lnSpc>
            </a:pPr>
          </a:p>
          <a:p>
            <a:pPr algn="l" marL="755651" indent="-377825" lvl="1">
              <a:lnSpc>
                <a:spcPts val="4375"/>
              </a:lnSpc>
              <a:buFont typeface="Arial"/>
              <a:buChar char="•"/>
            </a:pPr>
            <a:r>
              <a:rPr lang="en-US" sz="3500">
                <a:solidFill>
                  <a:srgbClr val="556BA0"/>
                </a:solidFill>
                <a:latin typeface="イワタ福まるご"/>
                <a:ea typeface="イワタ福まるご"/>
                <a:cs typeface="イワタ福まるご"/>
                <a:sym typeface="イワタ福まるご"/>
              </a:rPr>
              <a:t>S</a:t>
            </a:r>
            <a:r>
              <a:rPr lang="en-US" sz="3500">
                <a:solidFill>
                  <a:srgbClr val="556BA0"/>
                </a:solidFill>
                <a:latin typeface="イワタ福まるご"/>
                <a:ea typeface="イワタ福まるご"/>
                <a:cs typeface="イワタ福まるご"/>
                <a:sym typeface="イワタ福まるご"/>
              </a:rPr>
              <a:t>ubjective security tends</a:t>
            </a:r>
            <a:r>
              <a:rPr lang="en-US" sz="3500">
                <a:solidFill>
                  <a:srgbClr val="556BA0"/>
                </a:solidFill>
                <a:latin typeface="イワタ福まるご"/>
                <a:ea typeface="イワタ福まるご"/>
                <a:cs typeface="イワタ福まるご"/>
                <a:sym typeface="イワタ福まるご"/>
              </a:rPr>
              <a:t> to decline as perceived harassment frequency increases.</a:t>
            </a:r>
          </a:p>
          <a:p>
            <a:pPr algn="l">
              <a:lnSpc>
                <a:spcPts val="4375"/>
              </a:lnSpc>
            </a:pPr>
          </a:p>
          <a:p>
            <a:pPr algn="l" marL="755651" indent="-377825" lvl="1">
              <a:lnSpc>
                <a:spcPts val="4375"/>
              </a:lnSpc>
              <a:buFont typeface="Arial"/>
              <a:buChar char="•"/>
            </a:pPr>
            <a:r>
              <a:rPr lang="en-US" sz="3500">
                <a:solidFill>
                  <a:srgbClr val="556BA0"/>
                </a:solidFill>
                <a:latin typeface="イワタ福まるご"/>
                <a:ea typeface="イワタ福まるご"/>
                <a:cs typeface="イワタ福まるご"/>
                <a:sym typeface="イワタ福まるご"/>
              </a:rPr>
              <a:t>However, Category 4 is based on a small sample (n = 16), so the gender difference at this level should be interpreted carefully.</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FEEE5"/>
        </a:solidFill>
      </p:bgPr>
    </p:bg>
    <p:spTree>
      <p:nvGrpSpPr>
        <p:cNvPr id="1" name=""/>
        <p:cNvGrpSpPr/>
        <p:nvPr/>
      </p:nvGrpSpPr>
      <p:grpSpPr>
        <a:xfrm>
          <a:off x="0" y="0"/>
          <a:ext cx="0" cy="0"/>
          <a:chOff x="0" y="0"/>
          <a:chExt cx="0" cy="0"/>
        </a:xfrm>
      </p:grpSpPr>
      <p:sp>
        <p:nvSpPr>
          <p:cNvPr name="Freeform 2" id="2"/>
          <p:cNvSpPr/>
          <p:nvPr/>
        </p:nvSpPr>
        <p:spPr>
          <a:xfrm flipH="false" flipV="false" rot="0">
            <a:off x="13913442" y="846409"/>
            <a:ext cx="2965603" cy="1016921"/>
          </a:xfrm>
          <a:custGeom>
            <a:avLst/>
            <a:gdLst/>
            <a:ahLst/>
            <a:cxnLst/>
            <a:rect r="r" b="b" t="t" l="l"/>
            <a:pathLst>
              <a:path h="1016921" w="2965603">
                <a:moveTo>
                  <a:pt x="0" y="0"/>
                </a:moveTo>
                <a:lnTo>
                  <a:pt x="2965603" y="0"/>
                </a:lnTo>
                <a:lnTo>
                  <a:pt x="2965603" y="1016922"/>
                </a:lnTo>
                <a:lnTo>
                  <a:pt x="0" y="1016922"/>
                </a:lnTo>
                <a:lnTo>
                  <a:pt x="0" y="0"/>
                </a:lnTo>
                <a:close/>
              </a:path>
            </a:pathLst>
          </a:custGeom>
          <a:blipFill>
            <a:blip r:embed="rId2"/>
            <a:stretch>
              <a:fillRect l="0" t="0" r="0" b="0"/>
            </a:stretch>
          </a:blipFill>
        </p:spPr>
      </p:sp>
      <p:sp>
        <p:nvSpPr>
          <p:cNvPr name="Freeform 3" id="3"/>
          <p:cNvSpPr/>
          <p:nvPr/>
        </p:nvSpPr>
        <p:spPr>
          <a:xfrm flipH="false" flipV="false" rot="0">
            <a:off x="10524597" y="0"/>
            <a:ext cx="6354447" cy="6313318"/>
          </a:xfrm>
          <a:custGeom>
            <a:avLst/>
            <a:gdLst/>
            <a:ahLst/>
            <a:cxnLst/>
            <a:rect r="r" b="b" t="t" l="l"/>
            <a:pathLst>
              <a:path h="6313318" w="6354447">
                <a:moveTo>
                  <a:pt x="0" y="0"/>
                </a:moveTo>
                <a:lnTo>
                  <a:pt x="6354448" y="0"/>
                </a:lnTo>
                <a:lnTo>
                  <a:pt x="6354448" y="6313318"/>
                </a:lnTo>
                <a:lnTo>
                  <a:pt x="0" y="6313318"/>
                </a:lnTo>
                <a:lnTo>
                  <a:pt x="0" y="0"/>
                </a:lnTo>
                <a:close/>
              </a:path>
            </a:pathLst>
          </a:custGeom>
          <a:blipFill>
            <a:blip r:embed="rId3"/>
            <a:stretch>
              <a:fillRect l="0" t="0" r="0" b="0"/>
            </a:stretch>
          </a:blipFill>
        </p:spPr>
      </p:sp>
      <p:sp>
        <p:nvSpPr>
          <p:cNvPr name="Freeform 4" id="4"/>
          <p:cNvSpPr/>
          <p:nvPr/>
        </p:nvSpPr>
        <p:spPr>
          <a:xfrm flipH="false" flipV="false" rot="0">
            <a:off x="10524597" y="6301268"/>
            <a:ext cx="6354447" cy="3768700"/>
          </a:xfrm>
          <a:custGeom>
            <a:avLst/>
            <a:gdLst/>
            <a:ahLst/>
            <a:cxnLst/>
            <a:rect r="r" b="b" t="t" l="l"/>
            <a:pathLst>
              <a:path h="3768700" w="6354447">
                <a:moveTo>
                  <a:pt x="0" y="0"/>
                </a:moveTo>
                <a:lnTo>
                  <a:pt x="6354448" y="0"/>
                </a:lnTo>
                <a:lnTo>
                  <a:pt x="6354448" y="3768700"/>
                </a:lnTo>
                <a:lnTo>
                  <a:pt x="0" y="3768700"/>
                </a:lnTo>
                <a:lnTo>
                  <a:pt x="0" y="0"/>
                </a:lnTo>
                <a:close/>
              </a:path>
            </a:pathLst>
          </a:custGeom>
          <a:blipFill>
            <a:blip r:embed="rId4"/>
            <a:stretch>
              <a:fillRect l="0" t="0" r="0" b="0"/>
            </a:stretch>
          </a:blipFill>
        </p:spPr>
      </p:sp>
      <p:sp>
        <p:nvSpPr>
          <p:cNvPr name="TextBox 5" id="5"/>
          <p:cNvSpPr txBox="true"/>
          <p:nvPr/>
        </p:nvSpPr>
        <p:spPr>
          <a:xfrm rot="0">
            <a:off x="746016" y="836535"/>
            <a:ext cx="9423900" cy="1026796"/>
          </a:xfrm>
          <a:prstGeom prst="rect">
            <a:avLst/>
          </a:prstGeom>
        </p:spPr>
        <p:txBody>
          <a:bodyPr anchor="t" rtlCol="false" tIns="0" lIns="0" bIns="0" rIns="0">
            <a:spAutoFit/>
          </a:bodyPr>
          <a:lstStyle/>
          <a:p>
            <a:pPr algn="ctr">
              <a:lnSpc>
                <a:spcPts val="7440"/>
              </a:lnSpc>
            </a:pPr>
            <a:r>
              <a:rPr lang="en-US" sz="8000">
                <a:solidFill>
                  <a:srgbClr val="556BA0"/>
                </a:solidFill>
                <a:latin typeface="TDTD가시고딕"/>
                <a:ea typeface="TDTD가시고딕"/>
                <a:cs typeface="TDTD가시고딕"/>
                <a:sym typeface="TDTD가시고딕"/>
              </a:rPr>
              <a:t>Regression result</a:t>
            </a:r>
          </a:p>
        </p:txBody>
      </p:sp>
      <p:sp>
        <p:nvSpPr>
          <p:cNvPr name="TextBox 6" id="6"/>
          <p:cNvSpPr txBox="true"/>
          <p:nvPr/>
        </p:nvSpPr>
        <p:spPr>
          <a:xfrm rot="0">
            <a:off x="352982" y="1959387"/>
            <a:ext cx="9816935" cy="7893050"/>
          </a:xfrm>
          <a:prstGeom prst="rect">
            <a:avLst/>
          </a:prstGeom>
        </p:spPr>
        <p:txBody>
          <a:bodyPr anchor="t" rtlCol="false" tIns="0" lIns="0" bIns="0" rIns="0">
            <a:spAutoFit/>
          </a:bodyPr>
          <a:lstStyle/>
          <a:p>
            <a:pPr algn="l" marL="755651" indent="-377825" lvl="1">
              <a:lnSpc>
                <a:spcPts val="4375"/>
              </a:lnSpc>
              <a:buFont typeface="Arial"/>
              <a:buChar char="•"/>
            </a:pPr>
            <a:r>
              <a:rPr lang="en-US" sz="3500">
                <a:solidFill>
                  <a:srgbClr val="556BA0"/>
                </a:solidFill>
                <a:latin typeface="イワタ福まるご"/>
                <a:ea typeface="イワタ福まるご"/>
                <a:cs typeface="イワタ福まるご"/>
                <a:sym typeface="イワタ福まるご"/>
              </a:rPr>
              <a:t>For Model 1, perceived harassment is significantly associated with subjective security (β = −0.221, p &lt; 0.01).</a:t>
            </a:r>
          </a:p>
          <a:p>
            <a:pPr algn="l" marL="755651" indent="-377825" lvl="1">
              <a:lnSpc>
                <a:spcPts val="4375"/>
              </a:lnSpc>
              <a:buFont typeface="Arial"/>
              <a:buChar char="•"/>
            </a:pPr>
            <a:r>
              <a:rPr lang="en-US" sz="3500">
                <a:solidFill>
                  <a:srgbClr val="556BA0"/>
                </a:solidFill>
                <a:latin typeface="イワタ福まるご"/>
                <a:ea typeface="イワタ福まるご"/>
                <a:cs typeface="イワタ福まるご"/>
                <a:sym typeface="イワタ福まるご"/>
              </a:rPr>
              <a:t>The relationship remains signifi</a:t>
            </a:r>
            <a:r>
              <a:rPr lang="en-US" sz="3500">
                <a:solidFill>
                  <a:srgbClr val="556BA0"/>
                </a:solidFill>
                <a:latin typeface="イワタ福まるご"/>
                <a:ea typeface="イワタ福まるご"/>
                <a:cs typeface="イワタ福まるご"/>
                <a:sym typeface="イワタ福まるご"/>
              </a:rPr>
              <a:t>cant even after adding the control variables (β = −0.190, p &lt; 0.01).</a:t>
            </a:r>
          </a:p>
          <a:p>
            <a:pPr algn="l" marL="755651" indent="-377825" lvl="1">
              <a:lnSpc>
                <a:spcPts val="4375"/>
              </a:lnSpc>
              <a:buFont typeface="Arial"/>
              <a:buChar char="•"/>
            </a:pPr>
            <a:r>
              <a:rPr lang="en-US" sz="3500">
                <a:solidFill>
                  <a:srgbClr val="556BA0"/>
                </a:solidFill>
                <a:latin typeface="イワタ福まるご"/>
                <a:ea typeface="イワタ福まるご"/>
                <a:cs typeface="イワタ福まるご"/>
                <a:sym typeface="イワタ福まるご"/>
              </a:rPr>
              <a:t>Model 8 shows</a:t>
            </a:r>
            <a:r>
              <a:rPr lang="en-US" sz="3500">
                <a:solidFill>
                  <a:srgbClr val="556BA0"/>
                </a:solidFill>
                <a:latin typeface="イワタ福まるご"/>
                <a:ea typeface="イワタ福まるご"/>
                <a:cs typeface="イワタ福まるご"/>
                <a:sym typeface="イワタ福まるご"/>
              </a:rPr>
              <a:t> that the interaction between harassment and gender is positive but not significant at the 5% level.</a:t>
            </a:r>
          </a:p>
          <a:p>
            <a:pPr algn="l" marL="755651" indent="-377825" lvl="1">
              <a:lnSpc>
                <a:spcPts val="4375"/>
              </a:lnSpc>
              <a:buFont typeface="Arial"/>
              <a:buChar char="•"/>
            </a:pPr>
            <a:r>
              <a:rPr lang="en-US" sz="3500">
                <a:solidFill>
                  <a:srgbClr val="556BA0"/>
                </a:solidFill>
                <a:latin typeface="イワタ福まるご"/>
                <a:ea typeface="イワタ福まるご"/>
                <a:cs typeface="イワタ福まるご"/>
                <a:sym typeface="イワタ福まるご"/>
              </a:rPr>
              <a:t>R square increases from 0.042 to 0.081 after adding the controls, but changes only slightly to 0.082 after adding the interaction. A similar pattern can be seen for adjusted R square.</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FEEE5"/>
        </a:solidFill>
      </p:bgPr>
    </p:bg>
    <p:spTree>
      <p:nvGrpSpPr>
        <p:cNvPr id="1" name=""/>
        <p:cNvGrpSpPr/>
        <p:nvPr/>
      </p:nvGrpSpPr>
      <p:grpSpPr>
        <a:xfrm>
          <a:off x="0" y="0"/>
          <a:ext cx="0" cy="0"/>
          <a:chOff x="0" y="0"/>
          <a:chExt cx="0" cy="0"/>
        </a:xfrm>
      </p:grpSpPr>
      <p:sp>
        <p:nvSpPr>
          <p:cNvPr name="TextBox 2" id="2"/>
          <p:cNvSpPr txBox="true"/>
          <p:nvPr/>
        </p:nvSpPr>
        <p:spPr>
          <a:xfrm rot="0">
            <a:off x="953757" y="3068856"/>
            <a:ext cx="10910743" cy="1952369"/>
          </a:xfrm>
          <a:prstGeom prst="rect">
            <a:avLst/>
          </a:prstGeom>
        </p:spPr>
        <p:txBody>
          <a:bodyPr anchor="t" rtlCol="false" tIns="0" lIns="0" bIns="0" rIns="0">
            <a:spAutoFit/>
          </a:bodyPr>
          <a:lstStyle/>
          <a:p>
            <a:pPr algn="l">
              <a:lnSpc>
                <a:spcPts val="14580"/>
              </a:lnSpc>
            </a:pPr>
            <a:r>
              <a:rPr lang="en-US" sz="14580">
                <a:solidFill>
                  <a:srgbClr val="556BA0"/>
                </a:solidFill>
                <a:latin typeface="TDTD가시고딕"/>
                <a:ea typeface="TDTD가시고딕"/>
                <a:cs typeface="TDTD가시고딕"/>
                <a:sym typeface="TDTD가시고딕"/>
              </a:rPr>
              <a:t>Malaysia</a:t>
            </a:r>
          </a:p>
        </p:txBody>
      </p:sp>
      <p:sp>
        <p:nvSpPr>
          <p:cNvPr name="Freeform 3" id="3"/>
          <p:cNvSpPr/>
          <p:nvPr/>
        </p:nvSpPr>
        <p:spPr>
          <a:xfrm flipH="false" flipV="false" rot="-828974">
            <a:off x="3872010" y="7316688"/>
            <a:ext cx="2025214" cy="1276951"/>
          </a:xfrm>
          <a:custGeom>
            <a:avLst/>
            <a:gdLst/>
            <a:ahLst/>
            <a:cxnLst/>
            <a:rect r="r" b="b" t="t" l="l"/>
            <a:pathLst>
              <a:path h="1276951" w="2025214">
                <a:moveTo>
                  <a:pt x="0" y="0"/>
                </a:moveTo>
                <a:lnTo>
                  <a:pt x="2025214" y="0"/>
                </a:lnTo>
                <a:lnTo>
                  <a:pt x="2025214" y="1276951"/>
                </a:lnTo>
                <a:lnTo>
                  <a:pt x="0" y="1276951"/>
                </a:lnTo>
                <a:lnTo>
                  <a:pt x="0" y="0"/>
                </a:lnTo>
                <a:close/>
              </a:path>
            </a:pathLst>
          </a:custGeom>
          <a:blipFill>
            <a:blip r:embed="rId2"/>
            <a:stretch>
              <a:fillRect l="0" t="0" r="0" b="0"/>
            </a:stretch>
          </a:blipFill>
        </p:spPr>
      </p:sp>
      <p:sp>
        <p:nvSpPr>
          <p:cNvPr name="Freeform 4" id="4"/>
          <p:cNvSpPr/>
          <p:nvPr/>
        </p:nvSpPr>
        <p:spPr>
          <a:xfrm flipH="false" flipV="false" rot="-186545">
            <a:off x="11742389" y="1965698"/>
            <a:ext cx="2422332" cy="1131589"/>
          </a:xfrm>
          <a:custGeom>
            <a:avLst/>
            <a:gdLst/>
            <a:ahLst/>
            <a:cxnLst/>
            <a:rect r="r" b="b" t="t" l="l"/>
            <a:pathLst>
              <a:path h="1131589" w="2422332">
                <a:moveTo>
                  <a:pt x="0" y="0"/>
                </a:moveTo>
                <a:lnTo>
                  <a:pt x="2422332" y="0"/>
                </a:lnTo>
                <a:lnTo>
                  <a:pt x="2422332" y="1131589"/>
                </a:lnTo>
                <a:lnTo>
                  <a:pt x="0" y="1131589"/>
                </a:lnTo>
                <a:lnTo>
                  <a:pt x="0" y="0"/>
                </a:lnTo>
                <a:close/>
              </a:path>
            </a:pathLst>
          </a:custGeom>
          <a:blipFill>
            <a:blip r:embed="rId3"/>
            <a:stretch>
              <a:fillRect l="0" t="0" r="0" b="0"/>
            </a:stretch>
          </a:blipFill>
        </p:spPr>
      </p:sp>
      <p:sp>
        <p:nvSpPr>
          <p:cNvPr name="Freeform 5" id="5"/>
          <p:cNvSpPr/>
          <p:nvPr/>
        </p:nvSpPr>
        <p:spPr>
          <a:xfrm flipH="false" flipV="false" rot="0">
            <a:off x="11472462" y="3926746"/>
            <a:ext cx="6815538" cy="3510002"/>
          </a:xfrm>
          <a:custGeom>
            <a:avLst/>
            <a:gdLst/>
            <a:ahLst/>
            <a:cxnLst/>
            <a:rect r="r" b="b" t="t" l="l"/>
            <a:pathLst>
              <a:path h="3510002" w="6815538">
                <a:moveTo>
                  <a:pt x="0" y="0"/>
                </a:moveTo>
                <a:lnTo>
                  <a:pt x="6815538" y="0"/>
                </a:lnTo>
                <a:lnTo>
                  <a:pt x="6815538" y="3510002"/>
                </a:lnTo>
                <a:lnTo>
                  <a:pt x="0" y="3510002"/>
                </a:lnTo>
                <a:lnTo>
                  <a:pt x="0" y="0"/>
                </a:lnTo>
                <a:close/>
              </a:path>
            </a:pathLst>
          </a:custGeom>
          <a:blipFill>
            <a:blip r:embed="rId4"/>
            <a:stretch>
              <a:fillRect l="0" t="0" r="0" b="0"/>
            </a:stretch>
          </a:blipFill>
        </p:spPr>
      </p:sp>
      <p:sp>
        <p:nvSpPr>
          <p:cNvPr name="Freeform 6" id="6"/>
          <p:cNvSpPr/>
          <p:nvPr/>
        </p:nvSpPr>
        <p:spPr>
          <a:xfrm flipH="false" flipV="false" rot="0">
            <a:off x="12260029" y="5373908"/>
            <a:ext cx="4472281" cy="4125680"/>
          </a:xfrm>
          <a:custGeom>
            <a:avLst/>
            <a:gdLst/>
            <a:ahLst/>
            <a:cxnLst/>
            <a:rect r="r" b="b" t="t" l="l"/>
            <a:pathLst>
              <a:path h="4125680" w="4472281">
                <a:moveTo>
                  <a:pt x="0" y="0"/>
                </a:moveTo>
                <a:lnTo>
                  <a:pt x="4472281" y="0"/>
                </a:lnTo>
                <a:lnTo>
                  <a:pt x="4472281" y="4125679"/>
                </a:lnTo>
                <a:lnTo>
                  <a:pt x="0" y="4125679"/>
                </a:lnTo>
                <a:lnTo>
                  <a:pt x="0" y="0"/>
                </a:lnTo>
                <a:close/>
              </a:path>
            </a:pathLst>
          </a:custGeom>
          <a:blipFill>
            <a:blip r:embed="rId5"/>
            <a:stretch>
              <a:fillRect l="0" t="0" r="0" b="0"/>
            </a:stretch>
          </a:blipFill>
        </p:spPr>
      </p:sp>
      <p:sp>
        <p:nvSpPr>
          <p:cNvPr name="Freeform 7" id="7"/>
          <p:cNvSpPr/>
          <p:nvPr/>
        </p:nvSpPr>
        <p:spPr>
          <a:xfrm flipH="false" flipV="false" rot="0">
            <a:off x="13028152" y="4010484"/>
            <a:ext cx="3704159" cy="4768024"/>
          </a:xfrm>
          <a:custGeom>
            <a:avLst/>
            <a:gdLst/>
            <a:ahLst/>
            <a:cxnLst/>
            <a:rect r="r" b="b" t="t" l="l"/>
            <a:pathLst>
              <a:path h="4768024" w="3704159">
                <a:moveTo>
                  <a:pt x="0" y="0"/>
                </a:moveTo>
                <a:lnTo>
                  <a:pt x="3704158" y="0"/>
                </a:lnTo>
                <a:lnTo>
                  <a:pt x="3704158" y="4768024"/>
                </a:lnTo>
                <a:lnTo>
                  <a:pt x="0" y="4768024"/>
                </a:lnTo>
                <a:lnTo>
                  <a:pt x="0" y="0"/>
                </a:lnTo>
                <a:close/>
              </a:path>
            </a:pathLst>
          </a:custGeom>
          <a:blipFill>
            <a:blip r:embed="rId6"/>
            <a:stretch>
              <a:fillRect l="0" t="0" r="0" b="0"/>
            </a:stretch>
          </a:blipFill>
        </p:spPr>
      </p:sp>
      <p:sp>
        <p:nvSpPr>
          <p:cNvPr name="Freeform 8" id="8"/>
          <p:cNvSpPr/>
          <p:nvPr/>
        </p:nvSpPr>
        <p:spPr>
          <a:xfrm flipH="false" flipV="false" rot="0">
            <a:off x="14880231" y="6738689"/>
            <a:ext cx="2820050" cy="4079638"/>
          </a:xfrm>
          <a:custGeom>
            <a:avLst/>
            <a:gdLst/>
            <a:ahLst/>
            <a:cxnLst/>
            <a:rect r="r" b="b" t="t" l="l"/>
            <a:pathLst>
              <a:path h="4079638" w="2820050">
                <a:moveTo>
                  <a:pt x="0" y="0"/>
                </a:moveTo>
                <a:lnTo>
                  <a:pt x="2820049" y="0"/>
                </a:lnTo>
                <a:lnTo>
                  <a:pt x="2820049" y="4079637"/>
                </a:lnTo>
                <a:lnTo>
                  <a:pt x="0" y="4079637"/>
                </a:lnTo>
                <a:lnTo>
                  <a:pt x="0" y="0"/>
                </a:lnTo>
                <a:close/>
              </a:path>
            </a:pathLst>
          </a:custGeom>
          <a:blipFill>
            <a:blip r:embed="rId7"/>
            <a:stretch>
              <a:fillRect l="0" t="0" r="0" b="0"/>
            </a:stretch>
          </a:blipFill>
        </p:spPr>
      </p:sp>
      <p:grpSp>
        <p:nvGrpSpPr>
          <p:cNvPr name="Group 9" id="9"/>
          <p:cNvGrpSpPr/>
          <p:nvPr/>
        </p:nvGrpSpPr>
        <p:grpSpPr>
          <a:xfrm rot="0">
            <a:off x="14289988" y="4772735"/>
            <a:ext cx="206181" cy="20618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BE2"/>
            </a:solidFill>
          </p:spPr>
        </p:sp>
        <p:sp>
          <p:nvSpPr>
            <p:cNvPr name="TextBox 11" id="11"/>
            <p:cNvSpPr txBox="true"/>
            <p:nvPr/>
          </p:nvSpPr>
          <p:spPr>
            <a:xfrm>
              <a:off x="76200" y="-47625"/>
              <a:ext cx="660400" cy="784225"/>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4524376" y="4815044"/>
            <a:ext cx="206181" cy="206181"/>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BE2"/>
            </a:solidFill>
          </p:spPr>
        </p:sp>
        <p:sp>
          <p:nvSpPr>
            <p:cNvPr name="TextBox 14" id="14"/>
            <p:cNvSpPr txBox="true"/>
            <p:nvPr/>
          </p:nvSpPr>
          <p:spPr>
            <a:xfrm>
              <a:off x="76200" y="-47625"/>
              <a:ext cx="660400" cy="784225"/>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5284206" y="5914859"/>
            <a:ext cx="7560679" cy="5339729"/>
          </a:xfrm>
          <a:custGeom>
            <a:avLst/>
            <a:gdLst/>
            <a:ahLst/>
            <a:cxnLst/>
            <a:rect r="r" b="b" t="t" l="l"/>
            <a:pathLst>
              <a:path h="5339729" w="7560679">
                <a:moveTo>
                  <a:pt x="0" y="0"/>
                </a:moveTo>
                <a:lnTo>
                  <a:pt x="7560678" y="0"/>
                </a:lnTo>
                <a:lnTo>
                  <a:pt x="7560678" y="5339730"/>
                </a:lnTo>
                <a:lnTo>
                  <a:pt x="0" y="5339730"/>
                </a:lnTo>
                <a:lnTo>
                  <a:pt x="0" y="0"/>
                </a:lnTo>
                <a:close/>
              </a:path>
            </a:pathLst>
          </a:custGeom>
          <a:blipFill>
            <a:blip r:embed="rId8"/>
            <a:stretch>
              <a:fillRect l="0" t="0" r="0" b="0"/>
            </a:stretch>
          </a:blipFill>
        </p:spPr>
      </p:sp>
      <p:sp>
        <p:nvSpPr>
          <p:cNvPr name="Freeform 16" id="16"/>
          <p:cNvSpPr/>
          <p:nvPr/>
        </p:nvSpPr>
        <p:spPr>
          <a:xfrm flipH="false" flipV="false" rot="0">
            <a:off x="7962207" y="5681747"/>
            <a:ext cx="4477525" cy="3979400"/>
          </a:xfrm>
          <a:custGeom>
            <a:avLst/>
            <a:gdLst/>
            <a:ahLst/>
            <a:cxnLst/>
            <a:rect r="r" b="b" t="t" l="l"/>
            <a:pathLst>
              <a:path h="3979400" w="4477525">
                <a:moveTo>
                  <a:pt x="0" y="0"/>
                </a:moveTo>
                <a:lnTo>
                  <a:pt x="4477525" y="0"/>
                </a:lnTo>
                <a:lnTo>
                  <a:pt x="4477525" y="3979400"/>
                </a:lnTo>
                <a:lnTo>
                  <a:pt x="0" y="3979400"/>
                </a:lnTo>
                <a:lnTo>
                  <a:pt x="0" y="0"/>
                </a:lnTo>
                <a:close/>
              </a:path>
            </a:pathLst>
          </a:custGeom>
          <a:blipFill>
            <a:blip r:embed="rId9"/>
            <a:stretch>
              <a:fillRect l="0" t="0" r="0" b="0"/>
            </a:stretch>
          </a:blipFill>
        </p:spPr>
      </p:sp>
      <p:sp>
        <p:nvSpPr>
          <p:cNvPr name="Freeform 17" id="17"/>
          <p:cNvSpPr/>
          <p:nvPr/>
        </p:nvSpPr>
        <p:spPr>
          <a:xfrm flipH="false" flipV="false" rot="-629346">
            <a:off x="1851228" y="1392380"/>
            <a:ext cx="2965603" cy="1016921"/>
          </a:xfrm>
          <a:custGeom>
            <a:avLst/>
            <a:gdLst/>
            <a:ahLst/>
            <a:cxnLst/>
            <a:rect r="r" b="b" t="t" l="l"/>
            <a:pathLst>
              <a:path h="1016921" w="2965603">
                <a:moveTo>
                  <a:pt x="0" y="0"/>
                </a:moveTo>
                <a:lnTo>
                  <a:pt x="2965603" y="0"/>
                </a:lnTo>
                <a:lnTo>
                  <a:pt x="2965603" y="1016921"/>
                </a:lnTo>
                <a:lnTo>
                  <a:pt x="0" y="1016921"/>
                </a:lnTo>
                <a:lnTo>
                  <a:pt x="0" y="0"/>
                </a:lnTo>
                <a:close/>
              </a:path>
            </a:pathLst>
          </a:custGeom>
          <a:blipFill>
            <a:blip r:embed="rId10"/>
            <a:stretch>
              <a:fillRect l="0" t="0" r="0" b="0"/>
            </a:stretch>
          </a:blipFill>
        </p:spPr>
      </p:sp>
      <p:sp>
        <p:nvSpPr>
          <p:cNvPr name="Freeform 18" id="18"/>
          <p:cNvSpPr/>
          <p:nvPr/>
        </p:nvSpPr>
        <p:spPr>
          <a:xfrm flipH="true" flipV="false" rot="641235">
            <a:off x="-68092" y="5382167"/>
            <a:ext cx="3120858" cy="5847040"/>
          </a:xfrm>
          <a:custGeom>
            <a:avLst/>
            <a:gdLst/>
            <a:ahLst/>
            <a:cxnLst/>
            <a:rect r="r" b="b" t="t" l="l"/>
            <a:pathLst>
              <a:path h="5847040" w="3120858">
                <a:moveTo>
                  <a:pt x="3120858" y="0"/>
                </a:moveTo>
                <a:lnTo>
                  <a:pt x="0" y="0"/>
                </a:lnTo>
                <a:lnTo>
                  <a:pt x="0" y="5847040"/>
                </a:lnTo>
                <a:lnTo>
                  <a:pt x="3120858" y="5847040"/>
                </a:lnTo>
                <a:lnTo>
                  <a:pt x="3120858" y="0"/>
                </a:lnTo>
                <a:close/>
              </a:path>
            </a:pathLst>
          </a:custGeom>
          <a:blipFill>
            <a:blip r:embed="rId11"/>
            <a:stretch>
              <a:fillRect l="0" t="0" r="0" b="0"/>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FEEE5"/>
        </a:solidFill>
      </p:bgPr>
    </p:bg>
    <p:spTree>
      <p:nvGrpSpPr>
        <p:cNvPr id="1" name=""/>
        <p:cNvGrpSpPr/>
        <p:nvPr/>
      </p:nvGrpSpPr>
      <p:grpSpPr>
        <a:xfrm>
          <a:off x="0" y="0"/>
          <a:ext cx="0" cy="0"/>
          <a:chOff x="0" y="0"/>
          <a:chExt cx="0" cy="0"/>
        </a:xfrm>
      </p:grpSpPr>
      <p:sp>
        <p:nvSpPr>
          <p:cNvPr name="Freeform 2" id="2"/>
          <p:cNvSpPr/>
          <p:nvPr/>
        </p:nvSpPr>
        <p:spPr>
          <a:xfrm flipH="false" flipV="false" rot="0">
            <a:off x="404441" y="11779"/>
            <a:ext cx="2649958" cy="1016921"/>
          </a:xfrm>
          <a:custGeom>
            <a:avLst/>
            <a:gdLst/>
            <a:ahLst/>
            <a:cxnLst/>
            <a:rect r="r" b="b" t="t" l="l"/>
            <a:pathLst>
              <a:path h="1016921" w="2649958">
                <a:moveTo>
                  <a:pt x="0" y="0"/>
                </a:moveTo>
                <a:lnTo>
                  <a:pt x="2649958" y="0"/>
                </a:lnTo>
                <a:lnTo>
                  <a:pt x="2649958" y="1016921"/>
                </a:lnTo>
                <a:lnTo>
                  <a:pt x="0" y="1016921"/>
                </a:lnTo>
                <a:lnTo>
                  <a:pt x="0" y="0"/>
                </a:lnTo>
                <a:close/>
              </a:path>
            </a:pathLst>
          </a:custGeom>
          <a:blipFill>
            <a:blip r:embed="rId2"/>
            <a:stretch>
              <a:fillRect l="0" t="0" r="0" b="0"/>
            </a:stretch>
          </a:blipFill>
        </p:spPr>
      </p:sp>
      <p:sp>
        <p:nvSpPr>
          <p:cNvPr name="Freeform 3" id="3"/>
          <p:cNvSpPr/>
          <p:nvPr/>
        </p:nvSpPr>
        <p:spPr>
          <a:xfrm flipH="false" flipV="false" rot="0">
            <a:off x="1729420" y="2473193"/>
            <a:ext cx="10034307" cy="2464567"/>
          </a:xfrm>
          <a:custGeom>
            <a:avLst/>
            <a:gdLst/>
            <a:ahLst/>
            <a:cxnLst/>
            <a:rect r="r" b="b" t="t" l="l"/>
            <a:pathLst>
              <a:path h="2464567" w="10034307">
                <a:moveTo>
                  <a:pt x="0" y="0"/>
                </a:moveTo>
                <a:lnTo>
                  <a:pt x="10034307" y="0"/>
                </a:lnTo>
                <a:lnTo>
                  <a:pt x="10034307" y="2464567"/>
                </a:lnTo>
                <a:lnTo>
                  <a:pt x="0" y="2464567"/>
                </a:lnTo>
                <a:lnTo>
                  <a:pt x="0" y="0"/>
                </a:lnTo>
                <a:close/>
              </a:path>
            </a:pathLst>
          </a:custGeom>
          <a:blipFill>
            <a:blip r:embed="rId3"/>
            <a:stretch>
              <a:fillRect l="0" t="0" r="0" b="0"/>
            </a:stretch>
          </a:blipFill>
        </p:spPr>
      </p:sp>
      <p:sp>
        <p:nvSpPr>
          <p:cNvPr name="TextBox 4" id="4"/>
          <p:cNvSpPr txBox="true"/>
          <p:nvPr/>
        </p:nvSpPr>
        <p:spPr>
          <a:xfrm rot="0">
            <a:off x="1484999" y="1417388"/>
            <a:ext cx="14635980" cy="819517"/>
          </a:xfrm>
          <a:prstGeom prst="rect">
            <a:avLst/>
          </a:prstGeom>
        </p:spPr>
        <p:txBody>
          <a:bodyPr anchor="t" rtlCol="false" tIns="0" lIns="0" bIns="0" rIns="0">
            <a:spAutoFit/>
          </a:bodyPr>
          <a:lstStyle/>
          <a:p>
            <a:pPr algn="ctr">
              <a:lnSpc>
                <a:spcPts val="5951"/>
              </a:lnSpc>
            </a:pPr>
            <a:r>
              <a:rPr lang="en-US" sz="6399">
                <a:solidFill>
                  <a:srgbClr val="556BA0"/>
                </a:solidFill>
                <a:latin typeface="TDTD가시고딕"/>
                <a:ea typeface="TDTD가시고딕"/>
                <a:cs typeface="TDTD가시고딕"/>
                <a:sym typeface="TDTD가시고딕"/>
              </a:rPr>
              <a:t>Descriptive statistic – Numeric</a:t>
            </a:r>
          </a:p>
        </p:txBody>
      </p:sp>
      <p:sp>
        <p:nvSpPr>
          <p:cNvPr name="TextBox 5" id="5"/>
          <p:cNvSpPr txBox="true"/>
          <p:nvPr/>
        </p:nvSpPr>
        <p:spPr>
          <a:xfrm rot="0">
            <a:off x="1831152" y="4956810"/>
            <a:ext cx="14625696" cy="4804518"/>
          </a:xfrm>
          <a:prstGeom prst="rect">
            <a:avLst/>
          </a:prstGeom>
        </p:spPr>
        <p:txBody>
          <a:bodyPr anchor="t" rtlCol="false" tIns="0" lIns="0" bIns="0" rIns="0">
            <a:spAutoFit/>
          </a:bodyPr>
          <a:lstStyle/>
          <a:p>
            <a:pPr algn="l" marL="755651" indent="-377825" lvl="1">
              <a:lnSpc>
                <a:spcPts val="4620"/>
              </a:lnSpc>
              <a:buFont typeface="Arial"/>
              <a:buChar char="•"/>
            </a:pPr>
            <a:r>
              <a:rPr lang="en-US" sz="3500">
                <a:solidFill>
                  <a:srgbClr val="556BA0"/>
                </a:solidFill>
                <a:latin typeface="イワタ福まるご"/>
                <a:ea typeface="イワタ福まるご"/>
                <a:cs typeface="イワタ福まるご"/>
                <a:sym typeface="イワタ福まるご"/>
              </a:rPr>
              <a:t>Subjective security: Mean = 2.61</a:t>
            </a:r>
          </a:p>
          <a:p>
            <a:pPr algn="l">
              <a:lnSpc>
                <a:spcPts val="4620"/>
              </a:lnSpc>
            </a:pPr>
            <a:r>
              <a:rPr lang="en-US" sz="3500">
                <a:solidFill>
                  <a:srgbClr val="556BA0"/>
                </a:solidFill>
                <a:latin typeface="イワタ福まるご"/>
                <a:ea typeface="イワタ福まるご"/>
                <a:cs typeface="イワタ福まるご"/>
                <a:sym typeface="イワタ福まるご"/>
              </a:rPr>
              <a:t>⟶ Respondents were, on average, between “not very secure” and “quite secure”, closer to “quite secure”.</a:t>
            </a:r>
          </a:p>
          <a:p>
            <a:pPr algn="l" marL="755651" indent="-377825" lvl="1">
              <a:lnSpc>
                <a:spcPts val="4620"/>
              </a:lnSpc>
              <a:buFont typeface="Arial"/>
              <a:buChar char="•"/>
            </a:pPr>
            <a:r>
              <a:rPr lang="en-US" sz="3500">
                <a:solidFill>
                  <a:srgbClr val="556BA0"/>
                </a:solidFill>
                <a:latin typeface="イワタ福まるご"/>
                <a:ea typeface="イワタ福まるご"/>
                <a:cs typeface="イワタ福まるご"/>
                <a:sym typeface="イワタ福まるご"/>
              </a:rPr>
              <a:t>Perceived sexual harassment: Mean = 1.91 </a:t>
            </a:r>
          </a:p>
          <a:p>
            <a:pPr algn="l">
              <a:lnSpc>
                <a:spcPts val="4620"/>
              </a:lnSpc>
            </a:pPr>
            <a:r>
              <a:rPr lang="en-US" sz="3500">
                <a:solidFill>
                  <a:srgbClr val="556BA0"/>
                </a:solidFill>
                <a:latin typeface="イワタ福まるご"/>
                <a:ea typeface="イワタ福まるご"/>
                <a:cs typeface="イワタ福まるご"/>
                <a:sym typeface="イワタ福まるご"/>
              </a:rPr>
              <a:t>⟶ R</a:t>
            </a:r>
            <a:r>
              <a:rPr lang="en-US" sz="3500">
                <a:solidFill>
                  <a:srgbClr val="556BA0"/>
                </a:solidFill>
                <a:latin typeface="イワタ福まるご"/>
                <a:ea typeface="イワタ福まるご"/>
                <a:cs typeface="イワタ福まるご"/>
                <a:sym typeface="イワタ福まるご"/>
              </a:rPr>
              <a:t>espondents generally perceived sexual harassment as occurring between “not at all frequently” and “not frequently”, closer to “not frequently”.</a:t>
            </a:r>
          </a:p>
          <a:p>
            <a:pPr algn="l" marL="755651" indent="-377825" lvl="1">
              <a:lnSpc>
                <a:spcPts val="4620"/>
              </a:lnSpc>
              <a:buFont typeface="Arial"/>
              <a:buChar char="•"/>
            </a:pPr>
            <a:r>
              <a:rPr lang="en-US" sz="3500">
                <a:solidFill>
                  <a:srgbClr val="556BA0"/>
                </a:solidFill>
                <a:latin typeface="イワタ福まるご"/>
                <a:ea typeface="イワタ福まるご"/>
                <a:cs typeface="イワタ福まるご"/>
                <a:sym typeface="イワタ福まるご"/>
              </a:rPr>
              <a:t>Mean age: 38.3 years.</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FEEE5"/>
        </a:solidFill>
      </p:bgPr>
    </p:bg>
    <p:spTree>
      <p:nvGrpSpPr>
        <p:cNvPr id="1" name=""/>
        <p:cNvGrpSpPr/>
        <p:nvPr/>
      </p:nvGrpSpPr>
      <p:grpSpPr>
        <a:xfrm>
          <a:off x="0" y="0"/>
          <a:ext cx="0" cy="0"/>
          <a:chOff x="0" y="0"/>
          <a:chExt cx="0" cy="0"/>
        </a:xfrm>
      </p:grpSpPr>
      <p:sp>
        <p:nvSpPr>
          <p:cNvPr name="Freeform 2" id="2"/>
          <p:cNvSpPr/>
          <p:nvPr/>
        </p:nvSpPr>
        <p:spPr>
          <a:xfrm flipH="false" flipV="false" rot="0">
            <a:off x="810735" y="0"/>
            <a:ext cx="6102458" cy="10287000"/>
          </a:xfrm>
          <a:custGeom>
            <a:avLst/>
            <a:gdLst/>
            <a:ahLst/>
            <a:cxnLst/>
            <a:rect r="r" b="b" t="t" l="l"/>
            <a:pathLst>
              <a:path h="10287000" w="6102458">
                <a:moveTo>
                  <a:pt x="0" y="0"/>
                </a:moveTo>
                <a:lnTo>
                  <a:pt x="6102457" y="0"/>
                </a:lnTo>
                <a:lnTo>
                  <a:pt x="6102457"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6913192" y="541642"/>
            <a:ext cx="10776855" cy="2912705"/>
          </a:xfrm>
          <a:prstGeom prst="rect">
            <a:avLst/>
          </a:prstGeom>
        </p:spPr>
        <p:txBody>
          <a:bodyPr anchor="t" rtlCol="false" tIns="0" lIns="0" bIns="0" rIns="0">
            <a:spAutoFit/>
          </a:bodyPr>
          <a:lstStyle/>
          <a:p>
            <a:pPr algn="ctr">
              <a:lnSpc>
                <a:spcPts val="7440"/>
              </a:lnSpc>
            </a:pPr>
            <a:r>
              <a:rPr lang="en-US" sz="8000">
                <a:solidFill>
                  <a:srgbClr val="556BA0"/>
                </a:solidFill>
                <a:latin typeface="TDTD가시고딕"/>
                <a:ea typeface="TDTD가시고딕"/>
                <a:cs typeface="TDTD가시고딕"/>
                <a:sym typeface="TDTD가시고딕"/>
              </a:rPr>
              <a:t>Descriptive statistic – Categorical</a:t>
            </a:r>
          </a:p>
          <a:p>
            <a:pPr algn="ctr">
              <a:lnSpc>
                <a:spcPts val="7440"/>
              </a:lnSpc>
            </a:pPr>
          </a:p>
        </p:txBody>
      </p:sp>
      <p:sp>
        <p:nvSpPr>
          <p:cNvPr name="TextBox 4" id="4"/>
          <p:cNvSpPr txBox="true"/>
          <p:nvPr/>
        </p:nvSpPr>
        <p:spPr>
          <a:xfrm rot="0">
            <a:off x="7933531" y="2792852"/>
            <a:ext cx="9325769" cy="6465448"/>
          </a:xfrm>
          <a:prstGeom prst="rect">
            <a:avLst/>
          </a:prstGeom>
        </p:spPr>
        <p:txBody>
          <a:bodyPr anchor="t" rtlCol="false" tIns="0" lIns="0" bIns="0" rIns="0">
            <a:spAutoFit/>
          </a:bodyPr>
          <a:lstStyle/>
          <a:p>
            <a:pPr algn="l" marL="755651" indent="-377825" lvl="1">
              <a:lnSpc>
                <a:spcPts val="5565"/>
              </a:lnSpc>
              <a:buFont typeface="Arial"/>
              <a:buChar char="•"/>
            </a:pPr>
            <a:r>
              <a:rPr lang="en-US" sz="3500">
                <a:solidFill>
                  <a:srgbClr val="556BA0"/>
                </a:solidFill>
                <a:latin typeface="イワタ福まるご"/>
                <a:ea typeface="イワタ福まるご"/>
                <a:cs typeface="イワタ福まるご"/>
                <a:sym typeface="イワタ福まるご"/>
              </a:rPr>
              <a:t>The sample is nearly evenly split by gender (50.0% male; 50.0% female).</a:t>
            </a:r>
          </a:p>
          <a:p>
            <a:pPr algn="l" marL="755651" indent="-377825" lvl="1">
              <a:lnSpc>
                <a:spcPts val="5565"/>
              </a:lnSpc>
              <a:buFont typeface="Arial"/>
              <a:buChar char="•"/>
            </a:pPr>
            <a:r>
              <a:rPr lang="en-US" sz="3500">
                <a:solidFill>
                  <a:srgbClr val="556BA0"/>
                </a:solidFill>
                <a:latin typeface="イワタ福まるご"/>
                <a:ea typeface="イワタ福まるご"/>
                <a:cs typeface="イワタ福まるご"/>
                <a:sym typeface="イワタ福まるご"/>
              </a:rPr>
              <a:t>74.1% are employed and 63.4% are married.</a:t>
            </a:r>
          </a:p>
          <a:p>
            <a:pPr algn="l" marL="755651" indent="-377825" lvl="1">
              <a:lnSpc>
                <a:spcPts val="5565"/>
              </a:lnSpc>
              <a:buFont typeface="Arial"/>
              <a:buChar char="•"/>
            </a:pPr>
            <a:r>
              <a:rPr lang="en-US" sz="3500">
                <a:solidFill>
                  <a:srgbClr val="556BA0"/>
                </a:solidFill>
                <a:latin typeface="イワタ福まるご"/>
                <a:ea typeface="イワタ福まるご"/>
                <a:cs typeface="イワタ福まるご"/>
                <a:sym typeface="イワタ福まるご"/>
              </a:rPr>
              <a:t>13.2% report personal crime victimisation, while 20.1% report victimisation of a family member.</a:t>
            </a:r>
          </a:p>
          <a:p>
            <a:pPr algn="l" marL="755651" indent="-377825" lvl="1">
              <a:lnSpc>
                <a:spcPts val="5565"/>
              </a:lnSpc>
              <a:buFont typeface="Arial"/>
              <a:buChar char="•"/>
            </a:pPr>
            <a:r>
              <a:rPr lang="en-US" sz="3500">
                <a:solidFill>
                  <a:srgbClr val="556BA0"/>
                </a:solidFill>
                <a:latin typeface="イワタ福まるご"/>
                <a:ea typeface="イワタ福まるご"/>
                <a:cs typeface="イワタ福まるご"/>
                <a:sym typeface="イワタ福まるご"/>
              </a:rPr>
              <a:t>Education and household income show variation across categories.</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FEEE5"/>
        </a:solidFill>
      </p:bgPr>
    </p:bg>
    <p:spTree>
      <p:nvGrpSpPr>
        <p:cNvPr id="1" name=""/>
        <p:cNvGrpSpPr/>
        <p:nvPr/>
      </p:nvGrpSpPr>
      <p:grpSpPr>
        <a:xfrm>
          <a:off x="0" y="0"/>
          <a:ext cx="0" cy="0"/>
          <a:chOff x="0" y="0"/>
          <a:chExt cx="0" cy="0"/>
        </a:xfrm>
      </p:grpSpPr>
      <p:sp>
        <p:nvSpPr>
          <p:cNvPr name="Freeform 2" id="2"/>
          <p:cNvSpPr/>
          <p:nvPr/>
        </p:nvSpPr>
        <p:spPr>
          <a:xfrm flipH="false" flipV="false" rot="0">
            <a:off x="2211109" y="2324951"/>
            <a:ext cx="13543757" cy="3034853"/>
          </a:xfrm>
          <a:custGeom>
            <a:avLst/>
            <a:gdLst/>
            <a:ahLst/>
            <a:cxnLst/>
            <a:rect r="r" b="b" t="t" l="l"/>
            <a:pathLst>
              <a:path h="3034853" w="13543757">
                <a:moveTo>
                  <a:pt x="0" y="0"/>
                </a:moveTo>
                <a:lnTo>
                  <a:pt x="13543757" y="0"/>
                </a:lnTo>
                <a:lnTo>
                  <a:pt x="13543757" y="3034852"/>
                </a:lnTo>
                <a:lnTo>
                  <a:pt x="0" y="3034852"/>
                </a:lnTo>
                <a:lnTo>
                  <a:pt x="0" y="0"/>
                </a:lnTo>
                <a:close/>
              </a:path>
            </a:pathLst>
          </a:custGeom>
          <a:blipFill>
            <a:blip r:embed="rId2"/>
            <a:stretch>
              <a:fillRect l="0" t="-140133" r="0" b="0"/>
            </a:stretch>
          </a:blipFill>
        </p:spPr>
      </p:sp>
      <p:grpSp>
        <p:nvGrpSpPr>
          <p:cNvPr name="Group 3" id="3"/>
          <p:cNvGrpSpPr/>
          <p:nvPr/>
        </p:nvGrpSpPr>
        <p:grpSpPr>
          <a:xfrm rot="0">
            <a:off x="5647461" y="2657387"/>
            <a:ext cx="901730" cy="406191"/>
            <a:chOff x="0" y="0"/>
            <a:chExt cx="258520" cy="116452"/>
          </a:xfrm>
        </p:grpSpPr>
        <p:sp>
          <p:nvSpPr>
            <p:cNvPr name="Freeform 4" id="4"/>
            <p:cNvSpPr/>
            <p:nvPr/>
          </p:nvSpPr>
          <p:spPr>
            <a:xfrm flipH="false" flipV="false" rot="0">
              <a:off x="0" y="0"/>
              <a:ext cx="258520" cy="116452"/>
            </a:xfrm>
            <a:custGeom>
              <a:avLst/>
              <a:gdLst/>
              <a:ahLst/>
              <a:cxnLst/>
              <a:rect r="r" b="b" t="t" l="l"/>
              <a:pathLst>
                <a:path h="116452" w="258520">
                  <a:moveTo>
                    <a:pt x="129260" y="0"/>
                  </a:moveTo>
                  <a:cubicBezTo>
                    <a:pt x="57872" y="0"/>
                    <a:pt x="0" y="26069"/>
                    <a:pt x="0" y="58226"/>
                  </a:cubicBezTo>
                  <a:cubicBezTo>
                    <a:pt x="0" y="90383"/>
                    <a:pt x="57872" y="116452"/>
                    <a:pt x="129260" y="116452"/>
                  </a:cubicBezTo>
                  <a:cubicBezTo>
                    <a:pt x="200648" y="116452"/>
                    <a:pt x="258520" y="90383"/>
                    <a:pt x="258520" y="58226"/>
                  </a:cubicBezTo>
                  <a:cubicBezTo>
                    <a:pt x="258520" y="26069"/>
                    <a:pt x="200648" y="0"/>
                    <a:pt x="129260" y="0"/>
                  </a:cubicBezTo>
                  <a:close/>
                </a:path>
              </a:pathLst>
            </a:custGeom>
            <a:ln w="38100" cap="sq">
              <a:solidFill>
                <a:srgbClr val="DD4E4C"/>
              </a:solidFill>
              <a:prstDash val="solid"/>
              <a:miter/>
            </a:ln>
          </p:spPr>
        </p:sp>
        <p:sp>
          <p:nvSpPr>
            <p:cNvPr name="TextBox 5" id="5"/>
            <p:cNvSpPr txBox="true"/>
            <p:nvPr/>
          </p:nvSpPr>
          <p:spPr>
            <a:xfrm>
              <a:off x="24236" y="-27183"/>
              <a:ext cx="210047" cy="132717"/>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2211109" y="770579"/>
            <a:ext cx="12742815" cy="1026782"/>
          </a:xfrm>
          <a:prstGeom prst="rect">
            <a:avLst/>
          </a:prstGeom>
        </p:spPr>
        <p:txBody>
          <a:bodyPr anchor="t" rtlCol="false" tIns="0" lIns="0" bIns="0" rIns="0">
            <a:spAutoFit/>
          </a:bodyPr>
          <a:lstStyle/>
          <a:p>
            <a:pPr algn="l">
              <a:lnSpc>
                <a:spcPts val="7440"/>
              </a:lnSpc>
            </a:pPr>
            <a:r>
              <a:rPr lang="en-US" sz="8000">
                <a:solidFill>
                  <a:srgbClr val="556BA0"/>
                </a:solidFill>
                <a:latin typeface="TDTD가시고딕"/>
                <a:ea typeface="TDTD가시고딕"/>
                <a:cs typeface="TDTD가시고딕"/>
                <a:sym typeface="TDTD가시고딕"/>
              </a:rPr>
              <a:t>Correlation Table</a:t>
            </a:r>
          </a:p>
        </p:txBody>
      </p:sp>
      <p:sp>
        <p:nvSpPr>
          <p:cNvPr name="TextBox 7" id="7"/>
          <p:cNvSpPr txBox="true"/>
          <p:nvPr/>
        </p:nvSpPr>
        <p:spPr>
          <a:xfrm rot="0">
            <a:off x="1940689" y="5402519"/>
            <a:ext cx="15068082" cy="4054112"/>
          </a:xfrm>
          <a:prstGeom prst="rect">
            <a:avLst/>
          </a:prstGeom>
        </p:spPr>
        <p:txBody>
          <a:bodyPr anchor="t" rtlCol="false" tIns="0" lIns="0" bIns="0" rIns="0">
            <a:spAutoFit/>
          </a:bodyPr>
          <a:lstStyle/>
          <a:p>
            <a:pPr algn="l" marL="841217" indent="-420609" lvl="1">
              <a:lnSpc>
                <a:spcPts val="6195"/>
              </a:lnSpc>
              <a:buFont typeface="Arial"/>
              <a:buChar char="•"/>
            </a:pPr>
            <a:r>
              <a:rPr lang="en-US" sz="3896">
                <a:solidFill>
                  <a:srgbClr val="556BA0"/>
                </a:solidFill>
                <a:latin typeface="イワタ福まるご"/>
                <a:ea typeface="イワタ福まるご"/>
                <a:cs typeface="イワタ福まるご"/>
                <a:sym typeface="イワタ福まるご"/>
              </a:rPr>
              <a:t>Security &amp; harassment: moderate negative correlation (r_s = -0.376)</a:t>
            </a:r>
          </a:p>
          <a:p>
            <a:pPr algn="l" marL="841217" indent="-420609" lvl="1">
              <a:lnSpc>
                <a:spcPts val="6195"/>
              </a:lnSpc>
              <a:buFont typeface="Arial"/>
              <a:buChar char="•"/>
            </a:pPr>
            <a:r>
              <a:rPr lang="en-US" sz="3896">
                <a:solidFill>
                  <a:srgbClr val="556BA0"/>
                </a:solidFill>
                <a:latin typeface="イワタ福まるご"/>
                <a:ea typeface="イワタ福まるご"/>
                <a:cs typeface="イワタ福まるご"/>
                <a:sym typeface="イワタ福まるご"/>
              </a:rPr>
              <a:t>Gender: very weak bivariate correlations with both key variables</a:t>
            </a:r>
          </a:p>
          <a:p>
            <a:pPr algn="l" marL="841217" indent="-420609" lvl="1">
              <a:lnSpc>
                <a:spcPts val="6195"/>
              </a:lnSpc>
              <a:buFont typeface="Arial"/>
              <a:buChar char="•"/>
            </a:pPr>
            <a:r>
              <a:rPr lang="en-US" sz="3896">
                <a:solidFill>
                  <a:srgbClr val="556BA0"/>
                </a:solidFill>
                <a:latin typeface="イワタ福まるご"/>
                <a:ea typeface="イワタ福まるご"/>
                <a:cs typeface="イワタ福まるご"/>
                <a:sym typeface="イワタ福まるご"/>
              </a:rPr>
              <a:t>Controls: no very high pairwise correlations; highest is between personal and family victimisation (r_s = 0.434)</a:t>
            </a:r>
          </a:p>
        </p:txBody>
      </p:sp>
      <p:grpSp>
        <p:nvGrpSpPr>
          <p:cNvPr name="Group 8" id="8"/>
          <p:cNvGrpSpPr/>
          <p:nvPr/>
        </p:nvGrpSpPr>
        <p:grpSpPr>
          <a:xfrm rot="0">
            <a:off x="12519189" y="4493828"/>
            <a:ext cx="901730" cy="406191"/>
            <a:chOff x="0" y="0"/>
            <a:chExt cx="258520" cy="116452"/>
          </a:xfrm>
        </p:grpSpPr>
        <p:sp>
          <p:nvSpPr>
            <p:cNvPr name="Freeform 9" id="9"/>
            <p:cNvSpPr/>
            <p:nvPr/>
          </p:nvSpPr>
          <p:spPr>
            <a:xfrm flipH="false" flipV="false" rot="0">
              <a:off x="0" y="0"/>
              <a:ext cx="258520" cy="116452"/>
            </a:xfrm>
            <a:custGeom>
              <a:avLst/>
              <a:gdLst/>
              <a:ahLst/>
              <a:cxnLst/>
              <a:rect r="r" b="b" t="t" l="l"/>
              <a:pathLst>
                <a:path h="116452" w="258520">
                  <a:moveTo>
                    <a:pt x="129260" y="0"/>
                  </a:moveTo>
                  <a:cubicBezTo>
                    <a:pt x="57872" y="0"/>
                    <a:pt x="0" y="26069"/>
                    <a:pt x="0" y="58226"/>
                  </a:cubicBezTo>
                  <a:cubicBezTo>
                    <a:pt x="0" y="90383"/>
                    <a:pt x="57872" y="116452"/>
                    <a:pt x="129260" y="116452"/>
                  </a:cubicBezTo>
                  <a:cubicBezTo>
                    <a:pt x="200648" y="116452"/>
                    <a:pt x="258520" y="90383"/>
                    <a:pt x="258520" y="58226"/>
                  </a:cubicBezTo>
                  <a:cubicBezTo>
                    <a:pt x="258520" y="26069"/>
                    <a:pt x="200648" y="0"/>
                    <a:pt x="129260" y="0"/>
                  </a:cubicBezTo>
                  <a:close/>
                </a:path>
              </a:pathLst>
            </a:custGeom>
            <a:ln w="38100" cap="sq">
              <a:solidFill>
                <a:srgbClr val="DD4E4C"/>
              </a:solidFill>
              <a:prstDash val="solid"/>
              <a:miter/>
            </a:ln>
          </p:spPr>
        </p:sp>
        <p:sp>
          <p:nvSpPr>
            <p:cNvPr name="TextBox 10" id="10"/>
            <p:cNvSpPr txBox="true"/>
            <p:nvPr/>
          </p:nvSpPr>
          <p:spPr>
            <a:xfrm>
              <a:off x="24236" y="-27183"/>
              <a:ext cx="210047" cy="132717"/>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FEEE5"/>
        </a:solidFill>
      </p:bgPr>
    </p:bg>
    <p:spTree>
      <p:nvGrpSpPr>
        <p:cNvPr id="1" name=""/>
        <p:cNvGrpSpPr/>
        <p:nvPr/>
      </p:nvGrpSpPr>
      <p:grpSpPr>
        <a:xfrm>
          <a:off x="0" y="0"/>
          <a:ext cx="0" cy="0"/>
          <a:chOff x="0" y="0"/>
          <a:chExt cx="0" cy="0"/>
        </a:xfrm>
      </p:grpSpPr>
      <p:sp>
        <p:nvSpPr>
          <p:cNvPr name="Freeform 2" id="2"/>
          <p:cNvSpPr/>
          <p:nvPr/>
        </p:nvSpPr>
        <p:spPr>
          <a:xfrm flipH="false" flipV="false" rot="0">
            <a:off x="1206701" y="3033681"/>
            <a:ext cx="8788587" cy="6608795"/>
          </a:xfrm>
          <a:custGeom>
            <a:avLst/>
            <a:gdLst/>
            <a:ahLst/>
            <a:cxnLst/>
            <a:rect r="r" b="b" t="t" l="l"/>
            <a:pathLst>
              <a:path h="6608795" w="8788587">
                <a:moveTo>
                  <a:pt x="0" y="0"/>
                </a:moveTo>
                <a:lnTo>
                  <a:pt x="8788586" y="0"/>
                </a:lnTo>
                <a:lnTo>
                  <a:pt x="8788586" y="6608795"/>
                </a:lnTo>
                <a:lnTo>
                  <a:pt x="0" y="6608795"/>
                </a:lnTo>
                <a:lnTo>
                  <a:pt x="0" y="0"/>
                </a:lnTo>
                <a:close/>
              </a:path>
            </a:pathLst>
          </a:custGeom>
          <a:blipFill>
            <a:blip r:embed="rId2"/>
            <a:stretch>
              <a:fillRect l="0" t="0" r="0" b="0"/>
            </a:stretch>
          </a:blipFill>
        </p:spPr>
      </p:sp>
      <p:sp>
        <p:nvSpPr>
          <p:cNvPr name="TextBox 3" id="3"/>
          <p:cNvSpPr txBox="true"/>
          <p:nvPr/>
        </p:nvSpPr>
        <p:spPr>
          <a:xfrm rot="0">
            <a:off x="8434103" y="1616062"/>
            <a:ext cx="9423900" cy="1026796"/>
          </a:xfrm>
          <a:prstGeom prst="rect">
            <a:avLst/>
          </a:prstGeom>
        </p:spPr>
        <p:txBody>
          <a:bodyPr anchor="t" rtlCol="false" tIns="0" lIns="0" bIns="0" rIns="0">
            <a:spAutoFit/>
          </a:bodyPr>
          <a:lstStyle/>
          <a:p>
            <a:pPr algn="ctr">
              <a:lnSpc>
                <a:spcPts val="7440"/>
              </a:lnSpc>
            </a:pPr>
            <a:r>
              <a:rPr lang="en-US" sz="8000">
                <a:solidFill>
                  <a:srgbClr val="556BA0"/>
                </a:solidFill>
                <a:latin typeface="TDTD가시고딕"/>
                <a:ea typeface="TDTD가시고딕"/>
                <a:cs typeface="TDTD가시고딕"/>
                <a:sym typeface="TDTD가시고딕"/>
              </a:rPr>
              <a:t>Data Visualization</a:t>
            </a:r>
          </a:p>
        </p:txBody>
      </p:sp>
      <p:sp>
        <p:nvSpPr>
          <p:cNvPr name="TextBox 4" id="4"/>
          <p:cNvSpPr txBox="true"/>
          <p:nvPr/>
        </p:nvSpPr>
        <p:spPr>
          <a:xfrm rot="0">
            <a:off x="11910677" y="2678352"/>
            <a:ext cx="6788790" cy="1026796"/>
          </a:xfrm>
          <a:prstGeom prst="rect">
            <a:avLst/>
          </a:prstGeom>
        </p:spPr>
        <p:txBody>
          <a:bodyPr anchor="t" rtlCol="false" tIns="0" lIns="0" bIns="0" rIns="0">
            <a:spAutoFit/>
          </a:bodyPr>
          <a:lstStyle/>
          <a:p>
            <a:pPr algn="ctr">
              <a:lnSpc>
                <a:spcPts val="7440"/>
              </a:lnSpc>
            </a:pPr>
            <a:r>
              <a:rPr lang="en-US" sz="8000">
                <a:solidFill>
                  <a:srgbClr val="556BA0"/>
                </a:solidFill>
                <a:latin typeface="TDTD가시고딕"/>
                <a:ea typeface="TDTD가시고딕"/>
                <a:cs typeface="TDTD가시고딕"/>
                <a:sym typeface="TDTD가시고딕"/>
              </a:rPr>
              <a:t>Heat map</a:t>
            </a:r>
          </a:p>
        </p:txBody>
      </p:sp>
      <p:sp>
        <p:nvSpPr>
          <p:cNvPr name="Freeform 5" id="5"/>
          <p:cNvSpPr/>
          <p:nvPr/>
        </p:nvSpPr>
        <p:spPr>
          <a:xfrm flipH="false" flipV="false" rot="0">
            <a:off x="1028700" y="1254683"/>
            <a:ext cx="2649958" cy="1016921"/>
          </a:xfrm>
          <a:custGeom>
            <a:avLst/>
            <a:gdLst/>
            <a:ahLst/>
            <a:cxnLst/>
            <a:rect r="r" b="b" t="t" l="l"/>
            <a:pathLst>
              <a:path h="1016921" w="2649958">
                <a:moveTo>
                  <a:pt x="0" y="0"/>
                </a:moveTo>
                <a:lnTo>
                  <a:pt x="2649958" y="0"/>
                </a:lnTo>
                <a:lnTo>
                  <a:pt x="2649958" y="1016921"/>
                </a:lnTo>
                <a:lnTo>
                  <a:pt x="0" y="1016921"/>
                </a:lnTo>
                <a:lnTo>
                  <a:pt x="0" y="0"/>
                </a:lnTo>
                <a:close/>
              </a:path>
            </a:pathLst>
          </a:custGeom>
          <a:blipFill>
            <a:blip r:embed="rId3"/>
            <a:stretch>
              <a:fillRect l="0" t="0" r="0" b="0"/>
            </a:stretch>
          </a:blipFill>
        </p:spPr>
      </p:sp>
      <p:sp>
        <p:nvSpPr>
          <p:cNvPr name="TextBox 6" id="6"/>
          <p:cNvSpPr txBox="true"/>
          <p:nvPr/>
        </p:nvSpPr>
        <p:spPr>
          <a:xfrm rot="0">
            <a:off x="10836751" y="3901774"/>
            <a:ext cx="7059036" cy="4578350"/>
          </a:xfrm>
          <a:prstGeom prst="rect">
            <a:avLst/>
          </a:prstGeom>
        </p:spPr>
        <p:txBody>
          <a:bodyPr anchor="t" rtlCol="false" tIns="0" lIns="0" bIns="0" rIns="0">
            <a:spAutoFit/>
          </a:bodyPr>
          <a:lstStyle/>
          <a:p>
            <a:pPr algn="l" marL="755651" indent="-377825" lvl="1">
              <a:lnSpc>
                <a:spcPts val="4375"/>
              </a:lnSpc>
              <a:buFont typeface="Arial"/>
              <a:buChar char="•"/>
            </a:pPr>
            <a:r>
              <a:rPr lang="en-US" sz="3500">
                <a:solidFill>
                  <a:srgbClr val="556BA0"/>
                </a:solidFill>
                <a:latin typeface="イワタ福まるご"/>
                <a:ea typeface="イワタ福まるご"/>
                <a:cs typeface="イワタ福まるご"/>
                <a:sym typeface="イワタ福まるご"/>
              </a:rPr>
              <a:t>Each colour block represents the proportion of people at each security level within each harassment frequency group</a:t>
            </a:r>
          </a:p>
          <a:p>
            <a:pPr algn="l" marL="755651" indent="-377825" lvl="1">
              <a:lnSpc>
                <a:spcPts val="4375"/>
              </a:lnSpc>
              <a:buFont typeface="Arial"/>
              <a:buChar char="•"/>
            </a:pPr>
            <a:r>
              <a:rPr lang="en-US" sz="3500">
                <a:solidFill>
                  <a:srgbClr val="556BA0"/>
                </a:solidFill>
                <a:latin typeface="イワタ福まるご"/>
                <a:ea typeface="イワタ福まるご"/>
                <a:cs typeface="イワタ福まるご"/>
                <a:sym typeface="イワタ福まるご"/>
              </a:rPr>
              <a:t>Findings: As perceived harassment becomes more frequent, subjective security tends to decrease</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FEEE5"/>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254683"/>
            <a:ext cx="2649958" cy="1016921"/>
          </a:xfrm>
          <a:custGeom>
            <a:avLst/>
            <a:gdLst/>
            <a:ahLst/>
            <a:cxnLst/>
            <a:rect r="r" b="b" t="t" l="l"/>
            <a:pathLst>
              <a:path h="1016921" w="2649958">
                <a:moveTo>
                  <a:pt x="0" y="0"/>
                </a:moveTo>
                <a:lnTo>
                  <a:pt x="2649958" y="0"/>
                </a:lnTo>
                <a:lnTo>
                  <a:pt x="2649958" y="1016921"/>
                </a:lnTo>
                <a:lnTo>
                  <a:pt x="0" y="1016921"/>
                </a:lnTo>
                <a:lnTo>
                  <a:pt x="0" y="0"/>
                </a:lnTo>
                <a:close/>
              </a:path>
            </a:pathLst>
          </a:custGeom>
          <a:blipFill>
            <a:blip r:embed="rId2"/>
            <a:stretch>
              <a:fillRect l="0" t="0" r="0" b="0"/>
            </a:stretch>
          </a:blipFill>
        </p:spPr>
      </p:sp>
      <p:sp>
        <p:nvSpPr>
          <p:cNvPr name="Freeform 3" id="3"/>
          <p:cNvSpPr/>
          <p:nvPr/>
        </p:nvSpPr>
        <p:spPr>
          <a:xfrm flipH="false" flipV="false" rot="0">
            <a:off x="328638" y="2898911"/>
            <a:ext cx="8815362" cy="6614981"/>
          </a:xfrm>
          <a:custGeom>
            <a:avLst/>
            <a:gdLst/>
            <a:ahLst/>
            <a:cxnLst/>
            <a:rect r="r" b="b" t="t" l="l"/>
            <a:pathLst>
              <a:path h="6614981" w="8815362">
                <a:moveTo>
                  <a:pt x="0" y="0"/>
                </a:moveTo>
                <a:lnTo>
                  <a:pt x="8815362" y="0"/>
                </a:lnTo>
                <a:lnTo>
                  <a:pt x="8815362" y="6614981"/>
                </a:lnTo>
                <a:lnTo>
                  <a:pt x="0" y="6614981"/>
                </a:lnTo>
                <a:lnTo>
                  <a:pt x="0" y="0"/>
                </a:lnTo>
                <a:close/>
              </a:path>
            </a:pathLst>
          </a:custGeom>
          <a:blipFill>
            <a:blip r:embed="rId3"/>
            <a:stretch>
              <a:fillRect l="0" t="0" r="0" b="0"/>
            </a:stretch>
          </a:blipFill>
        </p:spPr>
      </p:sp>
      <p:sp>
        <p:nvSpPr>
          <p:cNvPr name="TextBox 4" id="4"/>
          <p:cNvSpPr txBox="true"/>
          <p:nvPr/>
        </p:nvSpPr>
        <p:spPr>
          <a:xfrm rot="0">
            <a:off x="8434103" y="1616062"/>
            <a:ext cx="9423900" cy="1026796"/>
          </a:xfrm>
          <a:prstGeom prst="rect">
            <a:avLst/>
          </a:prstGeom>
        </p:spPr>
        <p:txBody>
          <a:bodyPr anchor="t" rtlCol="false" tIns="0" lIns="0" bIns="0" rIns="0">
            <a:spAutoFit/>
          </a:bodyPr>
          <a:lstStyle/>
          <a:p>
            <a:pPr algn="ctr">
              <a:lnSpc>
                <a:spcPts val="7440"/>
              </a:lnSpc>
            </a:pPr>
            <a:r>
              <a:rPr lang="en-US" sz="8000">
                <a:solidFill>
                  <a:srgbClr val="556BA0"/>
                </a:solidFill>
                <a:latin typeface="TDTD가시고딕"/>
                <a:ea typeface="TDTD가시고딕"/>
                <a:cs typeface="TDTD가시고딕"/>
                <a:sym typeface="TDTD가시고딕"/>
              </a:rPr>
              <a:t>Data Visualization</a:t>
            </a:r>
          </a:p>
        </p:txBody>
      </p:sp>
      <p:sp>
        <p:nvSpPr>
          <p:cNvPr name="TextBox 5" id="5"/>
          <p:cNvSpPr txBox="true"/>
          <p:nvPr/>
        </p:nvSpPr>
        <p:spPr>
          <a:xfrm rot="0">
            <a:off x="8500534" y="2656208"/>
            <a:ext cx="9291038" cy="1026796"/>
          </a:xfrm>
          <a:prstGeom prst="rect">
            <a:avLst/>
          </a:prstGeom>
        </p:spPr>
        <p:txBody>
          <a:bodyPr anchor="t" rtlCol="false" tIns="0" lIns="0" bIns="0" rIns="0">
            <a:spAutoFit/>
          </a:bodyPr>
          <a:lstStyle/>
          <a:p>
            <a:pPr algn="ctr">
              <a:lnSpc>
                <a:spcPts val="7440"/>
              </a:lnSpc>
            </a:pPr>
            <a:r>
              <a:rPr lang="en-US" sz="8000">
                <a:solidFill>
                  <a:srgbClr val="556BA0"/>
                </a:solidFill>
                <a:latin typeface="TDTD가시고딕"/>
                <a:ea typeface="TDTD가시고딕"/>
                <a:cs typeface="TDTD가시고딕"/>
                <a:sym typeface="TDTD가시고딕"/>
              </a:rPr>
              <a:t>Stacked bar chart</a:t>
            </a:r>
          </a:p>
        </p:txBody>
      </p:sp>
      <p:sp>
        <p:nvSpPr>
          <p:cNvPr name="TextBox 6" id="6"/>
          <p:cNvSpPr txBox="true"/>
          <p:nvPr/>
        </p:nvSpPr>
        <p:spPr>
          <a:xfrm rot="0">
            <a:off x="10836751" y="3901774"/>
            <a:ext cx="7059036" cy="4578350"/>
          </a:xfrm>
          <a:prstGeom prst="rect">
            <a:avLst/>
          </a:prstGeom>
        </p:spPr>
        <p:txBody>
          <a:bodyPr anchor="t" rtlCol="false" tIns="0" lIns="0" bIns="0" rIns="0">
            <a:spAutoFit/>
          </a:bodyPr>
          <a:lstStyle/>
          <a:p>
            <a:pPr algn="l" marL="755651" indent="-377825" lvl="1">
              <a:lnSpc>
                <a:spcPts val="4375"/>
              </a:lnSpc>
              <a:buFont typeface="Arial"/>
              <a:buChar char="•"/>
            </a:pPr>
            <a:r>
              <a:rPr lang="en-US" sz="3500">
                <a:solidFill>
                  <a:srgbClr val="556BA0"/>
                </a:solidFill>
                <a:latin typeface="イワタ福まるご"/>
                <a:ea typeface="イワタ福まるご"/>
                <a:cs typeface="イワタ福まるご"/>
                <a:sym typeface="イワタ福まるご"/>
              </a:rPr>
              <a:t>When harassment frequency = 1, security = 4 has the largest proportion → many respondents feel safe</a:t>
            </a:r>
          </a:p>
          <a:p>
            <a:pPr algn="l" marL="755651" indent="-377825" lvl="1">
              <a:lnSpc>
                <a:spcPts val="4375"/>
              </a:lnSpc>
              <a:buFont typeface="Arial"/>
              <a:buChar char="•"/>
            </a:pPr>
            <a:r>
              <a:rPr lang="en-US" sz="3500">
                <a:solidFill>
                  <a:srgbClr val="556BA0"/>
                </a:solidFill>
                <a:latin typeface="イワタ福まるご"/>
                <a:ea typeface="イワタ福まるご"/>
                <a:cs typeface="イワタ福まるご"/>
                <a:sym typeface="イワタ福まるご"/>
              </a:rPr>
              <a:t>When harassment frequency = 4, security = 1 has the largest proportion → many respondents feel unsafe</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FFEEE5"/>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254683"/>
            <a:ext cx="2649958" cy="1016921"/>
          </a:xfrm>
          <a:custGeom>
            <a:avLst/>
            <a:gdLst/>
            <a:ahLst/>
            <a:cxnLst/>
            <a:rect r="r" b="b" t="t" l="l"/>
            <a:pathLst>
              <a:path h="1016921" w="2649958">
                <a:moveTo>
                  <a:pt x="0" y="0"/>
                </a:moveTo>
                <a:lnTo>
                  <a:pt x="2649958" y="0"/>
                </a:lnTo>
                <a:lnTo>
                  <a:pt x="2649958" y="1016921"/>
                </a:lnTo>
                <a:lnTo>
                  <a:pt x="0" y="1016921"/>
                </a:lnTo>
                <a:lnTo>
                  <a:pt x="0" y="0"/>
                </a:lnTo>
                <a:close/>
              </a:path>
            </a:pathLst>
          </a:custGeom>
          <a:blipFill>
            <a:blip r:embed="rId2"/>
            <a:stretch>
              <a:fillRect l="0" t="0" r="0" b="0"/>
            </a:stretch>
          </a:blipFill>
        </p:spPr>
      </p:sp>
      <p:sp>
        <p:nvSpPr>
          <p:cNvPr name="Freeform 3" id="3"/>
          <p:cNvSpPr/>
          <p:nvPr/>
        </p:nvSpPr>
        <p:spPr>
          <a:xfrm flipH="false" flipV="false" rot="0">
            <a:off x="328146" y="3074356"/>
            <a:ext cx="8815854" cy="6611891"/>
          </a:xfrm>
          <a:custGeom>
            <a:avLst/>
            <a:gdLst/>
            <a:ahLst/>
            <a:cxnLst/>
            <a:rect r="r" b="b" t="t" l="l"/>
            <a:pathLst>
              <a:path h="6611891" w="8815854">
                <a:moveTo>
                  <a:pt x="0" y="0"/>
                </a:moveTo>
                <a:lnTo>
                  <a:pt x="8815854" y="0"/>
                </a:lnTo>
                <a:lnTo>
                  <a:pt x="8815854" y="6611891"/>
                </a:lnTo>
                <a:lnTo>
                  <a:pt x="0" y="6611891"/>
                </a:lnTo>
                <a:lnTo>
                  <a:pt x="0" y="0"/>
                </a:lnTo>
                <a:close/>
              </a:path>
            </a:pathLst>
          </a:custGeom>
          <a:blipFill>
            <a:blip r:embed="rId3"/>
            <a:stretch>
              <a:fillRect l="0" t="0" r="0" b="0"/>
            </a:stretch>
          </a:blipFill>
        </p:spPr>
      </p:sp>
      <p:sp>
        <p:nvSpPr>
          <p:cNvPr name="TextBox 4" id="4"/>
          <p:cNvSpPr txBox="true"/>
          <p:nvPr/>
        </p:nvSpPr>
        <p:spPr>
          <a:xfrm rot="0">
            <a:off x="8434103" y="1616062"/>
            <a:ext cx="9423900" cy="1026796"/>
          </a:xfrm>
          <a:prstGeom prst="rect">
            <a:avLst/>
          </a:prstGeom>
        </p:spPr>
        <p:txBody>
          <a:bodyPr anchor="t" rtlCol="false" tIns="0" lIns="0" bIns="0" rIns="0">
            <a:spAutoFit/>
          </a:bodyPr>
          <a:lstStyle/>
          <a:p>
            <a:pPr algn="ctr">
              <a:lnSpc>
                <a:spcPts val="7440"/>
              </a:lnSpc>
            </a:pPr>
            <a:r>
              <a:rPr lang="en-US" sz="8000">
                <a:solidFill>
                  <a:srgbClr val="556BA0"/>
                </a:solidFill>
                <a:latin typeface="TDTD가시고딕"/>
                <a:ea typeface="TDTD가시고딕"/>
                <a:cs typeface="TDTD가시고딕"/>
                <a:sym typeface="TDTD가시고딕"/>
              </a:rPr>
              <a:t>Data Visualization</a:t>
            </a:r>
          </a:p>
        </p:txBody>
      </p:sp>
      <p:sp>
        <p:nvSpPr>
          <p:cNvPr name="TextBox 5" id="5"/>
          <p:cNvSpPr txBox="true"/>
          <p:nvPr/>
        </p:nvSpPr>
        <p:spPr>
          <a:xfrm rot="0">
            <a:off x="8500534" y="2656208"/>
            <a:ext cx="9291038" cy="1026796"/>
          </a:xfrm>
          <a:prstGeom prst="rect">
            <a:avLst/>
          </a:prstGeom>
        </p:spPr>
        <p:txBody>
          <a:bodyPr anchor="t" rtlCol="false" tIns="0" lIns="0" bIns="0" rIns="0">
            <a:spAutoFit/>
          </a:bodyPr>
          <a:lstStyle/>
          <a:p>
            <a:pPr algn="ctr">
              <a:lnSpc>
                <a:spcPts val="7440"/>
              </a:lnSpc>
            </a:pPr>
            <a:r>
              <a:rPr lang="en-US" sz="8000">
                <a:solidFill>
                  <a:srgbClr val="556BA0"/>
                </a:solidFill>
                <a:latin typeface="TDTD가시고딕"/>
                <a:ea typeface="TDTD가시고딕"/>
                <a:cs typeface="TDTD가시고딕"/>
                <a:sym typeface="TDTD가시고딕"/>
              </a:rPr>
              <a:t>Gender difference</a:t>
            </a:r>
          </a:p>
        </p:txBody>
      </p:sp>
      <p:sp>
        <p:nvSpPr>
          <p:cNvPr name="TextBox 6" id="6"/>
          <p:cNvSpPr txBox="true"/>
          <p:nvPr/>
        </p:nvSpPr>
        <p:spPr>
          <a:xfrm rot="0">
            <a:off x="10836751" y="3901774"/>
            <a:ext cx="7059036" cy="4578350"/>
          </a:xfrm>
          <a:prstGeom prst="rect">
            <a:avLst/>
          </a:prstGeom>
        </p:spPr>
        <p:txBody>
          <a:bodyPr anchor="t" rtlCol="false" tIns="0" lIns="0" bIns="0" rIns="0">
            <a:spAutoFit/>
          </a:bodyPr>
          <a:lstStyle/>
          <a:p>
            <a:pPr algn="l" marL="755651" indent="-377825" lvl="1">
              <a:lnSpc>
                <a:spcPts val="4375"/>
              </a:lnSpc>
              <a:buFont typeface="Arial"/>
              <a:buChar char="•"/>
            </a:pPr>
            <a:r>
              <a:rPr lang="en-US" sz="3500">
                <a:solidFill>
                  <a:srgbClr val="556BA0"/>
                </a:solidFill>
                <a:latin typeface="イワタ福まるご"/>
                <a:ea typeface="イワタ福まるご"/>
                <a:cs typeface="イワタ福まるご"/>
                <a:sym typeface="イワタ福まるご"/>
              </a:rPr>
              <a:t>For both men and women, as perceived frequency of sexual harassment becomes more frequent, their subjective security becomes lower</a:t>
            </a:r>
          </a:p>
          <a:p>
            <a:pPr algn="l" marL="755651" indent="-377825" lvl="1">
              <a:lnSpc>
                <a:spcPts val="4375"/>
              </a:lnSpc>
              <a:buFont typeface="Arial"/>
              <a:buChar char="•"/>
            </a:pPr>
            <a:r>
              <a:rPr lang="en-US" sz="3500">
                <a:solidFill>
                  <a:srgbClr val="556BA0"/>
                </a:solidFill>
                <a:latin typeface="イワタ福まるご"/>
                <a:ea typeface="イワタ福まるご"/>
                <a:cs typeface="イワタ福まるご"/>
                <a:sym typeface="イワタ福まるご"/>
              </a:rPr>
              <a:t>However, women generally reports lower subjective security than men</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FFEEE5"/>
        </a:solidFill>
      </p:bgPr>
    </p:bg>
    <p:spTree>
      <p:nvGrpSpPr>
        <p:cNvPr id="1" name=""/>
        <p:cNvGrpSpPr/>
        <p:nvPr/>
      </p:nvGrpSpPr>
      <p:grpSpPr>
        <a:xfrm>
          <a:off x="0" y="0"/>
          <a:ext cx="0" cy="0"/>
          <a:chOff x="0" y="0"/>
          <a:chExt cx="0" cy="0"/>
        </a:xfrm>
      </p:grpSpPr>
      <p:sp>
        <p:nvSpPr>
          <p:cNvPr name="Freeform 2" id="2"/>
          <p:cNvSpPr/>
          <p:nvPr/>
        </p:nvSpPr>
        <p:spPr>
          <a:xfrm flipH="false" flipV="false" rot="0">
            <a:off x="700773" y="0"/>
            <a:ext cx="6512358" cy="5890628"/>
          </a:xfrm>
          <a:custGeom>
            <a:avLst/>
            <a:gdLst/>
            <a:ahLst/>
            <a:cxnLst/>
            <a:rect r="r" b="b" t="t" l="l"/>
            <a:pathLst>
              <a:path h="5890628" w="6512358">
                <a:moveTo>
                  <a:pt x="0" y="0"/>
                </a:moveTo>
                <a:lnTo>
                  <a:pt x="6512358" y="0"/>
                </a:lnTo>
                <a:lnTo>
                  <a:pt x="6512358" y="5890628"/>
                </a:lnTo>
                <a:lnTo>
                  <a:pt x="0" y="5890628"/>
                </a:lnTo>
                <a:lnTo>
                  <a:pt x="0" y="0"/>
                </a:lnTo>
                <a:close/>
              </a:path>
            </a:pathLst>
          </a:custGeom>
          <a:blipFill>
            <a:blip r:embed="rId2"/>
            <a:stretch>
              <a:fillRect l="0" t="0" r="0" b="0"/>
            </a:stretch>
          </a:blipFill>
        </p:spPr>
      </p:sp>
      <p:sp>
        <p:nvSpPr>
          <p:cNvPr name="Freeform 3" id="3"/>
          <p:cNvSpPr/>
          <p:nvPr/>
        </p:nvSpPr>
        <p:spPr>
          <a:xfrm flipH="false" flipV="false" rot="0">
            <a:off x="700773" y="5890628"/>
            <a:ext cx="6512358" cy="4419862"/>
          </a:xfrm>
          <a:custGeom>
            <a:avLst/>
            <a:gdLst/>
            <a:ahLst/>
            <a:cxnLst/>
            <a:rect r="r" b="b" t="t" l="l"/>
            <a:pathLst>
              <a:path h="4419862" w="6512358">
                <a:moveTo>
                  <a:pt x="0" y="0"/>
                </a:moveTo>
                <a:lnTo>
                  <a:pt x="6512358" y="0"/>
                </a:lnTo>
                <a:lnTo>
                  <a:pt x="6512358" y="4419862"/>
                </a:lnTo>
                <a:lnTo>
                  <a:pt x="0" y="4419862"/>
                </a:lnTo>
                <a:lnTo>
                  <a:pt x="0" y="0"/>
                </a:lnTo>
                <a:close/>
              </a:path>
            </a:pathLst>
          </a:custGeom>
          <a:blipFill>
            <a:blip r:embed="rId3"/>
            <a:stretch>
              <a:fillRect l="0" t="0" r="0" b="0"/>
            </a:stretch>
          </a:blipFill>
        </p:spPr>
      </p:sp>
      <p:sp>
        <p:nvSpPr>
          <p:cNvPr name="TextBox 4" id="4"/>
          <p:cNvSpPr txBox="true"/>
          <p:nvPr/>
        </p:nvSpPr>
        <p:spPr>
          <a:xfrm rot="0">
            <a:off x="7470260" y="529781"/>
            <a:ext cx="10817740" cy="1054989"/>
          </a:xfrm>
          <a:prstGeom prst="rect">
            <a:avLst/>
          </a:prstGeom>
        </p:spPr>
        <p:txBody>
          <a:bodyPr anchor="t" rtlCol="false" tIns="0" lIns="0" bIns="0" rIns="0">
            <a:spAutoFit/>
          </a:bodyPr>
          <a:lstStyle/>
          <a:p>
            <a:pPr algn="ctr">
              <a:lnSpc>
                <a:spcPts val="8102"/>
              </a:lnSpc>
            </a:pPr>
            <a:r>
              <a:rPr lang="en-US" sz="7299">
                <a:solidFill>
                  <a:srgbClr val="556BA0"/>
                </a:solidFill>
                <a:latin typeface="TDTD가시고딕"/>
                <a:ea typeface="TDTD가시고딕"/>
                <a:cs typeface="TDTD가시고딕"/>
                <a:sym typeface="TDTD가시고딕"/>
              </a:rPr>
              <a:t>Regression - Malaysia</a:t>
            </a:r>
          </a:p>
        </p:txBody>
      </p:sp>
      <p:sp>
        <p:nvSpPr>
          <p:cNvPr name="TextBox 5" id="5"/>
          <p:cNvSpPr txBox="true"/>
          <p:nvPr/>
        </p:nvSpPr>
        <p:spPr>
          <a:xfrm rot="0">
            <a:off x="7470260" y="1659931"/>
            <a:ext cx="8856740" cy="7893050"/>
          </a:xfrm>
          <a:prstGeom prst="rect">
            <a:avLst/>
          </a:prstGeom>
        </p:spPr>
        <p:txBody>
          <a:bodyPr anchor="t" rtlCol="false" tIns="0" lIns="0" bIns="0" rIns="0">
            <a:spAutoFit/>
          </a:bodyPr>
          <a:lstStyle/>
          <a:p>
            <a:pPr algn="l" marL="755651" indent="-377825" lvl="1">
              <a:lnSpc>
                <a:spcPts val="4375"/>
              </a:lnSpc>
              <a:buFont typeface="Arial"/>
              <a:buChar char="•"/>
            </a:pPr>
            <a:r>
              <a:rPr lang="en-US" sz="3500">
                <a:solidFill>
                  <a:srgbClr val="556BA0"/>
                </a:solidFill>
                <a:latin typeface="イワタ福まるご"/>
                <a:ea typeface="イワタ福まるご"/>
                <a:cs typeface="イワタ福まるご"/>
                <a:sym typeface="イワタ福まるご"/>
              </a:rPr>
              <a:t>There is no evidence that there is an interaction effect between harrassment and gender.</a:t>
            </a:r>
          </a:p>
          <a:p>
            <a:pPr algn="l" marL="755651" indent="-377825" lvl="1">
              <a:lnSpc>
                <a:spcPts val="4375"/>
              </a:lnSpc>
              <a:buFont typeface="Arial"/>
              <a:buChar char="•"/>
            </a:pPr>
            <a:r>
              <a:rPr lang="en-US" sz="3500">
                <a:solidFill>
                  <a:srgbClr val="556BA0"/>
                </a:solidFill>
                <a:latin typeface="イワタ福まるご"/>
                <a:ea typeface="イワタ福まるご"/>
                <a:cs typeface="イワタ福まるご"/>
                <a:sym typeface="イワタ福まるご"/>
              </a:rPr>
              <a:t>According to the value of adjusted R-squared, model 2 is the best model among the three models.</a:t>
            </a:r>
          </a:p>
          <a:p>
            <a:pPr algn="l" marL="755651" indent="-377825" lvl="1">
              <a:lnSpc>
                <a:spcPts val="4375"/>
              </a:lnSpc>
              <a:buFont typeface="Arial"/>
              <a:buChar char="•"/>
            </a:pPr>
            <a:r>
              <a:rPr lang="en-US" sz="3500">
                <a:solidFill>
                  <a:srgbClr val="556BA0"/>
                </a:solidFill>
                <a:latin typeface="イワタ福まるご"/>
                <a:ea typeface="イワタ福まるご"/>
                <a:cs typeface="イワタ福まるご"/>
                <a:sym typeface="イワタ福まるご"/>
              </a:rPr>
              <a:t>In model2, moving up by one category in perceived harassment frequency is associated with 0.282 points decrease in the subjective security score, ceteris paribus (p&lt;0.01).</a:t>
            </a:r>
          </a:p>
          <a:p>
            <a:pPr algn="l" marL="755651" indent="-377825" lvl="1">
              <a:lnSpc>
                <a:spcPts val="4375"/>
              </a:lnSpc>
              <a:buFont typeface="Arial"/>
              <a:buChar char="•"/>
            </a:pPr>
            <a:r>
              <a:rPr lang="en-US" sz="3500">
                <a:solidFill>
                  <a:srgbClr val="556BA0"/>
                </a:solidFill>
                <a:latin typeface="イワタ福まるご"/>
                <a:ea typeface="イワタ福まるご"/>
                <a:cs typeface="イワタ福まるご"/>
                <a:sym typeface="イワタ福まるご"/>
              </a:rPr>
              <a:t>Gender, age, education and victim family are also associated with subjective security in model2.</a:t>
            </a:r>
          </a:p>
        </p:txBody>
      </p:sp>
      <p:grpSp>
        <p:nvGrpSpPr>
          <p:cNvPr name="Group 6" id="6"/>
          <p:cNvGrpSpPr/>
          <p:nvPr/>
        </p:nvGrpSpPr>
        <p:grpSpPr>
          <a:xfrm rot="0">
            <a:off x="4874847" y="8760961"/>
            <a:ext cx="792625" cy="497339"/>
            <a:chOff x="0" y="0"/>
            <a:chExt cx="208757" cy="130986"/>
          </a:xfrm>
        </p:grpSpPr>
        <p:sp>
          <p:nvSpPr>
            <p:cNvPr name="Freeform 7" id="7"/>
            <p:cNvSpPr/>
            <p:nvPr/>
          </p:nvSpPr>
          <p:spPr>
            <a:xfrm flipH="false" flipV="false" rot="0">
              <a:off x="0" y="0"/>
              <a:ext cx="208757" cy="130986"/>
            </a:xfrm>
            <a:custGeom>
              <a:avLst/>
              <a:gdLst/>
              <a:ahLst/>
              <a:cxnLst/>
              <a:rect r="r" b="b" t="t" l="l"/>
              <a:pathLst>
                <a:path h="130986" w="208757">
                  <a:moveTo>
                    <a:pt x="65493" y="0"/>
                  </a:moveTo>
                  <a:lnTo>
                    <a:pt x="143264" y="0"/>
                  </a:lnTo>
                  <a:cubicBezTo>
                    <a:pt x="179435" y="0"/>
                    <a:pt x="208757" y="29322"/>
                    <a:pt x="208757" y="65493"/>
                  </a:cubicBezTo>
                  <a:lnTo>
                    <a:pt x="208757" y="65493"/>
                  </a:lnTo>
                  <a:cubicBezTo>
                    <a:pt x="208757" y="101664"/>
                    <a:pt x="179435" y="130986"/>
                    <a:pt x="143264" y="130986"/>
                  </a:cubicBezTo>
                  <a:lnTo>
                    <a:pt x="65493" y="130986"/>
                  </a:lnTo>
                  <a:cubicBezTo>
                    <a:pt x="29322" y="130986"/>
                    <a:pt x="0" y="101664"/>
                    <a:pt x="0" y="65493"/>
                  </a:cubicBezTo>
                  <a:lnTo>
                    <a:pt x="0" y="65493"/>
                  </a:lnTo>
                  <a:cubicBezTo>
                    <a:pt x="0" y="29322"/>
                    <a:pt x="29322" y="0"/>
                    <a:pt x="65493" y="0"/>
                  </a:cubicBezTo>
                  <a:close/>
                </a:path>
              </a:pathLst>
            </a:custGeom>
            <a:ln w="57150" cap="sq">
              <a:solidFill>
                <a:srgbClr val="3872E0"/>
              </a:solidFill>
              <a:prstDash val="solid"/>
              <a:miter/>
            </a:ln>
          </p:spPr>
        </p:sp>
        <p:sp>
          <p:nvSpPr>
            <p:cNvPr name="TextBox 8" id="8"/>
            <p:cNvSpPr txBox="true"/>
            <p:nvPr/>
          </p:nvSpPr>
          <p:spPr>
            <a:xfrm>
              <a:off x="0" y="-123825"/>
              <a:ext cx="208757" cy="25481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4737459" y="1087430"/>
            <a:ext cx="792625" cy="497339"/>
            <a:chOff x="0" y="0"/>
            <a:chExt cx="208757" cy="130986"/>
          </a:xfrm>
        </p:grpSpPr>
        <p:sp>
          <p:nvSpPr>
            <p:cNvPr name="Freeform 10" id="10"/>
            <p:cNvSpPr/>
            <p:nvPr/>
          </p:nvSpPr>
          <p:spPr>
            <a:xfrm flipH="false" flipV="false" rot="0">
              <a:off x="0" y="0"/>
              <a:ext cx="208757" cy="130986"/>
            </a:xfrm>
            <a:custGeom>
              <a:avLst/>
              <a:gdLst/>
              <a:ahLst/>
              <a:cxnLst/>
              <a:rect r="r" b="b" t="t" l="l"/>
              <a:pathLst>
                <a:path h="130986" w="208757">
                  <a:moveTo>
                    <a:pt x="65493" y="0"/>
                  </a:moveTo>
                  <a:lnTo>
                    <a:pt x="143264" y="0"/>
                  </a:lnTo>
                  <a:cubicBezTo>
                    <a:pt x="179435" y="0"/>
                    <a:pt x="208757" y="29322"/>
                    <a:pt x="208757" y="65493"/>
                  </a:cubicBezTo>
                  <a:lnTo>
                    <a:pt x="208757" y="65493"/>
                  </a:lnTo>
                  <a:cubicBezTo>
                    <a:pt x="208757" y="101664"/>
                    <a:pt x="179435" y="130986"/>
                    <a:pt x="143264" y="130986"/>
                  </a:cubicBezTo>
                  <a:lnTo>
                    <a:pt x="65493" y="130986"/>
                  </a:lnTo>
                  <a:cubicBezTo>
                    <a:pt x="29322" y="130986"/>
                    <a:pt x="0" y="101664"/>
                    <a:pt x="0" y="65493"/>
                  </a:cubicBezTo>
                  <a:lnTo>
                    <a:pt x="0" y="65493"/>
                  </a:lnTo>
                  <a:cubicBezTo>
                    <a:pt x="0" y="29322"/>
                    <a:pt x="29322" y="0"/>
                    <a:pt x="65493" y="0"/>
                  </a:cubicBezTo>
                  <a:close/>
                </a:path>
              </a:pathLst>
            </a:custGeom>
            <a:ln w="57150" cap="sq">
              <a:solidFill>
                <a:srgbClr val="3872E0"/>
              </a:solidFill>
              <a:prstDash val="solid"/>
              <a:miter/>
            </a:ln>
          </p:spPr>
        </p:sp>
        <p:sp>
          <p:nvSpPr>
            <p:cNvPr name="TextBox 11" id="11"/>
            <p:cNvSpPr txBox="true"/>
            <p:nvPr/>
          </p:nvSpPr>
          <p:spPr>
            <a:xfrm>
              <a:off x="0" y="-123825"/>
              <a:ext cx="208757" cy="254811"/>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4737459" y="1840906"/>
            <a:ext cx="792625" cy="1857114"/>
            <a:chOff x="0" y="0"/>
            <a:chExt cx="208757" cy="489117"/>
          </a:xfrm>
        </p:grpSpPr>
        <p:sp>
          <p:nvSpPr>
            <p:cNvPr name="Freeform 13" id="13"/>
            <p:cNvSpPr/>
            <p:nvPr/>
          </p:nvSpPr>
          <p:spPr>
            <a:xfrm flipH="false" flipV="false" rot="0">
              <a:off x="0" y="0"/>
              <a:ext cx="208757" cy="489117"/>
            </a:xfrm>
            <a:custGeom>
              <a:avLst/>
              <a:gdLst/>
              <a:ahLst/>
              <a:cxnLst/>
              <a:rect r="r" b="b" t="t" l="l"/>
              <a:pathLst>
                <a:path h="489117" w="208757">
                  <a:moveTo>
                    <a:pt x="104379" y="0"/>
                  </a:moveTo>
                  <a:lnTo>
                    <a:pt x="104379" y="0"/>
                  </a:lnTo>
                  <a:cubicBezTo>
                    <a:pt x="162025" y="0"/>
                    <a:pt x="208757" y="46732"/>
                    <a:pt x="208757" y="104379"/>
                  </a:cubicBezTo>
                  <a:lnTo>
                    <a:pt x="208757" y="384738"/>
                  </a:lnTo>
                  <a:cubicBezTo>
                    <a:pt x="208757" y="442385"/>
                    <a:pt x="162025" y="489117"/>
                    <a:pt x="104379" y="489117"/>
                  </a:cubicBezTo>
                  <a:lnTo>
                    <a:pt x="104379" y="489117"/>
                  </a:lnTo>
                  <a:cubicBezTo>
                    <a:pt x="76696" y="489117"/>
                    <a:pt x="50147" y="478120"/>
                    <a:pt x="30572" y="458545"/>
                  </a:cubicBezTo>
                  <a:cubicBezTo>
                    <a:pt x="10997" y="438970"/>
                    <a:pt x="0" y="412421"/>
                    <a:pt x="0" y="384738"/>
                  </a:cubicBezTo>
                  <a:lnTo>
                    <a:pt x="0" y="104379"/>
                  </a:lnTo>
                  <a:cubicBezTo>
                    <a:pt x="0" y="76696"/>
                    <a:pt x="10997" y="50147"/>
                    <a:pt x="30572" y="30572"/>
                  </a:cubicBezTo>
                  <a:cubicBezTo>
                    <a:pt x="50147" y="10997"/>
                    <a:pt x="76696" y="0"/>
                    <a:pt x="104379" y="0"/>
                  </a:cubicBezTo>
                  <a:close/>
                </a:path>
              </a:pathLst>
            </a:custGeom>
            <a:ln w="57150" cap="sq">
              <a:solidFill>
                <a:srgbClr val="3872E0"/>
              </a:solidFill>
              <a:prstDash val="solid"/>
              <a:miter/>
            </a:ln>
          </p:spPr>
        </p:sp>
        <p:sp>
          <p:nvSpPr>
            <p:cNvPr name="TextBox 14" id="14"/>
            <p:cNvSpPr txBox="true"/>
            <p:nvPr/>
          </p:nvSpPr>
          <p:spPr>
            <a:xfrm>
              <a:off x="0" y="-123825"/>
              <a:ext cx="208757" cy="612942"/>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4737459" y="6147803"/>
            <a:ext cx="792625" cy="1857114"/>
            <a:chOff x="0" y="0"/>
            <a:chExt cx="208757" cy="489117"/>
          </a:xfrm>
        </p:grpSpPr>
        <p:sp>
          <p:nvSpPr>
            <p:cNvPr name="Freeform 16" id="16"/>
            <p:cNvSpPr/>
            <p:nvPr/>
          </p:nvSpPr>
          <p:spPr>
            <a:xfrm flipH="false" flipV="false" rot="0">
              <a:off x="0" y="0"/>
              <a:ext cx="208757" cy="489117"/>
            </a:xfrm>
            <a:custGeom>
              <a:avLst/>
              <a:gdLst/>
              <a:ahLst/>
              <a:cxnLst/>
              <a:rect r="r" b="b" t="t" l="l"/>
              <a:pathLst>
                <a:path h="489117" w="208757">
                  <a:moveTo>
                    <a:pt x="104379" y="0"/>
                  </a:moveTo>
                  <a:lnTo>
                    <a:pt x="104379" y="0"/>
                  </a:lnTo>
                  <a:cubicBezTo>
                    <a:pt x="162025" y="0"/>
                    <a:pt x="208757" y="46732"/>
                    <a:pt x="208757" y="104379"/>
                  </a:cubicBezTo>
                  <a:lnTo>
                    <a:pt x="208757" y="384738"/>
                  </a:lnTo>
                  <a:cubicBezTo>
                    <a:pt x="208757" y="442385"/>
                    <a:pt x="162025" y="489117"/>
                    <a:pt x="104379" y="489117"/>
                  </a:cubicBezTo>
                  <a:lnTo>
                    <a:pt x="104379" y="489117"/>
                  </a:lnTo>
                  <a:cubicBezTo>
                    <a:pt x="76696" y="489117"/>
                    <a:pt x="50147" y="478120"/>
                    <a:pt x="30572" y="458545"/>
                  </a:cubicBezTo>
                  <a:cubicBezTo>
                    <a:pt x="10997" y="438970"/>
                    <a:pt x="0" y="412421"/>
                    <a:pt x="0" y="384738"/>
                  </a:cubicBezTo>
                  <a:lnTo>
                    <a:pt x="0" y="104379"/>
                  </a:lnTo>
                  <a:cubicBezTo>
                    <a:pt x="0" y="76696"/>
                    <a:pt x="10997" y="50147"/>
                    <a:pt x="30572" y="30572"/>
                  </a:cubicBezTo>
                  <a:cubicBezTo>
                    <a:pt x="50147" y="10997"/>
                    <a:pt x="76696" y="0"/>
                    <a:pt x="104379" y="0"/>
                  </a:cubicBezTo>
                  <a:close/>
                </a:path>
              </a:pathLst>
            </a:custGeom>
            <a:ln w="57150" cap="sq">
              <a:solidFill>
                <a:srgbClr val="3872E0"/>
              </a:solidFill>
              <a:prstDash val="solid"/>
              <a:miter/>
            </a:ln>
          </p:spPr>
        </p:sp>
        <p:sp>
          <p:nvSpPr>
            <p:cNvPr name="TextBox 17" id="17"/>
            <p:cNvSpPr txBox="true"/>
            <p:nvPr/>
          </p:nvSpPr>
          <p:spPr>
            <a:xfrm>
              <a:off x="0" y="-123825"/>
              <a:ext cx="208757" cy="612942"/>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FFEEE5"/>
        </a:solidFill>
      </p:bgPr>
    </p:bg>
    <p:spTree>
      <p:nvGrpSpPr>
        <p:cNvPr id="1" name=""/>
        <p:cNvGrpSpPr/>
        <p:nvPr/>
      </p:nvGrpSpPr>
      <p:grpSpPr>
        <a:xfrm>
          <a:off x="0" y="0"/>
          <a:ext cx="0" cy="0"/>
          <a:chOff x="0" y="0"/>
          <a:chExt cx="0" cy="0"/>
        </a:xfrm>
      </p:grpSpPr>
      <p:sp>
        <p:nvSpPr>
          <p:cNvPr name="TextBox 2" id="2"/>
          <p:cNvSpPr txBox="true"/>
          <p:nvPr/>
        </p:nvSpPr>
        <p:spPr>
          <a:xfrm rot="0">
            <a:off x="1309927" y="1088843"/>
            <a:ext cx="10910743" cy="5649846"/>
          </a:xfrm>
          <a:prstGeom prst="rect">
            <a:avLst/>
          </a:prstGeom>
        </p:spPr>
        <p:txBody>
          <a:bodyPr anchor="t" rtlCol="false" tIns="0" lIns="0" bIns="0" rIns="0">
            <a:spAutoFit/>
          </a:bodyPr>
          <a:lstStyle/>
          <a:p>
            <a:pPr algn="l">
              <a:lnSpc>
                <a:spcPts val="14580"/>
              </a:lnSpc>
            </a:pPr>
            <a:r>
              <a:rPr lang="en-US" sz="14580">
                <a:solidFill>
                  <a:srgbClr val="556BA0"/>
                </a:solidFill>
                <a:latin typeface="TDTD가시고딕"/>
                <a:ea typeface="TDTD가시고딕"/>
                <a:cs typeface="TDTD가시고딕"/>
                <a:sym typeface="TDTD가시고딕"/>
              </a:rPr>
              <a:t>Singapore vs </a:t>
            </a:r>
          </a:p>
          <a:p>
            <a:pPr algn="l">
              <a:lnSpc>
                <a:spcPts val="14580"/>
              </a:lnSpc>
            </a:pPr>
            <a:r>
              <a:rPr lang="en-US" sz="14580">
                <a:solidFill>
                  <a:srgbClr val="556BA0"/>
                </a:solidFill>
                <a:latin typeface="TDTD가시고딕"/>
                <a:ea typeface="TDTD가시고딕"/>
                <a:cs typeface="TDTD가시고딕"/>
                <a:sym typeface="TDTD가시고딕"/>
              </a:rPr>
              <a:t>Malaysia</a:t>
            </a:r>
          </a:p>
        </p:txBody>
      </p:sp>
      <p:sp>
        <p:nvSpPr>
          <p:cNvPr name="Freeform 3" id="3"/>
          <p:cNvSpPr/>
          <p:nvPr/>
        </p:nvSpPr>
        <p:spPr>
          <a:xfrm flipH="false" flipV="false" rot="-828974">
            <a:off x="3872010" y="7316688"/>
            <a:ext cx="2025214" cy="1276951"/>
          </a:xfrm>
          <a:custGeom>
            <a:avLst/>
            <a:gdLst/>
            <a:ahLst/>
            <a:cxnLst/>
            <a:rect r="r" b="b" t="t" l="l"/>
            <a:pathLst>
              <a:path h="1276951" w="2025214">
                <a:moveTo>
                  <a:pt x="0" y="0"/>
                </a:moveTo>
                <a:lnTo>
                  <a:pt x="2025214" y="0"/>
                </a:lnTo>
                <a:lnTo>
                  <a:pt x="2025214" y="1276951"/>
                </a:lnTo>
                <a:lnTo>
                  <a:pt x="0" y="1276951"/>
                </a:lnTo>
                <a:lnTo>
                  <a:pt x="0" y="0"/>
                </a:lnTo>
                <a:close/>
              </a:path>
            </a:pathLst>
          </a:custGeom>
          <a:blipFill>
            <a:blip r:embed="rId2"/>
            <a:stretch>
              <a:fillRect l="0" t="0" r="0" b="0"/>
            </a:stretch>
          </a:blipFill>
        </p:spPr>
      </p:sp>
      <p:sp>
        <p:nvSpPr>
          <p:cNvPr name="Freeform 4" id="4"/>
          <p:cNvSpPr/>
          <p:nvPr/>
        </p:nvSpPr>
        <p:spPr>
          <a:xfrm flipH="false" flipV="false" rot="-186545">
            <a:off x="11742389" y="1965698"/>
            <a:ext cx="2422332" cy="1131589"/>
          </a:xfrm>
          <a:custGeom>
            <a:avLst/>
            <a:gdLst/>
            <a:ahLst/>
            <a:cxnLst/>
            <a:rect r="r" b="b" t="t" l="l"/>
            <a:pathLst>
              <a:path h="1131589" w="2422332">
                <a:moveTo>
                  <a:pt x="0" y="0"/>
                </a:moveTo>
                <a:lnTo>
                  <a:pt x="2422332" y="0"/>
                </a:lnTo>
                <a:lnTo>
                  <a:pt x="2422332" y="1131589"/>
                </a:lnTo>
                <a:lnTo>
                  <a:pt x="0" y="1131589"/>
                </a:lnTo>
                <a:lnTo>
                  <a:pt x="0" y="0"/>
                </a:lnTo>
                <a:close/>
              </a:path>
            </a:pathLst>
          </a:custGeom>
          <a:blipFill>
            <a:blip r:embed="rId3"/>
            <a:stretch>
              <a:fillRect l="0" t="0" r="0" b="0"/>
            </a:stretch>
          </a:blipFill>
        </p:spPr>
      </p:sp>
      <p:sp>
        <p:nvSpPr>
          <p:cNvPr name="Freeform 5" id="5"/>
          <p:cNvSpPr/>
          <p:nvPr/>
        </p:nvSpPr>
        <p:spPr>
          <a:xfrm flipH="false" flipV="false" rot="0">
            <a:off x="11472462" y="3926746"/>
            <a:ext cx="6815538" cy="3510002"/>
          </a:xfrm>
          <a:custGeom>
            <a:avLst/>
            <a:gdLst/>
            <a:ahLst/>
            <a:cxnLst/>
            <a:rect r="r" b="b" t="t" l="l"/>
            <a:pathLst>
              <a:path h="3510002" w="6815538">
                <a:moveTo>
                  <a:pt x="0" y="0"/>
                </a:moveTo>
                <a:lnTo>
                  <a:pt x="6815538" y="0"/>
                </a:lnTo>
                <a:lnTo>
                  <a:pt x="6815538" y="3510002"/>
                </a:lnTo>
                <a:lnTo>
                  <a:pt x="0" y="3510002"/>
                </a:lnTo>
                <a:lnTo>
                  <a:pt x="0" y="0"/>
                </a:lnTo>
                <a:close/>
              </a:path>
            </a:pathLst>
          </a:custGeom>
          <a:blipFill>
            <a:blip r:embed="rId4"/>
            <a:stretch>
              <a:fillRect l="0" t="0" r="0" b="0"/>
            </a:stretch>
          </a:blipFill>
        </p:spPr>
      </p:sp>
      <p:sp>
        <p:nvSpPr>
          <p:cNvPr name="Freeform 6" id="6"/>
          <p:cNvSpPr/>
          <p:nvPr/>
        </p:nvSpPr>
        <p:spPr>
          <a:xfrm flipH="false" flipV="false" rot="0">
            <a:off x="12260029" y="5373908"/>
            <a:ext cx="4472281" cy="4125680"/>
          </a:xfrm>
          <a:custGeom>
            <a:avLst/>
            <a:gdLst/>
            <a:ahLst/>
            <a:cxnLst/>
            <a:rect r="r" b="b" t="t" l="l"/>
            <a:pathLst>
              <a:path h="4125680" w="4472281">
                <a:moveTo>
                  <a:pt x="0" y="0"/>
                </a:moveTo>
                <a:lnTo>
                  <a:pt x="4472281" y="0"/>
                </a:lnTo>
                <a:lnTo>
                  <a:pt x="4472281" y="4125679"/>
                </a:lnTo>
                <a:lnTo>
                  <a:pt x="0" y="4125679"/>
                </a:lnTo>
                <a:lnTo>
                  <a:pt x="0" y="0"/>
                </a:lnTo>
                <a:close/>
              </a:path>
            </a:pathLst>
          </a:custGeom>
          <a:blipFill>
            <a:blip r:embed="rId5"/>
            <a:stretch>
              <a:fillRect l="0" t="0" r="0" b="0"/>
            </a:stretch>
          </a:blipFill>
        </p:spPr>
      </p:sp>
      <p:sp>
        <p:nvSpPr>
          <p:cNvPr name="Freeform 7" id="7"/>
          <p:cNvSpPr/>
          <p:nvPr/>
        </p:nvSpPr>
        <p:spPr>
          <a:xfrm flipH="false" flipV="false" rot="0">
            <a:off x="13028152" y="4010484"/>
            <a:ext cx="3704159" cy="4768024"/>
          </a:xfrm>
          <a:custGeom>
            <a:avLst/>
            <a:gdLst/>
            <a:ahLst/>
            <a:cxnLst/>
            <a:rect r="r" b="b" t="t" l="l"/>
            <a:pathLst>
              <a:path h="4768024" w="3704159">
                <a:moveTo>
                  <a:pt x="0" y="0"/>
                </a:moveTo>
                <a:lnTo>
                  <a:pt x="3704158" y="0"/>
                </a:lnTo>
                <a:lnTo>
                  <a:pt x="3704158" y="4768024"/>
                </a:lnTo>
                <a:lnTo>
                  <a:pt x="0" y="4768024"/>
                </a:lnTo>
                <a:lnTo>
                  <a:pt x="0" y="0"/>
                </a:lnTo>
                <a:close/>
              </a:path>
            </a:pathLst>
          </a:custGeom>
          <a:blipFill>
            <a:blip r:embed="rId6"/>
            <a:stretch>
              <a:fillRect l="0" t="0" r="0" b="0"/>
            </a:stretch>
          </a:blipFill>
        </p:spPr>
      </p:sp>
      <p:sp>
        <p:nvSpPr>
          <p:cNvPr name="Freeform 8" id="8"/>
          <p:cNvSpPr/>
          <p:nvPr/>
        </p:nvSpPr>
        <p:spPr>
          <a:xfrm flipH="false" flipV="false" rot="0">
            <a:off x="14880231" y="6738689"/>
            <a:ext cx="2820050" cy="4079638"/>
          </a:xfrm>
          <a:custGeom>
            <a:avLst/>
            <a:gdLst/>
            <a:ahLst/>
            <a:cxnLst/>
            <a:rect r="r" b="b" t="t" l="l"/>
            <a:pathLst>
              <a:path h="4079638" w="2820050">
                <a:moveTo>
                  <a:pt x="0" y="0"/>
                </a:moveTo>
                <a:lnTo>
                  <a:pt x="2820049" y="0"/>
                </a:lnTo>
                <a:lnTo>
                  <a:pt x="2820049" y="4079637"/>
                </a:lnTo>
                <a:lnTo>
                  <a:pt x="0" y="4079637"/>
                </a:lnTo>
                <a:lnTo>
                  <a:pt x="0" y="0"/>
                </a:lnTo>
                <a:close/>
              </a:path>
            </a:pathLst>
          </a:custGeom>
          <a:blipFill>
            <a:blip r:embed="rId7"/>
            <a:stretch>
              <a:fillRect l="0" t="0" r="0" b="0"/>
            </a:stretch>
          </a:blipFill>
        </p:spPr>
      </p:sp>
      <p:grpSp>
        <p:nvGrpSpPr>
          <p:cNvPr name="Group 9" id="9"/>
          <p:cNvGrpSpPr/>
          <p:nvPr/>
        </p:nvGrpSpPr>
        <p:grpSpPr>
          <a:xfrm rot="0">
            <a:off x="14289988" y="4772735"/>
            <a:ext cx="206181" cy="20618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BE2"/>
            </a:solidFill>
          </p:spPr>
        </p:sp>
        <p:sp>
          <p:nvSpPr>
            <p:cNvPr name="TextBox 11" id="11"/>
            <p:cNvSpPr txBox="true"/>
            <p:nvPr/>
          </p:nvSpPr>
          <p:spPr>
            <a:xfrm>
              <a:off x="76200" y="-47625"/>
              <a:ext cx="660400" cy="784225"/>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4524376" y="4815044"/>
            <a:ext cx="206181" cy="206181"/>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BE2"/>
            </a:solidFill>
          </p:spPr>
        </p:sp>
        <p:sp>
          <p:nvSpPr>
            <p:cNvPr name="TextBox 14" id="14"/>
            <p:cNvSpPr txBox="true"/>
            <p:nvPr/>
          </p:nvSpPr>
          <p:spPr>
            <a:xfrm>
              <a:off x="76200" y="-47625"/>
              <a:ext cx="660400" cy="784225"/>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6765299" y="6394496"/>
            <a:ext cx="6188256" cy="4370456"/>
          </a:xfrm>
          <a:custGeom>
            <a:avLst/>
            <a:gdLst/>
            <a:ahLst/>
            <a:cxnLst/>
            <a:rect r="r" b="b" t="t" l="l"/>
            <a:pathLst>
              <a:path h="4370456" w="6188256">
                <a:moveTo>
                  <a:pt x="0" y="0"/>
                </a:moveTo>
                <a:lnTo>
                  <a:pt x="6188256" y="0"/>
                </a:lnTo>
                <a:lnTo>
                  <a:pt x="6188256" y="4370456"/>
                </a:lnTo>
                <a:lnTo>
                  <a:pt x="0" y="4370456"/>
                </a:lnTo>
                <a:lnTo>
                  <a:pt x="0" y="0"/>
                </a:lnTo>
                <a:close/>
              </a:path>
            </a:pathLst>
          </a:custGeom>
          <a:blipFill>
            <a:blip r:embed="rId8"/>
            <a:stretch>
              <a:fillRect l="0" t="0" r="0" b="0"/>
            </a:stretch>
          </a:blipFill>
        </p:spPr>
      </p:sp>
      <p:sp>
        <p:nvSpPr>
          <p:cNvPr name="Freeform 16" id="16"/>
          <p:cNvSpPr/>
          <p:nvPr/>
        </p:nvSpPr>
        <p:spPr>
          <a:xfrm flipH="false" flipV="false" rot="0">
            <a:off x="9144000" y="6406783"/>
            <a:ext cx="3484401" cy="3096761"/>
          </a:xfrm>
          <a:custGeom>
            <a:avLst/>
            <a:gdLst/>
            <a:ahLst/>
            <a:cxnLst/>
            <a:rect r="r" b="b" t="t" l="l"/>
            <a:pathLst>
              <a:path h="3096761" w="3484401">
                <a:moveTo>
                  <a:pt x="0" y="0"/>
                </a:moveTo>
                <a:lnTo>
                  <a:pt x="3484401" y="0"/>
                </a:lnTo>
                <a:lnTo>
                  <a:pt x="3484401" y="3096761"/>
                </a:lnTo>
                <a:lnTo>
                  <a:pt x="0" y="3096761"/>
                </a:lnTo>
                <a:lnTo>
                  <a:pt x="0" y="0"/>
                </a:lnTo>
                <a:close/>
              </a:path>
            </a:pathLst>
          </a:custGeom>
          <a:blipFill>
            <a:blip r:embed="rId9"/>
            <a:stretch>
              <a:fillRect l="0" t="0" r="0" b="0"/>
            </a:stretch>
          </a:blipFill>
        </p:spPr>
      </p:sp>
      <p:sp>
        <p:nvSpPr>
          <p:cNvPr name="Freeform 17" id="17"/>
          <p:cNvSpPr/>
          <p:nvPr/>
        </p:nvSpPr>
        <p:spPr>
          <a:xfrm flipH="true" flipV="false" rot="641235">
            <a:off x="-239012" y="7209508"/>
            <a:ext cx="2085281" cy="3906849"/>
          </a:xfrm>
          <a:custGeom>
            <a:avLst/>
            <a:gdLst/>
            <a:ahLst/>
            <a:cxnLst/>
            <a:rect r="r" b="b" t="t" l="l"/>
            <a:pathLst>
              <a:path h="3906849" w="2085281">
                <a:moveTo>
                  <a:pt x="2085280" y="0"/>
                </a:moveTo>
                <a:lnTo>
                  <a:pt x="0" y="0"/>
                </a:lnTo>
                <a:lnTo>
                  <a:pt x="0" y="3906849"/>
                </a:lnTo>
                <a:lnTo>
                  <a:pt x="2085280" y="3906849"/>
                </a:lnTo>
                <a:lnTo>
                  <a:pt x="2085280" y="0"/>
                </a:lnTo>
                <a:close/>
              </a:path>
            </a:pathLst>
          </a:custGeom>
          <a:blipFill>
            <a:blip r:embed="rId10"/>
            <a:stretch>
              <a:fillRect l="0" t="0" r="0" b="0"/>
            </a:stretch>
          </a:blipFill>
        </p:spPr>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FFEEE5"/>
        </a:solidFill>
      </p:bgPr>
    </p:bg>
    <p:spTree>
      <p:nvGrpSpPr>
        <p:cNvPr id="1" name=""/>
        <p:cNvGrpSpPr/>
        <p:nvPr/>
      </p:nvGrpSpPr>
      <p:grpSpPr>
        <a:xfrm>
          <a:off x="0" y="0"/>
          <a:ext cx="0" cy="0"/>
          <a:chOff x="0" y="0"/>
          <a:chExt cx="0" cy="0"/>
        </a:xfrm>
      </p:grpSpPr>
      <p:sp>
        <p:nvSpPr>
          <p:cNvPr name="TextBox 2" id="2"/>
          <p:cNvSpPr txBox="true"/>
          <p:nvPr/>
        </p:nvSpPr>
        <p:spPr>
          <a:xfrm rot="0">
            <a:off x="1705731" y="2612653"/>
            <a:ext cx="13553969" cy="7145020"/>
          </a:xfrm>
          <a:prstGeom prst="rect">
            <a:avLst/>
          </a:prstGeom>
        </p:spPr>
        <p:txBody>
          <a:bodyPr anchor="t" rtlCol="false" tIns="0" lIns="0" bIns="0" rIns="0">
            <a:spAutoFit/>
          </a:bodyPr>
          <a:lstStyle/>
          <a:p>
            <a:pPr algn="just">
              <a:lnSpc>
                <a:spcPts val="3500"/>
              </a:lnSpc>
            </a:pPr>
            <a:r>
              <a:rPr lang="en-US" sz="2800">
                <a:solidFill>
                  <a:srgbClr val="556BA0"/>
                </a:solidFill>
                <a:latin typeface="イワタ福まるご"/>
                <a:ea typeface="イワタ福まるご"/>
                <a:cs typeface="イワタ福まるご"/>
                <a:sym typeface="イワタ福まるご"/>
              </a:rPr>
              <a:t>Si</a:t>
            </a:r>
            <a:r>
              <a:rPr lang="en-US" sz="2800">
                <a:solidFill>
                  <a:srgbClr val="556BA0"/>
                </a:solidFill>
                <a:latin typeface="イワタ福まるご"/>
                <a:ea typeface="イワタ福まるご"/>
                <a:cs typeface="イワタ福まるご"/>
                <a:sym typeface="イワタ福まるご"/>
              </a:rPr>
              <a:t>milarities</a:t>
            </a:r>
          </a:p>
          <a:p>
            <a:pPr algn="just" marL="604523" indent="-302261" lvl="1">
              <a:lnSpc>
                <a:spcPts val="3500"/>
              </a:lnSpc>
              <a:buFont typeface="Arial"/>
              <a:buChar char="•"/>
            </a:pPr>
            <a:r>
              <a:rPr lang="en-US" sz="2800">
                <a:solidFill>
                  <a:srgbClr val="556BA0"/>
                </a:solidFill>
                <a:latin typeface="イワタ福まるご"/>
                <a:ea typeface="イワタ福まるご"/>
                <a:cs typeface="イワタ福まるご"/>
                <a:sym typeface="イワタ福まるご"/>
              </a:rPr>
              <a:t>Both countries show a significant negative relationship between perceived harassment and subjective security.</a:t>
            </a:r>
          </a:p>
          <a:p>
            <a:pPr algn="just" marL="604523" indent="-302261" lvl="1">
              <a:lnSpc>
                <a:spcPts val="3500"/>
              </a:lnSpc>
              <a:buFont typeface="Arial"/>
              <a:buChar char="•"/>
            </a:pPr>
            <a:r>
              <a:rPr lang="en-US" sz="2800">
                <a:solidFill>
                  <a:srgbClr val="556BA0"/>
                </a:solidFill>
                <a:latin typeface="イワタ福まるご"/>
                <a:ea typeface="イワタ福まるご"/>
                <a:cs typeface="イワタ福まるご"/>
                <a:sym typeface="イワタ福まるご"/>
              </a:rPr>
              <a:t>The relationship remains significant after adding controls.</a:t>
            </a:r>
          </a:p>
          <a:p>
            <a:pPr algn="just" marL="604523" indent="-302261" lvl="1">
              <a:lnSpc>
                <a:spcPts val="3500"/>
              </a:lnSpc>
              <a:buFont typeface="Arial"/>
              <a:buChar char="•"/>
            </a:pPr>
            <a:r>
              <a:rPr lang="en-US" sz="2800">
                <a:solidFill>
                  <a:srgbClr val="556BA0"/>
                </a:solidFill>
                <a:latin typeface="イワタ福まるご"/>
                <a:ea typeface="イワタ福まるご"/>
                <a:cs typeface="イワタ福まるご"/>
                <a:sym typeface="イワタ福まるご"/>
              </a:rPr>
              <a:t>The gender interaction is not significant at the 5% level in either country.</a:t>
            </a:r>
          </a:p>
          <a:p>
            <a:pPr algn="just">
              <a:lnSpc>
                <a:spcPts val="3500"/>
              </a:lnSpc>
            </a:pPr>
          </a:p>
          <a:p>
            <a:pPr algn="just">
              <a:lnSpc>
                <a:spcPts val="3500"/>
              </a:lnSpc>
            </a:pPr>
            <a:r>
              <a:rPr lang="en-US" sz="2800">
                <a:solidFill>
                  <a:srgbClr val="556BA0"/>
                </a:solidFill>
                <a:latin typeface="イワタ福まるご"/>
                <a:ea typeface="イワタ福まるご"/>
                <a:cs typeface="イワタ福まるご"/>
                <a:sym typeface="イワタ福まるご"/>
              </a:rPr>
              <a:t>Differences</a:t>
            </a:r>
          </a:p>
          <a:p>
            <a:pPr algn="just" marL="604523" indent="-302261" lvl="1">
              <a:lnSpc>
                <a:spcPts val="3500"/>
              </a:lnSpc>
              <a:buFont typeface="Arial"/>
              <a:buChar char="•"/>
            </a:pPr>
            <a:r>
              <a:rPr lang="en-US" sz="2800">
                <a:solidFill>
                  <a:srgbClr val="556BA0"/>
                </a:solidFill>
                <a:latin typeface="イワタ福まるご"/>
                <a:ea typeface="イワタ福まるご"/>
                <a:cs typeface="イワタ福まるご"/>
                <a:sym typeface="イワタ福まるご"/>
              </a:rPr>
              <a:t>The negative association appears stronger in Malaysia (β ≈ −0.29) than in Singapore (β ≈ −0.22).</a:t>
            </a:r>
          </a:p>
          <a:p>
            <a:pPr algn="just" marL="604523" indent="-302261" lvl="1">
              <a:lnSpc>
                <a:spcPts val="3500"/>
              </a:lnSpc>
              <a:buFont typeface="Arial"/>
              <a:buChar char="•"/>
            </a:pPr>
            <a:r>
              <a:rPr lang="en-US" sz="2800">
                <a:solidFill>
                  <a:srgbClr val="556BA0"/>
                </a:solidFill>
                <a:latin typeface="イワタ福まるご"/>
                <a:ea typeface="イワタ福まるご"/>
                <a:cs typeface="イワタ福まるご"/>
                <a:sym typeface="イワタ福まるご"/>
              </a:rPr>
              <a:t>Adding the interaction changes Adjusted R² only slightly (+0.001 in Singapore vs −0.001 in Malaysia).</a:t>
            </a:r>
          </a:p>
          <a:p>
            <a:pPr algn="just">
              <a:lnSpc>
                <a:spcPts val="3500"/>
              </a:lnSpc>
            </a:pPr>
          </a:p>
          <a:p>
            <a:pPr algn="just">
              <a:lnSpc>
                <a:spcPts val="3500"/>
              </a:lnSpc>
            </a:pPr>
            <a:r>
              <a:rPr lang="en-US" sz="2800">
                <a:solidFill>
                  <a:srgbClr val="556BA0"/>
                </a:solidFill>
                <a:latin typeface="イワタ福まるご"/>
                <a:ea typeface="イワタ福まるご"/>
                <a:cs typeface="イワタ福まるご"/>
                <a:sym typeface="イワタ福まるご"/>
              </a:rPr>
              <a:t>Overall: Despite some differences in strength, the main pattern is consistent across both countries.</a:t>
            </a:r>
          </a:p>
          <a:p>
            <a:pPr algn="just">
              <a:lnSpc>
                <a:spcPts val="3500"/>
              </a:lnSpc>
            </a:pPr>
          </a:p>
          <a:p>
            <a:pPr algn="just">
              <a:lnSpc>
                <a:spcPts val="3500"/>
              </a:lnSpc>
            </a:pPr>
          </a:p>
        </p:txBody>
      </p:sp>
      <p:sp>
        <p:nvSpPr>
          <p:cNvPr name="Freeform 3" id="3"/>
          <p:cNvSpPr/>
          <p:nvPr/>
        </p:nvSpPr>
        <p:spPr>
          <a:xfrm flipH="false" flipV="false" rot="0">
            <a:off x="11516185" y="7449673"/>
            <a:ext cx="7487029" cy="5353226"/>
          </a:xfrm>
          <a:custGeom>
            <a:avLst/>
            <a:gdLst/>
            <a:ahLst/>
            <a:cxnLst/>
            <a:rect r="r" b="b" t="t" l="l"/>
            <a:pathLst>
              <a:path h="5353226" w="7487029">
                <a:moveTo>
                  <a:pt x="0" y="0"/>
                </a:moveTo>
                <a:lnTo>
                  <a:pt x="7487029" y="0"/>
                </a:lnTo>
                <a:lnTo>
                  <a:pt x="7487029" y="5353226"/>
                </a:lnTo>
                <a:lnTo>
                  <a:pt x="0" y="5353226"/>
                </a:lnTo>
                <a:lnTo>
                  <a:pt x="0" y="0"/>
                </a:lnTo>
                <a:close/>
              </a:path>
            </a:pathLst>
          </a:custGeom>
          <a:blipFill>
            <a:blip r:embed="rId2"/>
            <a:stretch>
              <a:fillRect l="0" t="0" r="0" b="0"/>
            </a:stretch>
          </a:blipFill>
        </p:spPr>
      </p:sp>
      <p:sp>
        <p:nvSpPr>
          <p:cNvPr name="TextBox 4" id="4"/>
          <p:cNvSpPr txBox="true"/>
          <p:nvPr/>
        </p:nvSpPr>
        <p:spPr>
          <a:xfrm rot="0">
            <a:off x="827289" y="795283"/>
            <a:ext cx="16416512" cy="1969771"/>
          </a:xfrm>
          <a:prstGeom prst="rect">
            <a:avLst/>
          </a:prstGeom>
        </p:spPr>
        <p:txBody>
          <a:bodyPr anchor="t" rtlCol="false" tIns="0" lIns="0" bIns="0" rIns="0">
            <a:spAutoFit/>
          </a:bodyPr>
          <a:lstStyle/>
          <a:p>
            <a:pPr algn="ctr">
              <a:lnSpc>
                <a:spcPts val="7440"/>
              </a:lnSpc>
            </a:pPr>
            <a:r>
              <a:rPr lang="en-US" sz="8000">
                <a:solidFill>
                  <a:srgbClr val="556BA0"/>
                </a:solidFill>
                <a:latin typeface="TDTD가시고딕"/>
                <a:ea typeface="TDTD가시고딕"/>
                <a:cs typeface="TDTD가시고딕"/>
                <a:sym typeface="TDTD가시고딕"/>
              </a:rPr>
              <a:t>Singapore vs Malaysia comparison</a:t>
            </a:r>
          </a:p>
        </p:txBody>
      </p:sp>
    </p:spTree>
  </p:cSld>
  <p:clrMapOvr>
    <a:masterClrMapping/>
  </p:clrMapOvr>
</p:sld>
</file>

<file path=ppt/slides/slide32.xml><?xml version="1.0" encoding="utf-8"?>
<p:sld xmlns:p="http://schemas.openxmlformats.org/presentationml/2006/main" xmlns:a="http://schemas.openxmlformats.org/drawingml/2006/main">
  <p:cSld>
    <p:bg>
      <p:bgPr>
        <a:solidFill>
          <a:srgbClr val="FFEEE5"/>
        </a:solidFill>
      </p:bgPr>
    </p:bg>
    <p:spTree>
      <p:nvGrpSpPr>
        <p:cNvPr id="1" name=""/>
        <p:cNvGrpSpPr/>
        <p:nvPr/>
      </p:nvGrpSpPr>
      <p:grpSpPr>
        <a:xfrm>
          <a:off x="0" y="0"/>
          <a:ext cx="0" cy="0"/>
          <a:chOff x="0" y="0"/>
          <a:chExt cx="0" cy="0"/>
        </a:xfrm>
      </p:grpSpPr>
      <p:sp>
        <p:nvSpPr>
          <p:cNvPr name="TextBox 2" id="2"/>
          <p:cNvSpPr txBox="true"/>
          <p:nvPr/>
        </p:nvSpPr>
        <p:spPr>
          <a:xfrm rot="0">
            <a:off x="1028700" y="1085850"/>
            <a:ext cx="15033428" cy="1054962"/>
          </a:xfrm>
          <a:prstGeom prst="rect">
            <a:avLst/>
          </a:prstGeom>
        </p:spPr>
        <p:txBody>
          <a:bodyPr anchor="t" rtlCol="false" tIns="0" lIns="0" bIns="0" rIns="0">
            <a:spAutoFit/>
          </a:bodyPr>
          <a:lstStyle/>
          <a:p>
            <a:pPr algn="l">
              <a:lnSpc>
                <a:spcPts val="8102"/>
              </a:lnSpc>
            </a:pPr>
            <a:r>
              <a:rPr lang="en-US" sz="7299">
                <a:solidFill>
                  <a:srgbClr val="556BA0"/>
                </a:solidFill>
                <a:latin typeface="TDTD가시고딕"/>
                <a:ea typeface="TDTD가시고딕"/>
                <a:cs typeface="TDTD가시고딕"/>
                <a:sym typeface="TDTD가시고딕"/>
              </a:rPr>
              <a:t>Next: Examine the Hypothesis</a:t>
            </a:r>
          </a:p>
        </p:txBody>
      </p:sp>
      <p:sp>
        <p:nvSpPr>
          <p:cNvPr name="TextBox 3" id="3"/>
          <p:cNvSpPr txBox="true"/>
          <p:nvPr/>
        </p:nvSpPr>
        <p:spPr>
          <a:xfrm rot="0">
            <a:off x="1028700" y="2315251"/>
            <a:ext cx="16560560" cy="5546792"/>
          </a:xfrm>
          <a:prstGeom prst="rect">
            <a:avLst/>
          </a:prstGeom>
        </p:spPr>
        <p:txBody>
          <a:bodyPr anchor="t" rtlCol="false" tIns="0" lIns="0" bIns="0" rIns="0">
            <a:spAutoFit/>
          </a:bodyPr>
          <a:lstStyle/>
          <a:p>
            <a:pPr algn="l">
              <a:lnSpc>
                <a:spcPts val="8750"/>
              </a:lnSpc>
            </a:pPr>
            <a:r>
              <a:rPr lang="en-US" sz="3500">
                <a:solidFill>
                  <a:srgbClr val="556BA0"/>
                </a:solidFill>
                <a:latin typeface="イワタ福まるご"/>
                <a:ea typeface="イワタ福まるご"/>
                <a:cs typeface="イワタ福まるご"/>
                <a:sym typeface="イワタ福まるご"/>
              </a:rPr>
              <a:t>A brief glance at the current regression results (at the 5% significance level):</a:t>
            </a:r>
          </a:p>
          <a:p>
            <a:pPr algn="l" marL="755651" indent="-377825" lvl="1">
              <a:lnSpc>
                <a:spcPts val="8750"/>
              </a:lnSpc>
              <a:buFont typeface="Arial"/>
              <a:buChar char="•"/>
            </a:pPr>
            <a:r>
              <a:rPr lang="en-US" sz="3500">
                <a:solidFill>
                  <a:srgbClr val="556BA0"/>
                </a:solidFill>
                <a:latin typeface="イワタ福まるご"/>
                <a:ea typeface="イワタ福まるご"/>
                <a:cs typeface="イワタ福まるご"/>
                <a:sym typeface="イワタ福まるご"/>
              </a:rPr>
              <a:t>Significant negative correlation between perceived prevalence of sexual harassment and subjective security level</a:t>
            </a:r>
          </a:p>
          <a:p>
            <a:pPr algn="l" marL="755651" indent="-377825" lvl="1">
              <a:lnSpc>
                <a:spcPts val="8750"/>
              </a:lnSpc>
              <a:buFont typeface="Arial"/>
              <a:buChar char="•"/>
            </a:pPr>
            <a:r>
              <a:rPr lang="en-US" sz="3500">
                <a:solidFill>
                  <a:srgbClr val="556BA0"/>
                </a:solidFill>
                <a:latin typeface="イワタ福まるご"/>
                <a:ea typeface="イワタ福まるご"/>
                <a:cs typeface="イワタ福まるご"/>
                <a:sym typeface="イワタ福まるご"/>
              </a:rPr>
              <a:t>Insignificant moderating effect of gender</a:t>
            </a:r>
          </a:p>
          <a:p>
            <a:pPr algn="l" marL="755651" indent="-377825" lvl="1">
              <a:lnSpc>
                <a:spcPts val="8750"/>
              </a:lnSpc>
              <a:buFont typeface="Arial"/>
              <a:buChar char="•"/>
            </a:pPr>
            <a:r>
              <a:rPr lang="en-US" sz="3500">
                <a:solidFill>
                  <a:srgbClr val="556BA0"/>
                </a:solidFill>
                <a:latin typeface="イワタ福まるご"/>
                <a:ea typeface="イワタ福まるご"/>
                <a:cs typeface="イワタ福まるご"/>
                <a:sym typeface="イワタ福まるご"/>
              </a:rPr>
              <a:t>Comparison between Singapore and Malaysia to be done later</a:t>
            </a:r>
          </a:p>
        </p:txBody>
      </p:sp>
    </p:spTree>
  </p:cSld>
  <p:clrMapOvr>
    <a:masterClrMapping/>
  </p:clrMapOvr>
</p:sld>
</file>

<file path=ppt/slides/slide33.xml><?xml version="1.0" encoding="utf-8"?>
<p:sld xmlns:p="http://schemas.openxmlformats.org/presentationml/2006/main" xmlns:a="http://schemas.openxmlformats.org/drawingml/2006/main">
  <p:cSld>
    <p:bg>
      <p:bgPr>
        <a:solidFill>
          <a:srgbClr val="FFEEE5"/>
        </a:solidFill>
      </p:bgPr>
    </p:bg>
    <p:spTree>
      <p:nvGrpSpPr>
        <p:cNvPr id="1" name=""/>
        <p:cNvGrpSpPr/>
        <p:nvPr/>
      </p:nvGrpSpPr>
      <p:grpSpPr>
        <a:xfrm>
          <a:off x="0" y="0"/>
          <a:ext cx="0" cy="0"/>
          <a:chOff x="0" y="0"/>
          <a:chExt cx="0" cy="0"/>
        </a:xfrm>
      </p:grpSpPr>
      <p:sp>
        <p:nvSpPr>
          <p:cNvPr name="TextBox 2" id="2"/>
          <p:cNvSpPr txBox="true"/>
          <p:nvPr/>
        </p:nvSpPr>
        <p:spPr>
          <a:xfrm rot="0">
            <a:off x="1572380" y="529781"/>
            <a:ext cx="15033428" cy="1054962"/>
          </a:xfrm>
          <a:prstGeom prst="rect">
            <a:avLst/>
          </a:prstGeom>
        </p:spPr>
        <p:txBody>
          <a:bodyPr anchor="t" rtlCol="false" tIns="0" lIns="0" bIns="0" rIns="0">
            <a:spAutoFit/>
          </a:bodyPr>
          <a:lstStyle/>
          <a:p>
            <a:pPr algn="ctr">
              <a:lnSpc>
                <a:spcPts val="8102"/>
              </a:lnSpc>
            </a:pPr>
            <a:r>
              <a:rPr lang="en-US" sz="7299">
                <a:solidFill>
                  <a:srgbClr val="556BA0"/>
                </a:solidFill>
                <a:latin typeface="TDTD가시고딕"/>
                <a:ea typeface="TDTD가시고딕"/>
                <a:cs typeface="TDTD가시고딕"/>
                <a:sym typeface="TDTD가시고딕"/>
              </a:rPr>
              <a:t>Limitations &amp; Future Research</a:t>
            </a:r>
          </a:p>
        </p:txBody>
      </p:sp>
      <p:sp>
        <p:nvSpPr>
          <p:cNvPr name="TextBox 3" id="3"/>
          <p:cNvSpPr txBox="true"/>
          <p:nvPr/>
        </p:nvSpPr>
        <p:spPr>
          <a:xfrm rot="0">
            <a:off x="1028700" y="1728511"/>
            <a:ext cx="16560560" cy="7892671"/>
          </a:xfrm>
          <a:prstGeom prst="rect">
            <a:avLst/>
          </a:prstGeom>
        </p:spPr>
        <p:txBody>
          <a:bodyPr anchor="t" rtlCol="false" tIns="0" lIns="0" bIns="0" rIns="0">
            <a:spAutoFit/>
          </a:bodyPr>
          <a:lstStyle/>
          <a:p>
            <a:pPr algn="l">
              <a:lnSpc>
                <a:spcPts val="4375"/>
              </a:lnSpc>
            </a:pPr>
            <a:r>
              <a:rPr lang="en-US" sz="3500" u="sng">
                <a:solidFill>
                  <a:srgbClr val="556BA0"/>
                </a:solidFill>
                <a:latin typeface="イワタ福まるご"/>
                <a:ea typeface="イワタ福まるご"/>
                <a:cs typeface="イワタ福まるご"/>
                <a:sym typeface="イワタ福まるご"/>
              </a:rPr>
              <a:t>Limitations</a:t>
            </a:r>
          </a:p>
          <a:p>
            <a:pPr algn="l" marL="755651" indent="-377825" lvl="1">
              <a:lnSpc>
                <a:spcPts val="4375"/>
              </a:lnSpc>
              <a:buFont typeface="Arial"/>
              <a:buChar char="•"/>
            </a:pPr>
            <a:r>
              <a:rPr lang="en-US" sz="3500">
                <a:solidFill>
                  <a:srgbClr val="556BA0"/>
                </a:solidFill>
                <a:latin typeface="イワタ福まるご"/>
                <a:ea typeface="イワタ福まるご"/>
                <a:cs typeface="イワタ福まるご"/>
                <a:sym typeface="イワタ福まるご"/>
              </a:rPr>
              <a:t>Cross-sectional data cannot establish causality or c</a:t>
            </a:r>
            <a:r>
              <a:rPr lang="en-US" sz="3500">
                <a:solidFill>
                  <a:srgbClr val="556BA0"/>
                </a:solidFill>
                <a:latin typeface="イワタ福まるご"/>
                <a:ea typeface="イワタ福まるご"/>
                <a:cs typeface="イワタ福まるご"/>
                <a:sym typeface="イワタ福まるご"/>
              </a:rPr>
              <a:t>ausal direction.</a:t>
            </a:r>
          </a:p>
          <a:p>
            <a:pPr algn="l" marL="755651" indent="-377825" lvl="1">
              <a:lnSpc>
                <a:spcPts val="4375"/>
              </a:lnSpc>
              <a:buFont typeface="Arial"/>
              <a:buChar char="•"/>
            </a:pPr>
            <a:r>
              <a:rPr lang="en-US" sz="3500">
                <a:solidFill>
                  <a:srgbClr val="556BA0"/>
                </a:solidFill>
                <a:latin typeface="イワタ福まるご"/>
                <a:ea typeface="イワタ福まるご"/>
                <a:cs typeface="イワタ福まるご"/>
                <a:sym typeface="イワタ福まるご"/>
              </a:rPr>
              <a:t>Both key variables are 4-point ordinal measures but are treated as continuous in the regression, assuming equal distances between response categories.</a:t>
            </a:r>
          </a:p>
          <a:p>
            <a:pPr algn="l" marL="755651" indent="-377825" lvl="1">
              <a:lnSpc>
                <a:spcPts val="4375"/>
              </a:lnSpc>
              <a:buFont typeface="Arial"/>
              <a:buChar char="•"/>
            </a:pPr>
            <a:r>
              <a:rPr lang="en-US" sz="3500">
                <a:solidFill>
                  <a:srgbClr val="556BA0"/>
                </a:solidFill>
                <a:latin typeface="イワタ福まるご"/>
                <a:ea typeface="イワタ福まるご"/>
                <a:cs typeface="イワタ福まるご"/>
                <a:sym typeface="イワタ福まるご"/>
              </a:rPr>
              <a:t>Unobserved contextual factors, such as gender norms and institutional effectiveness, may confound the association. </a:t>
            </a:r>
          </a:p>
          <a:p>
            <a:pPr algn="l">
              <a:lnSpc>
                <a:spcPts val="4375"/>
              </a:lnSpc>
            </a:pPr>
            <a:r>
              <a:rPr lang="en-US" sz="3500" u="sng">
                <a:solidFill>
                  <a:srgbClr val="556BA0"/>
                </a:solidFill>
                <a:latin typeface="イワタ福まるご"/>
                <a:ea typeface="イワタ福まるご"/>
                <a:cs typeface="イワタ福まるご"/>
                <a:sym typeface="イワタ福まるご"/>
              </a:rPr>
              <a:t>Future Research</a:t>
            </a:r>
          </a:p>
          <a:p>
            <a:pPr algn="l" marL="755651" indent="-377825" lvl="1">
              <a:lnSpc>
                <a:spcPts val="4375"/>
              </a:lnSpc>
              <a:buFont typeface="Arial"/>
              <a:buChar char="•"/>
            </a:pPr>
            <a:r>
              <a:rPr lang="en-US" sz="3500">
                <a:solidFill>
                  <a:srgbClr val="556BA0"/>
                </a:solidFill>
                <a:latin typeface="イワタ福まるご"/>
                <a:ea typeface="イワタ福まるご"/>
                <a:cs typeface="イワタ福まるご"/>
                <a:sym typeface="イワタ福まるご"/>
              </a:rPr>
              <a:t>Extend the</a:t>
            </a:r>
            <a:r>
              <a:rPr lang="en-US" sz="3500">
                <a:solidFill>
                  <a:srgbClr val="556BA0"/>
                </a:solidFill>
                <a:latin typeface="イワタ福まるご"/>
                <a:ea typeface="イワタ福まるご"/>
                <a:cs typeface="イワタ福まるご"/>
                <a:sym typeface="イワタ福まるご"/>
              </a:rPr>
              <a:t> analysis to a larger cross-national sample using multilevel models.</a:t>
            </a:r>
          </a:p>
          <a:p>
            <a:pPr algn="l" marL="1511301" indent="-503767" lvl="2">
              <a:lnSpc>
                <a:spcPts val="4375"/>
              </a:lnSpc>
              <a:buFont typeface="Arial"/>
              <a:buChar char="⚬"/>
            </a:pPr>
            <a:r>
              <a:rPr lang="en-US" sz="3500">
                <a:solidFill>
                  <a:srgbClr val="556BA0"/>
                </a:solidFill>
                <a:latin typeface="イワタ福まるご"/>
                <a:ea typeface="イワタ福まるご"/>
                <a:cs typeface="イワタ福まるご"/>
                <a:sym typeface="イワタ福まるご"/>
              </a:rPr>
              <a:t>Incorporate country-level measures of gender norms, violence against women, institutional support, and overall safety.</a:t>
            </a:r>
          </a:p>
          <a:p>
            <a:pPr algn="l" marL="1511301" indent="-503767" lvl="2">
              <a:lnSpc>
                <a:spcPts val="4375"/>
              </a:lnSpc>
              <a:buFont typeface="Arial"/>
              <a:buChar char="⚬"/>
            </a:pPr>
            <a:r>
              <a:rPr lang="en-US" sz="3500">
                <a:solidFill>
                  <a:srgbClr val="556BA0"/>
                </a:solidFill>
                <a:latin typeface="イワタ福まるご"/>
                <a:ea typeface="イワタ福まるご"/>
                <a:cs typeface="イワタ福まるご"/>
                <a:sym typeface="イワタ福まるご"/>
              </a:rPr>
              <a:t>Examine wh</a:t>
            </a:r>
            <a:r>
              <a:rPr lang="en-US" sz="3500">
                <a:solidFill>
                  <a:srgbClr val="556BA0"/>
                </a:solidFill>
                <a:latin typeface="イワタ福まるご"/>
                <a:ea typeface="イワタ福まるご"/>
                <a:cs typeface="イワタ福まるご"/>
                <a:sym typeface="イワタ福まるご"/>
              </a:rPr>
              <a:t>ether these contextual factors moderate the association between perceived sexual harassment and subjective security.</a:t>
            </a:r>
          </a:p>
          <a:p>
            <a:pPr algn="l" marL="755651" indent="-377825" lvl="1">
              <a:lnSpc>
                <a:spcPts val="4375"/>
              </a:lnSpc>
              <a:buFont typeface="Arial"/>
              <a:buChar char="•"/>
            </a:pPr>
            <a:r>
              <a:rPr lang="en-US" sz="3500">
                <a:solidFill>
                  <a:srgbClr val="556BA0"/>
                </a:solidFill>
                <a:latin typeface="イワタ福まるご"/>
                <a:ea typeface="イワタ福まるご"/>
                <a:cs typeface="イワタ福まるご"/>
                <a:sym typeface="イワタ福まるご"/>
              </a:rPr>
              <a:t> Future analyses could test robustness using ordered logistic models or models more suitable for ordinal variables</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FFEEE5"/>
        </a:solidFill>
      </p:bgPr>
    </p:bg>
    <p:spTree>
      <p:nvGrpSpPr>
        <p:cNvPr id="1" name=""/>
        <p:cNvGrpSpPr/>
        <p:nvPr/>
      </p:nvGrpSpPr>
      <p:grpSpPr>
        <a:xfrm>
          <a:off x="0" y="0"/>
          <a:ext cx="0" cy="0"/>
          <a:chOff x="0" y="0"/>
          <a:chExt cx="0" cy="0"/>
        </a:xfrm>
      </p:grpSpPr>
      <p:sp>
        <p:nvSpPr>
          <p:cNvPr name="TextBox 2" id="2"/>
          <p:cNvSpPr txBox="true"/>
          <p:nvPr/>
        </p:nvSpPr>
        <p:spPr>
          <a:xfrm rot="0">
            <a:off x="953757" y="3068856"/>
            <a:ext cx="10910743" cy="1952369"/>
          </a:xfrm>
          <a:prstGeom prst="rect">
            <a:avLst/>
          </a:prstGeom>
        </p:spPr>
        <p:txBody>
          <a:bodyPr anchor="t" rtlCol="false" tIns="0" lIns="0" bIns="0" rIns="0">
            <a:spAutoFit/>
          </a:bodyPr>
          <a:lstStyle/>
          <a:p>
            <a:pPr algn="l">
              <a:lnSpc>
                <a:spcPts val="14580"/>
              </a:lnSpc>
            </a:pPr>
            <a:r>
              <a:rPr lang="en-US" sz="14580">
                <a:solidFill>
                  <a:srgbClr val="556BA0"/>
                </a:solidFill>
                <a:latin typeface="TDTD가시고딕"/>
                <a:ea typeface="TDTD가시고딕"/>
                <a:cs typeface="TDTD가시고딕"/>
                <a:sym typeface="TDTD가시고딕"/>
              </a:rPr>
              <a:t>Thank You</a:t>
            </a:r>
          </a:p>
        </p:txBody>
      </p:sp>
      <p:sp>
        <p:nvSpPr>
          <p:cNvPr name="Freeform 3" id="3"/>
          <p:cNvSpPr/>
          <p:nvPr/>
        </p:nvSpPr>
        <p:spPr>
          <a:xfrm flipH="false" flipV="false" rot="-828974">
            <a:off x="3872010" y="7316688"/>
            <a:ext cx="2025214" cy="1276951"/>
          </a:xfrm>
          <a:custGeom>
            <a:avLst/>
            <a:gdLst/>
            <a:ahLst/>
            <a:cxnLst/>
            <a:rect r="r" b="b" t="t" l="l"/>
            <a:pathLst>
              <a:path h="1276951" w="2025214">
                <a:moveTo>
                  <a:pt x="0" y="0"/>
                </a:moveTo>
                <a:lnTo>
                  <a:pt x="2025214" y="0"/>
                </a:lnTo>
                <a:lnTo>
                  <a:pt x="2025214" y="1276951"/>
                </a:lnTo>
                <a:lnTo>
                  <a:pt x="0" y="1276951"/>
                </a:lnTo>
                <a:lnTo>
                  <a:pt x="0" y="0"/>
                </a:lnTo>
                <a:close/>
              </a:path>
            </a:pathLst>
          </a:custGeom>
          <a:blipFill>
            <a:blip r:embed="rId2"/>
            <a:stretch>
              <a:fillRect l="0" t="0" r="0" b="0"/>
            </a:stretch>
          </a:blipFill>
        </p:spPr>
      </p:sp>
      <p:sp>
        <p:nvSpPr>
          <p:cNvPr name="Freeform 4" id="4"/>
          <p:cNvSpPr/>
          <p:nvPr/>
        </p:nvSpPr>
        <p:spPr>
          <a:xfrm flipH="false" flipV="false" rot="-186545">
            <a:off x="11742389" y="1965698"/>
            <a:ext cx="2422332" cy="1131589"/>
          </a:xfrm>
          <a:custGeom>
            <a:avLst/>
            <a:gdLst/>
            <a:ahLst/>
            <a:cxnLst/>
            <a:rect r="r" b="b" t="t" l="l"/>
            <a:pathLst>
              <a:path h="1131589" w="2422332">
                <a:moveTo>
                  <a:pt x="0" y="0"/>
                </a:moveTo>
                <a:lnTo>
                  <a:pt x="2422332" y="0"/>
                </a:lnTo>
                <a:lnTo>
                  <a:pt x="2422332" y="1131589"/>
                </a:lnTo>
                <a:lnTo>
                  <a:pt x="0" y="1131589"/>
                </a:lnTo>
                <a:lnTo>
                  <a:pt x="0" y="0"/>
                </a:lnTo>
                <a:close/>
              </a:path>
            </a:pathLst>
          </a:custGeom>
          <a:blipFill>
            <a:blip r:embed="rId3"/>
            <a:stretch>
              <a:fillRect l="0" t="0" r="0" b="0"/>
            </a:stretch>
          </a:blipFill>
        </p:spPr>
      </p:sp>
      <p:sp>
        <p:nvSpPr>
          <p:cNvPr name="Freeform 5" id="5"/>
          <p:cNvSpPr/>
          <p:nvPr/>
        </p:nvSpPr>
        <p:spPr>
          <a:xfrm flipH="false" flipV="false" rot="0">
            <a:off x="11472462" y="3926746"/>
            <a:ext cx="6815538" cy="3510002"/>
          </a:xfrm>
          <a:custGeom>
            <a:avLst/>
            <a:gdLst/>
            <a:ahLst/>
            <a:cxnLst/>
            <a:rect r="r" b="b" t="t" l="l"/>
            <a:pathLst>
              <a:path h="3510002" w="6815538">
                <a:moveTo>
                  <a:pt x="0" y="0"/>
                </a:moveTo>
                <a:lnTo>
                  <a:pt x="6815538" y="0"/>
                </a:lnTo>
                <a:lnTo>
                  <a:pt x="6815538" y="3510002"/>
                </a:lnTo>
                <a:lnTo>
                  <a:pt x="0" y="3510002"/>
                </a:lnTo>
                <a:lnTo>
                  <a:pt x="0" y="0"/>
                </a:lnTo>
                <a:close/>
              </a:path>
            </a:pathLst>
          </a:custGeom>
          <a:blipFill>
            <a:blip r:embed="rId4"/>
            <a:stretch>
              <a:fillRect l="0" t="0" r="0" b="0"/>
            </a:stretch>
          </a:blipFill>
        </p:spPr>
      </p:sp>
      <p:sp>
        <p:nvSpPr>
          <p:cNvPr name="Freeform 6" id="6"/>
          <p:cNvSpPr/>
          <p:nvPr/>
        </p:nvSpPr>
        <p:spPr>
          <a:xfrm flipH="false" flipV="false" rot="0">
            <a:off x="12260029" y="5373908"/>
            <a:ext cx="4472281" cy="4125680"/>
          </a:xfrm>
          <a:custGeom>
            <a:avLst/>
            <a:gdLst/>
            <a:ahLst/>
            <a:cxnLst/>
            <a:rect r="r" b="b" t="t" l="l"/>
            <a:pathLst>
              <a:path h="4125680" w="4472281">
                <a:moveTo>
                  <a:pt x="0" y="0"/>
                </a:moveTo>
                <a:lnTo>
                  <a:pt x="4472281" y="0"/>
                </a:lnTo>
                <a:lnTo>
                  <a:pt x="4472281" y="4125679"/>
                </a:lnTo>
                <a:lnTo>
                  <a:pt x="0" y="4125679"/>
                </a:lnTo>
                <a:lnTo>
                  <a:pt x="0" y="0"/>
                </a:lnTo>
                <a:close/>
              </a:path>
            </a:pathLst>
          </a:custGeom>
          <a:blipFill>
            <a:blip r:embed="rId5"/>
            <a:stretch>
              <a:fillRect l="0" t="0" r="0" b="0"/>
            </a:stretch>
          </a:blipFill>
        </p:spPr>
      </p:sp>
      <p:sp>
        <p:nvSpPr>
          <p:cNvPr name="Freeform 7" id="7"/>
          <p:cNvSpPr/>
          <p:nvPr/>
        </p:nvSpPr>
        <p:spPr>
          <a:xfrm flipH="false" flipV="false" rot="0">
            <a:off x="13028152" y="4010484"/>
            <a:ext cx="3704159" cy="4768024"/>
          </a:xfrm>
          <a:custGeom>
            <a:avLst/>
            <a:gdLst/>
            <a:ahLst/>
            <a:cxnLst/>
            <a:rect r="r" b="b" t="t" l="l"/>
            <a:pathLst>
              <a:path h="4768024" w="3704159">
                <a:moveTo>
                  <a:pt x="0" y="0"/>
                </a:moveTo>
                <a:lnTo>
                  <a:pt x="3704158" y="0"/>
                </a:lnTo>
                <a:lnTo>
                  <a:pt x="3704158" y="4768024"/>
                </a:lnTo>
                <a:lnTo>
                  <a:pt x="0" y="4768024"/>
                </a:lnTo>
                <a:lnTo>
                  <a:pt x="0" y="0"/>
                </a:lnTo>
                <a:close/>
              </a:path>
            </a:pathLst>
          </a:custGeom>
          <a:blipFill>
            <a:blip r:embed="rId6"/>
            <a:stretch>
              <a:fillRect l="0" t="0" r="0" b="0"/>
            </a:stretch>
          </a:blipFill>
        </p:spPr>
      </p:sp>
      <p:sp>
        <p:nvSpPr>
          <p:cNvPr name="Freeform 8" id="8"/>
          <p:cNvSpPr/>
          <p:nvPr/>
        </p:nvSpPr>
        <p:spPr>
          <a:xfrm flipH="false" flipV="false" rot="0">
            <a:off x="14880231" y="6738689"/>
            <a:ext cx="2820050" cy="4079638"/>
          </a:xfrm>
          <a:custGeom>
            <a:avLst/>
            <a:gdLst/>
            <a:ahLst/>
            <a:cxnLst/>
            <a:rect r="r" b="b" t="t" l="l"/>
            <a:pathLst>
              <a:path h="4079638" w="2820050">
                <a:moveTo>
                  <a:pt x="0" y="0"/>
                </a:moveTo>
                <a:lnTo>
                  <a:pt x="2820049" y="0"/>
                </a:lnTo>
                <a:lnTo>
                  <a:pt x="2820049" y="4079637"/>
                </a:lnTo>
                <a:lnTo>
                  <a:pt x="0" y="4079637"/>
                </a:lnTo>
                <a:lnTo>
                  <a:pt x="0" y="0"/>
                </a:lnTo>
                <a:close/>
              </a:path>
            </a:pathLst>
          </a:custGeom>
          <a:blipFill>
            <a:blip r:embed="rId7"/>
            <a:stretch>
              <a:fillRect l="0" t="0" r="0" b="0"/>
            </a:stretch>
          </a:blipFill>
        </p:spPr>
      </p:sp>
      <p:grpSp>
        <p:nvGrpSpPr>
          <p:cNvPr name="Group 9" id="9"/>
          <p:cNvGrpSpPr/>
          <p:nvPr/>
        </p:nvGrpSpPr>
        <p:grpSpPr>
          <a:xfrm rot="0">
            <a:off x="14289988" y="4772735"/>
            <a:ext cx="206181" cy="20618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BE2"/>
            </a:solidFill>
          </p:spPr>
        </p:sp>
        <p:sp>
          <p:nvSpPr>
            <p:cNvPr name="TextBox 11" id="11"/>
            <p:cNvSpPr txBox="true"/>
            <p:nvPr/>
          </p:nvSpPr>
          <p:spPr>
            <a:xfrm>
              <a:off x="76200" y="-47625"/>
              <a:ext cx="660400" cy="784225"/>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4524376" y="4815044"/>
            <a:ext cx="206181" cy="206181"/>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BE2"/>
            </a:solidFill>
          </p:spPr>
        </p:sp>
        <p:sp>
          <p:nvSpPr>
            <p:cNvPr name="TextBox 14" id="14"/>
            <p:cNvSpPr txBox="true"/>
            <p:nvPr/>
          </p:nvSpPr>
          <p:spPr>
            <a:xfrm>
              <a:off x="76200" y="-47625"/>
              <a:ext cx="660400" cy="784225"/>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5284206" y="5914859"/>
            <a:ext cx="7560679" cy="5339729"/>
          </a:xfrm>
          <a:custGeom>
            <a:avLst/>
            <a:gdLst/>
            <a:ahLst/>
            <a:cxnLst/>
            <a:rect r="r" b="b" t="t" l="l"/>
            <a:pathLst>
              <a:path h="5339729" w="7560679">
                <a:moveTo>
                  <a:pt x="0" y="0"/>
                </a:moveTo>
                <a:lnTo>
                  <a:pt x="7560678" y="0"/>
                </a:lnTo>
                <a:lnTo>
                  <a:pt x="7560678" y="5339730"/>
                </a:lnTo>
                <a:lnTo>
                  <a:pt x="0" y="5339730"/>
                </a:lnTo>
                <a:lnTo>
                  <a:pt x="0" y="0"/>
                </a:lnTo>
                <a:close/>
              </a:path>
            </a:pathLst>
          </a:custGeom>
          <a:blipFill>
            <a:blip r:embed="rId8"/>
            <a:stretch>
              <a:fillRect l="0" t="0" r="0" b="0"/>
            </a:stretch>
          </a:blipFill>
        </p:spPr>
      </p:sp>
      <p:sp>
        <p:nvSpPr>
          <p:cNvPr name="Freeform 16" id="16"/>
          <p:cNvSpPr/>
          <p:nvPr/>
        </p:nvSpPr>
        <p:spPr>
          <a:xfrm flipH="false" flipV="false" rot="0">
            <a:off x="7962207" y="5681747"/>
            <a:ext cx="4477525" cy="3979400"/>
          </a:xfrm>
          <a:custGeom>
            <a:avLst/>
            <a:gdLst/>
            <a:ahLst/>
            <a:cxnLst/>
            <a:rect r="r" b="b" t="t" l="l"/>
            <a:pathLst>
              <a:path h="3979400" w="4477525">
                <a:moveTo>
                  <a:pt x="0" y="0"/>
                </a:moveTo>
                <a:lnTo>
                  <a:pt x="4477525" y="0"/>
                </a:lnTo>
                <a:lnTo>
                  <a:pt x="4477525" y="3979400"/>
                </a:lnTo>
                <a:lnTo>
                  <a:pt x="0" y="3979400"/>
                </a:lnTo>
                <a:lnTo>
                  <a:pt x="0" y="0"/>
                </a:lnTo>
                <a:close/>
              </a:path>
            </a:pathLst>
          </a:custGeom>
          <a:blipFill>
            <a:blip r:embed="rId9"/>
            <a:stretch>
              <a:fillRect l="0" t="0" r="0" b="0"/>
            </a:stretch>
          </a:blipFill>
        </p:spPr>
      </p:sp>
      <p:sp>
        <p:nvSpPr>
          <p:cNvPr name="Freeform 17" id="17"/>
          <p:cNvSpPr/>
          <p:nvPr/>
        </p:nvSpPr>
        <p:spPr>
          <a:xfrm flipH="false" flipV="false" rot="-629346">
            <a:off x="1851228" y="1392380"/>
            <a:ext cx="2965603" cy="1016921"/>
          </a:xfrm>
          <a:custGeom>
            <a:avLst/>
            <a:gdLst/>
            <a:ahLst/>
            <a:cxnLst/>
            <a:rect r="r" b="b" t="t" l="l"/>
            <a:pathLst>
              <a:path h="1016921" w="2965603">
                <a:moveTo>
                  <a:pt x="0" y="0"/>
                </a:moveTo>
                <a:lnTo>
                  <a:pt x="2965603" y="0"/>
                </a:lnTo>
                <a:lnTo>
                  <a:pt x="2965603" y="1016921"/>
                </a:lnTo>
                <a:lnTo>
                  <a:pt x="0" y="1016921"/>
                </a:lnTo>
                <a:lnTo>
                  <a:pt x="0" y="0"/>
                </a:lnTo>
                <a:close/>
              </a:path>
            </a:pathLst>
          </a:custGeom>
          <a:blipFill>
            <a:blip r:embed="rId10"/>
            <a:stretch>
              <a:fillRect l="0" t="0" r="0" b="0"/>
            </a:stretch>
          </a:blipFill>
        </p:spPr>
      </p:sp>
      <p:sp>
        <p:nvSpPr>
          <p:cNvPr name="Freeform 18" id="18"/>
          <p:cNvSpPr/>
          <p:nvPr/>
        </p:nvSpPr>
        <p:spPr>
          <a:xfrm flipH="true" flipV="false" rot="641235">
            <a:off x="-68092" y="5382167"/>
            <a:ext cx="3120858" cy="5847040"/>
          </a:xfrm>
          <a:custGeom>
            <a:avLst/>
            <a:gdLst/>
            <a:ahLst/>
            <a:cxnLst/>
            <a:rect r="r" b="b" t="t" l="l"/>
            <a:pathLst>
              <a:path h="5847040" w="3120858">
                <a:moveTo>
                  <a:pt x="3120858" y="0"/>
                </a:moveTo>
                <a:lnTo>
                  <a:pt x="0" y="0"/>
                </a:lnTo>
                <a:lnTo>
                  <a:pt x="0" y="5847040"/>
                </a:lnTo>
                <a:lnTo>
                  <a:pt x="3120858" y="5847040"/>
                </a:lnTo>
                <a:lnTo>
                  <a:pt x="3120858" y="0"/>
                </a:lnTo>
                <a:close/>
              </a:path>
            </a:pathLst>
          </a:custGeom>
          <a:blipFill>
            <a:blip r:embed="rId11"/>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DAHWRDlJqUE</dc:identifier>
  <dcterms:modified xsi:type="dcterms:W3CDTF">2011-08-01T06:04:30Z</dcterms:modified>
  <cp:revision>1</cp:revision>
  <dc:title>HS4002 group project presentation</dc:title>
</cp:coreProperties>
</file>